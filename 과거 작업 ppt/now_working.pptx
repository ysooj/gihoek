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96" r:id="rId3"/>
    <p:sldId id="297" r:id="rId4"/>
    <p:sldId id="300" r:id="rId5"/>
    <p:sldId id="298" r:id="rId6"/>
    <p:sldId id="301" r:id="rId7"/>
    <p:sldId id="299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7419" autoAdjust="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48" y="888"/>
      </p:cViewPr>
      <p:guideLst>
        <p:guide orient="horz" pos="2157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presProps" Target="pres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5693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6894973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5698847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33244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6782210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954000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24448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7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60007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50079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0980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41705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03722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29841" y="457200"/>
            <a:ext cx="294917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414234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29841" y="457200"/>
            <a:ext cx="294917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62942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07125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A9B4-7E72-4B67-919E-AB65492FA93B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2137-8E27-430F-BC1F-15A504CFD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96597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4B3BA9B4-7E72-4B67-919E-AB65492FA93B}" type="datetime1">
              <a:rPr lang="ko-KR" altLang="en-US"/>
              <a:pPr lvl="0">
                <a:defRPr/>
              </a:pPr>
              <a:t>2026-01-16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94A2137-8E27-430F-BC1F-15A504CFDD7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030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xmlns:mc="http://schemas.openxmlformats.org/markup-compatibility/2006" xmlns:hp="http://schemas.haansoft.com/office/presentation/8.0" mc:Ignorable="hp" hp:hslDur="50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e0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61589" y="1427177"/>
            <a:ext cx="3177947" cy="3177947"/>
          </a:xfrm>
          <a:prstGeom prst="roundRect">
            <a:avLst>
              <a:gd name="adj" fmla="val 35798"/>
            </a:avLst>
          </a:prstGeom>
          <a:effectLst>
            <a:reflection blurRad="6350" stA="50000" endA="300" endPos="35000" dir="5400000" sy="-100000" algn="bl" rotWithShape="0"/>
            <a:softEdge rad="127000"/>
          </a:effectLst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>
            <a:grayscl/>
            <a:lum/>
          </a:blip>
          <a:stretch>
            <a:fillRect/>
          </a:stretch>
        </p:blipFill>
        <p:spPr>
          <a:xfrm>
            <a:off x="1160611" y="2706588"/>
            <a:ext cx="2571750" cy="1444823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104081" y="3808024"/>
            <a:ext cx="1491755" cy="242053"/>
          </a:xfrm>
          <a:prstGeom prst="rect">
            <a:avLst/>
          </a:prstGeom>
        </p:spPr>
      </p:pic>
      <p:sp>
        <p:nvSpPr>
          <p:cNvPr id="32" name="가로 글상자 31"/>
          <p:cNvSpPr txBox="1"/>
          <p:nvPr/>
        </p:nvSpPr>
        <p:spPr>
          <a:xfrm>
            <a:off x="6950886" y="7097387"/>
            <a:ext cx="2374034" cy="363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1.16.</a:t>
            </a:r>
            <a:r>
              <a:rPr lang="ko-KR" altLang="en-US"/>
              <a:t>금</a:t>
            </a:r>
            <a:endParaRPr lang="ko-KR" altLang="en-US"/>
          </a:p>
        </p:txBody>
      </p:sp>
      <p:sp>
        <p:nvSpPr>
          <p:cNvPr id="35" name="타원 34"/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6" name="TextBox 1"/>
          <p:cNvSpPr txBox="1"/>
          <p:nvPr/>
        </p:nvSpPr>
        <p:spPr>
          <a:xfrm>
            <a:off x="9316166" y="0"/>
            <a:ext cx="1457269" cy="115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글자 크기</a:t>
            </a:r>
            <a:endParaRPr lang="ko-KR" altLang="en-US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26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2600">
                <a:latin typeface="충북대70주년체 Regular"/>
                <a:ea typeface="충북대70주년체 Regular"/>
              </a:rPr>
              <a:t>(35)</a:t>
            </a:r>
            <a:endParaRPr lang="en-US" altLang="ko-KR" sz="2600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14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400">
                <a:latin typeface="충북대70주년체 Regular"/>
                <a:ea typeface="충북대70주년체 Regular"/>
              </a:rPr>
              <a:t>(19)</a:t>
            </a:r>
            <a:endParaRPr lang="en-US" altLang="ko-KR" sz="1400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11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100">
                <a:latin typeface="충북대70주년체 Regular"/>
                <a:ea typeface="충북대70주년체 Regular"/>
              </a:rPr>
              <a:t>(11)</a:t>
            </a:r>
            <a:endParaRPr lang="en-US" altLang="ko-KR" sz="1100">
              <a:latin typeface="충북대70주년체 Regular"/>
              <a:ea typeface="충북대70주년체 Regular"/>
            </a:endParaRPr>
          </a:p>
        </p:txBody>
      </p:sp>
      <p:sp>
        <p:nvSpPr>
          <p:cNvPr id="37" name="타원 36"/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8" name="타원 37"/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9" name="타원 38"/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0" name="타원 39"/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1" name="타원 40"/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2" name="타원 41"/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3" name="TextBox 1"/>
          <p:cNvSpPr txBox="1"/>
          <p:nvPr/>
        </p:nvSpPr>
        <p:spPr>
          <a:xfrm>
            <a:off x="9316166" y="1301432"/>
            <a:ext cx="1965269" cy="668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글꼴</a:t>
            </a:r>
            <a:endParaRPr lang="ko-KR" altLang="en-US" sz="1900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충북대</a:t>
            </a:r>
            <a:r>
              <a:rPr lang="en-US" altLang="ko-KR" sz="1900">
                <a:latin typeface="충북대70주년체 Regular"/>
                <a:ea typeface="충북대70주년체 Regular"/>
              </a:rPr>
              <a:t>70</a:t>
            </a:r>
            <a:r>
              <a:rPr lang="ko-KR" altLang="en-US" sz="1900">
                <a:latin typeface="충북대70주년체 Regular"/>
                <a:ea typeface="충북대70주년체 Regular"/>
              </a:rPr>
              <a:t>주년체</a:t>
            </a:r>
            <a:endParaRPr lang="ko-KR" altLang="en-US" sz="1900">
              <a:latin typeface="충북대70주년체 Regular"/>
              <a:ea typeface="충북대70주년체 Regular"/>
            </a:endParaRPr>
          </a:p>
        </p:txBody>
      </p:sp>
    </p:spTree>
    <p:extLst>
      <p:ext uri="{BB962C8B-B14F-4D97-AF65-F5344CB8AC3E}">
        <p14:creationId xmlns:p14="http://schemas.microsoft.com/office/powerpoint/2010/main" val="761492686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e0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가로 글상자 25"/>
          <p:cNvSpPr txBox="1"/>
          <p:nvPr/>
        </p:nvSpPr>
        <p:spPr>
          <a:xfrm>
            <a:off x="509586" y="1304508"/>
            <a:ext cx="8124826" cy="61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목차</a:t>
            </a:r>
            <a:endParaRPr lang="ko-KR" altLang="en-US" sz="35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cxnSp>
        <p:nvCxnSpPr>
          <p:cNvPr id="43" name="선 42"/>
          <p:cNvCxnSpPr/>
          <p:nvPr/>
        </p:nvCxnSpPr>
        <p:spPr>
          <a:xfrm rot="16200000" flipH="1" flipV="1">
            <a:off x="737472" y="3535900"/>
            <a:ext cx="2858941" cy="0"/>
          </a:xfrm>
          <a:prstGeom prst="line">
            <a:avLst/>
          </a:prstGeom>
          <a:ln w="38100">
            <a:solidFill>
              <a:srgbClr val="fce8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가로 글상자 50"/>
          <p:cNvSpPr txBox="1"/>
          <p:nvPr/>
        </p:nvSpPr>
        <p:spPr>
          <a:xfrm>
            <a:off x="6950886" y="7097387"/>
            <a:ext cx="2374034" cy="363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1.16.</a:t>
            </a:r>
            <a:r>
              <a:rPr lang="ko-KR" altLang="en-US"/>
              <a:t>금</a:t>
            </a:r>
            <a:endParaRPr lang="ko-KR" altLang="en-US"/>
          </a:p>
        </p:txBody>
      </p:sp>
      <p:sp>
        <p:nvSpPr>
          <p:cNvPr id="54" name="타원 53"/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5" name="TextBox 1"/>
          <p:cNvSpPr txBox="1"/>
          <p:nvPr/>
        </p:nvSpPr>
        <p:spPr>
          <a:xfrm>
            <a:off x="9316166" y="0"/>
            <a:ext cx="1457269" cy="115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글자 크기</a:t>
            </a:r>
            <a:endParaRPr lang="ko-KR" altLang="en-US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26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2600">
                <a:latin typeface="충북대70주년체 Regular"/>
                <a:ea typeface="충북대70주년체 Regular"/>
              </a:rPr>
              <a:t>(35)</a:t>
            </a:r>
            <a:endParaRPr lang="en-US" altLang="ko-KR" sz="2600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14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400">
                <a:latin typeface="충북대70주년체 Regular"/>
                <a:ea typeface="충북대70주년체 Regular"/>
              </a:rPr>
              <a:t>(19)</a:t>
            </a:r>
            <a:endParaRPr lang="en-US" altLang="ko-KR" sz="1400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11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100">
                <a:latin typeface="충북대70주년체 Regular"/>
                <a:ea typeface="충북대70주년체 Regular"/>
              </a:rPr>
              <a:t>(11)</a:t>
            </a:r>
            <a:endParaRPr lang="en-US" altLang="ko-KR" sz="1100">
              <a:latin typeface="충북대70주년체 Regular"/>
              <a:ea typeface="충북대70주년체 Regular"/>
            </a:endParaRPr>
          </a:p>
        </p:txBody>
      </p:sp>
      <p:sp>
        <p:nvSpPr>
          <p:cNvPr id="56" name="타원 55"/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7" name="타원 56"/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8" name="타원 57"/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9" name="타원 58"/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0" name="타원 59"/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1" name="타원 60"/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2" name="TextBox 1"/>
          <p:cNvSpPr txBox="1"/>
          <p:nvPr/>
        </p:nvSpPr>
        <p:spPr>
          <a:xfrm>
            <a:off x="9316166" y="1301432"/>
            <a:ext cx="1965269" cy="668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글꼴</a:t>
            </a:r>
            <a:endParaRPr lang="ko-KR" altLang="en-US" sz="1900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충북대</a:t>
            </a:r>
            <a:r>
              <a:rPr lang="en-US" altLang="ko-KR" sz="1900">
                <a:latin typeface="충북대70주년체 Regular"/>
                <a:ea typeface="충북대70주년체 Regular"/>
              </a:rPr>
              <a:t>70</a:t>
            </a:r>
            <a:r>
              <a:rPr lang="ko-KR" altLang="en-US" sz="1900">
                <a:latin typeface="충북대70주년체 Regular"/>
                <a:ea typeface="충북대70주년체 Regular"/>
              </a:rPr>
              <a:t>주년체</a:t>
            </a:r>
            <a:endParaRPr lang="ko-KR" altLang="en-US" sz="1900">
              <a:latin typeface="충북대70주년체 Regular"/>
              <a:ea typeface="충북대70주년체 Regular"/>
            </a:endParaRPr>
          </a:p>
        </p:txBody>
      </p:sp>
      <p:sp>
        <p:nvSpPr>
          <p:cNvPr id="63" name="가로 글상자 62"/>
          <p:cNvSpPr txBox="1"/>
          <p:nvPr/>
        </p:nvSpPr>
        <p:spPr>
          <a:xfrm>
            <a:off x="509585" y="2072401"/>
            <a:ext cx="2302670" cy="37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방향성</a:t>
            </a: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  <a:endParaRPr lang="en-US" altLang="ko-KR" sz="19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64" name="가로 글상자 63"/>
          <p:cNvSpPr txBox="1"/>
          <p:nvPr/>
        </p:nvSpPr>
        <p:spPr>
          <a:xfrm>
            <a:off x="2269330" y="2109202"/>
            <a:ext cx="3534967" cy="298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제목          장르          시놉시스          재미요소          </a:t>
            </a:r>
            <a:endParaRPr lang="ko-KR" altLang="en-US" sz="14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65" name="가로 글상자 64"/>
          <p:cNvSpPr txBox="1"/>
          <p:nvPr/>
        </p:nvSpPr>
        <p:spPr>
          <a:xfrm>
            <a:off x="509586" y="2756301"/>
            <a:ext cx="1445420" cy="375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게임의 정의</a:t>
            </a: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  <a:endParaRPr lang="en-US" altLang="ko-KR" sz="19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66" name="가로 글상자 65"/>
          <p:cNvSpPr txBox="1"/>
          <p:nvPr/>
        </p:nvSpPr>
        <p:spPr>
          <a:xfrm>
            <a:off x="2269331" y="2797827"/>
            <a:ext cx="3534966" cy="295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플레이의 작용요소          방해요인          </a:t>
            </a:r>
            <a:r>
              <a:rPr lang="ko-KR" altLang="en-US" sz="13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목적</a:t>
            </a: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        </a:t>
            </a:r>
            <a:endParaRPr lang="ko-KR" altLang="en-US" sz="14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</p:spTree>
    <p:extLst>
      <p:ext uri="{BB962C8B-B14F-4D97-AF65-F5344CB8AC3E}">
        <p14:creationId xmlns:p14="http://schemas.microsoft.com/office/powerpoint/2010/main" val="571944720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e0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가로 글상자 25"/>
          <p:cNvSpPr txBox="1"/>
          <p:nvPr/>
        </p:nvSpPr>
        <p:spPr>
          <a:xfrm>
            <a:off x="509586" y="853618"/>
            <a:ext cx="8124826" cy="61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목차</a:t>
            </a:r>
            <a:endParaRPr lang="ko-KR" altLang="en-US" sz="35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37" name="가로 글상자 36"/>
          <p:cNvSpPr txBox="1"/>
          <p:nvPr/>
        </p:nvSpPr>
        <p:spPr>
          <a:xfrm>
            <a:off x="509585" y="2072401"/>
            <a:ext cx="2302670" cy="37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방향성</a:t>
            </a: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  <a:endParaRPr lang="en-US" altLang="ko-KR" sz="19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38" name="가로 글상자 37"/>
          <p:cNvSpPr txBox="1"/>
          <p:nvPr/>
        </p:nvSpPr>
        <p:spPr>
          <a:xfrm>
            <a:off x="2269330" y="2109202"/>
            <a:ext cx="5170092" cy="298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제목          장르          시놉시스          재미요소          게임의 정의          </a:t>
            </a:r>
            <a:endParaRPr lang="ko-KR" altLang="en-US" sz="14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cxnSp>
        <p:nvCxnSpPr>
          <p:cNvPr id="39" name="선 38"/>
          <p:cNvCxnSpPr/>
          <p:nvPr/>
        </p:nvCxnSpPr>
        <p:spPr>
          <a:xfrm rot="16200000" flipH="1">
            <a:off x="1993212" y="2259210"/>
            <a:ext cx="204582" cy="0"/>
          </a:xfrm>
          <a:prstGeom prst="line">
            <a:avLst/>
          </a:prstGeom>
          <a:ln w="38100">
            <a:solidFill>
              <a:srgbClr val="fce8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선 39"/>
          <p:cNvCxnSpPr/>
          <p:nvPr/>
        </p:nvCxnSpPr>
        <p:spPr>
          <a:xfrm rot="16200000" flipH="1">
            <a:off x="1990950" y="2944060"/>
            <a:ext cx="204582" cy="0"/>
          </a:xfrm>
          <a:prstGeom prst="line">
            <a:avLst/>
          </a:prstGeom>
          <a:ln w="38100">
            <a:solidFill>
              <a:srgbClr val="fce8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선 40"/>
          <p:cNvCxnSpPr/>
          <p:nvPr/>
        </p:nvCxnSpPr>
        <p:spPr>
          <a:xfrm rot="16200000" flipH="1">
            <a:off x="2064649" y="2257912"/>
            <a:ext cx="204582" cy="0"/>
          </a:xfrm>
          <a:prstGeom prst="line">
            <a:avLst/>
          </a:prstGeom>
          <a:ln w="38100">
            <a:solidFill>
              <a:srgbClr val="fce8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선 41"/>
          <p:cNvCxnSpPr/>
          <p:nvPr/>
        </p:nvCxnSpPr>
        <p:spPr>
          <a:xfrm rot="16200000" flipH="1">
            <a:off x="2064649" y="2944060"/>
            <a:ext cx="204582" cy="0"/>
          </a:xfrm>
          <a:prstGeom prst="line">
            <a:avLst/>
          </a:prstGeom>
          <a:ln w="38100">
            <a:solidFill>
              <a:srgbClr val="fce8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가로 글상자 45"/>
          <p:cNvSpPr txBox="1"/>
          <p:nvPr/>
        </p:nvSpPr>
        <p:spPr>
          <a:xfrm>
            <a:off x="509586" y="2756301"/>
            <a:ext cx="1445420" cy="375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다음 목차</a:t>
            </a: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  <a:endParaRPr lang="en-US" altLang="ko-KR" sz="19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47" name="가로 글상자 46"/>
          <p:cNvSpPr txBox="1"/>
          <p:nvPr/>
        </p:nvSpPr>
        <p:spPr>
          <a:xfrm>
            <a:off x="2269331" y="2797827"/>
            <a:ext cx="3534966" cy="295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다음 내용       </a:t>
            </a:r>
            <a:endParaRPr lang="ko-KR" altLang="en-US" sz="14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49" name="가로 글상자 48"/>
          <p:cNvSpPr txBox="1"/>
          <p:nvPr/>
        </p:nvSpPr>
        <p:spPr>
          <a:xfrm>
            <a:off x="6950886" y="7097387"/>
            <a:ext cx="2374034" cy="363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1.16.</a:t>
            </a:r>
            <a:r>
              <a:rPr lang="ko-KR" altLang="en-US"/>
              <a:t>금</a:t>
            </a:r>
            <a:endParaRPr lang="ko-KR" altLang="en-US"/>
          </a:p>
        </p:txBody>
      </p:sp>
      <p:sp>
        <p:nvSpPr>
          <p:cNvPr id="52" name="타원 51"/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3" name="TextBox 1"/>
          <p:cNvSpPr txBox="1"/>
          <p:nvPr/>
        </p:nvSpPr>
        <p:spPr>
          <a:xfrm>
            <a:off x="9316166" y="0"/>
            <a:ext cx="1457269" cy="115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글자 크기</a:t>
            </a:r>
            <a:endParaRPr lang="ko-KR" altLang="en-US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26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2600">
                <a:latin typeface="충북대70주년체 Regular"/>
                <a:ea typeface="충북대70주년체 Regular"/>
              </a:rPr>
              <a:t>(35)</a:t>
            </a:r>
            <a:endParaRPr lang="en-US" altLang="ko-KR" sz="2600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14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400">
                <a:latin typeface="충북대70주년체 Regular"/>
                <a:ea typeface="충북대70주년체 Regular"/>
              </a:rPr>
              <a:t>(19)</a:t>
            </a:r>
            <a:endParaRPr lang="en-US" altLang="ko-KR" sz="1400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11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100">
                <a:latin typeface="충북대70주년체 Regular"/>
                <a:ea typeface="충북대70주년체 Regular"/>
              </a:rPr>
              <a:t>(11)</a:t>
            </a:r>
            <a:endParaRPr lang="en-US" altLang="ko-KR" sz="1100">
              <a:latin typeface="충북대70주년체 Regular"/>
              <a:ea typeface="충북대70주년체 Regular"/>
            </a:endParaRPr>
          </a:p>
        </p:txBody>
      </p:sp>
      <p:sp>
        <p:nvSpPr>
          <p:cNvPr id="54" name="타원 53"/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5" name="타원 54"/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6" name="타원 55"/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7" name="타원 56"/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8" name="타원 57"/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9" name="타원 58"/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0" name="TextBox 1"/>
          <p:cNvSpPr txBox="1"/>
          <p:nvPr/>
        </p:nvSpPr>
        <p:spPr>
          <a:xfrm>
            <a:off x="9316166" y="1301432"/>
            <a:ext cx="1965269" cy="668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글꼴</a:t>
            </a:r>
            <a:endParaRPr lang="ko-KR" altLang="en-US" sz="1900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충북대</a:t>
            </a:r>
            <a:r>
              <a:rPr lang="en-US" altLang="ko-KR" sz="1900">
                <a:latin typeface="충북대70주년체 Regular"/>
                <a:ea typeface="충북대70주년체 Regular"/>
              </a:rPr>
              <a:t>70</a:t>
            </a:r>
            <a:r>
              <a:rPr lang="ko-KR" altLang="en-US" sz="1900">
                <a:latin typeface="충북대70주년체 Regular"/>
                <a:ea typeface="충북대70주년체 Regular"/>
              </a:rPr>
              <a:t>주년체</a:t>
            </a:r>
            <a:endParaRPr lang="ko-KR" altLang="en-US" sz="1900">
              <a:latin typeface="충북대70주년체 Regular"/>
              <a:ea typeface="충북대70주년체 Regular"/>
            </a:endParaRPr>
          </a:p>
        </p:txBody>
      </p:sp>
    </p:spTree>
    <p:extLst>
      <p:ext uri="{BB962C8B-B14F-4D97-AF65-F5344CB8AC3E}">
        <p14:creationId xmlns:p14="http://schemas.microsoft.com/office/powerpoint/2010/main" val="75516619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e0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가로 글상자 25"/>
          <p:cNvSpPr txBox="1"/>
          <p:nvPr/>
        </p:nvSpPr>
        <p:spPr>
          <a:xfrm>
            <a:off x="577813" y="2774757"/>
            <a:ext cx="1570433" cy="294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플랫폼</a:t>
            </a: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  <a:endParaRPr lang="en-US" altLang="ko-KR" sz="14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28" name="가로 글상자 27"/>
          <p:cNvSpPr txBox="1"/>
          <p:nvPr/>
        </p:nvSpPr>
        <p:spPr>
          <a:xfrm>
            <a:off x="6950886" y="7097387"/>
            <a:ext cx="2374034" cy="363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1.16.</a:t>
            </a:r>
            <a:r>
              <a:rPr lang="ko-KR" altLang="en-US"/>
              <a:t>금</a:t>
            </a:r>
            <a:endParaRPr lang="ko-KR" altLang="en-US"/>
          </a:p>
        </p:txBody>
      </p:sp>
      <p:sp>
        <p:nvSpPr>
          <p:cNvPr id="37" name="가로 글상자 36"/>
          <p:cNvSpPr txBox="1"/>
          <p:nvPr/>
        </p:nvSpPr>
        <p:spPr>
          <a:xfrm>
            <a:off x="2195870" y="2774757"/>
            <a:ext cx="2166312" cy="282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ko-KR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PC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, CONSOLE</a:t>
            </a:r>
            <a:endParaRPr lang="ko-KR" altLang="en-US" sz="1100" b="1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38" name="가로 글상자 37"/>
          <p:cNvSpPr txBox="1"/>
          <p:nvPr/>
        </p:nvSpPr>
        <p:spPr>
          <a:xfrm>
            <a:off x="2195870" y="3342221"/>
            <a:ext cx="2598272" cy="286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fce891"/>
                </a:solidFill>
                <a:latin typeface="충북대70주년체 Regular"/>
                <a:ea typeface="충북대70주년체 Regular"/>
              </a:rPr>
              <a:t>내러티브 중심 어드벤처</a:t>
            </a:r>
            <a:endParaRPr lang="ko-KR" altLang="en-US" sz="1100" b="1" spc="100">
              <a:solidFill>
                <a:srgbClr val="fce89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39" name="가로 글상자 38"/>
          <p:cNvSpPr txBox="1"/>
          <p:nvPr/>
        </p:nvSpPr>
        <p:spPr>
          <a:xfrm>
            <a:off x="2195869" y="3887609"/>
            <a:ext cx="6146387" cy="1293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선택지가 주어지는 것처럼 보이지만</a:t>
            </a:r>
            <a:r>
              <a:rPr lang="en-US" altLang="ko-KR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,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 이야기가 진행될수록 </a:t>
            </a:r>
            <a:r>
              <a:rPr lang="ko-KR" altLang="en-US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모든 선택은 하나의 방향으로 수렴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한다</a:t>
            </a:r>
            <a:r>
              <a:rPr lang="en-US" altLang="ko-KR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.</a:t>
            </a:r>
            <a:endParaRPr lang="en-US" altLang="ko-KR" sz="1100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  <a:p>
            <a:pPr lvl="0">
              <a:lnSpc>
                <a:spcPct val="120000"/>
              </a:lnSpc>
              <a:defRPr/>
            </a:pPr>
            <a:endParaRPr lang="en-US" altLang="ko-KR" sz="1100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스스로를 특별히 착한 사람이라 여기지 않는 주인공은</a:t>
            </a:r>
            <a:r>
              <a:rPr lang="ko-KR" altLang="en-US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 </a:t>
            </a:r>
            <a:r>
              <a:rPr lang="en-US" altLang="ko-KR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’</a:t>
            </a:r>
            <a:r>
              <a:rPr lang="ko-KR" altLang="en-US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가장 착한 사람</a:t>
            </a:r>
            <a:r>
              <a:rPr lang="en-US" altLang="ko-KR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’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이기를 요구받는 기대 속에서</a:t>
            </a:r>
            <a:r>
              <a:rPr lang="en-US" altLang="ko-KR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,</a:t>
            </a:r>
            <a:endParaRPr lang="en-US" altLang="ko-KR" sz="1100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서서히 붕괴되어 가는 세계와 함께 하나의 역할로 소모되어 간다</a:t>
            </a:r>
            <a:r>
              <a:rPr lang="en-US" altLang="ko-KR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.</a:t>
            </a:r>
            <a:endParaRPr lang="en-US" altLang="ko-KR" sz="1100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  <a:p>
            <a:pPr lvl="0">
              <a:lnSpc>
                <a:spcPct val="120000"/>
              </a:lnSpc>
              <a:defRPr/>
            </a:pPr>
            <a:endParaRPr lang="en-US" altLang="ko-KR" sz="1100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선택을 반복할수록 </a:t>
            </a:r>
            <a:r>
              <a:rPr lang="ko-KR" altLang="en-US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선</a:t>
            </a:r>
            <a:r>
              <a:rPr lang="ko-KR" altLang="en-US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의</a:t>
            </a:r>
            <a:r>
              <a:rPr lang="ko-KR" altLang="en-US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는 의미를 잃고</a:t>
            </a:r>
            <a:r>
              <a:rPr lang="en-US" altLang="ko-KR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,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 착함은 자발적인 판단이 아닌 </a:t>
            </a:r>
            <a:r>
              <a:rPr lang="ko-KR" altLang="en-US" sz="1100" spc="100">
                <a:solidFill>
                  <a:srgbClr val="eb657e"/>
                </a:solidFill>
                <a:latin typeface="충북대70주년체 Regular"/>
                <a:ea typeface="충북대70주년체 Regular"/>
              </a:rPr>
              <a:t>피할 수 없는 의무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가 된다</a:t>
            </a:r>
            <a:r>
              <a:rPr lang="en-US" altLang="ko-KR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.</a:t>
            </a:r>
            <a:endParaRPr lang="ko-KR" altLang="en-US" sz="1100" b="1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40" name="가로 글상자 39"/>
          <p:cNvSpPr txBox="1"/>
          <p:nvPr/>
        </p:nvSpPr>
        <p:spPr>
          <a:xfrm>
            <a:off x="2195868" y="5311329"/>
            <a:ext cx="5200501" cy="889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ct val="120000"/>
              </a:lnSpc>
              <a:buFont typeface="Arial"/>
              <a:buNone/>
              <a:defRPr/>
            </a:pP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▶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     </a:t>
            </a:r>
            <a:r>
              <a:rPr lang="ko-KR" altLang="en-US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감정적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 </a:t>
            </a:r>
            <a:r>
              <a:rPr lang="ko-KR" altLang="en-US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압박과 몰입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을 즐기는 내러티브 플레이</a:t>
            </a:r>
            <a:endParaRPr lang="ko-KR" altLang="en-US" sz="1100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  <a:p>
            <a:pPr marL="0" lvl="0" indent="0">
              <a:lnSpc>
                <a:spcPct val="120000"/>
              </a:lnSpc>
              <a:buFont typeface="Arial"/>
              <a:buNone/>
              <a:defRPr/>
            </a:pP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▶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     선택에 따라 변화하는 </a:t>
            </a:r>
            <a:r>
              <a:rPr lang="ko-KR" altLang="en-US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스토리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 흐름과 </a:t>
            </a:r>
            <a:r>
              <a:rPr lang="ko-KR" altLang="en-US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엔딩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 구조</a:t>
            </a:r>
            <a:endParaRPr lang="ko-KR" altLang="en-US" sz="1100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  <a:p>
            <a:pPr marL="0" lvl="0" indent="0">
              <a:lnSpc>
                <a:spcPct val="120000"/>
              </a:lnSpc>
              <a:buFont typeface="Arial"/>
              <a:buNone/>
              <a:defRPr/>
            </a:pP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▶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     선택 누적에 따라 </a:t>
            </a:r>
            <a:r>
              <a:rPr lang="ko-KR" altLang="en-US" sz="1100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분위기와 연출이 변화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하는 시스템</a:t>
            </a:r>
            <a:endParaRPr lang="ko-KR" altLang="en-US" sz="1100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  <a:p>
            <a:pPr marL="0" lvl="0" indent="0">
              <a:lnSpc>
                <a:spcPct val="120000"/>
              </a:lnSpc>
              <a:buFont typeface="Arial"/>
              <a:buNone/>
              <a:defRPr/>
            </a:pP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▶</a:t>
            </a:r>
            <a:r>
              <a:rPr lang="ko-KR" altLang="en-US" sz="1100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     선행이 보상이 아닌 </a:t>
            </a: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부담으로 작동하는 </a:t>
            </a:r>
            <a:r>
              <a:rPr lang="en-US" altLang="ko-KR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‘</a:t>
            </a:r>
            <a:r>
              <a:rPr lang="ko-KR" altLang="en-US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선택 소모화</a:t>
            </a:r>
            <a:r>
              <a:rPr lang="en-US" altLang="ko-KR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’</a:t>
            </a:r>
            <a:r>
              <a:rPr lang="ko-KR" altLang="en-US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 </a:t>
            </a: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구조</a:t>
            </a:r>
            <a:endParaRPr lang="ko-KR" altLang="en-US" sz="1100" b="1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41" name="가로 글상자 40"/>
          <p:cNvSpPr txBox="1"/>
          <p:nvPr/>
        </p:nvSpPr>
        <p:spPr>
          <a:xfrm>
            <a:off x="577813" y="3342221"/>
            <a:ext cx="1296592" cy="29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게임장르</a:t>
            </a: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  <a:endParaRPr lang="ko-KR" altLang="en-US" sz="13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42" name="가로 글상자 41"/>
          <p:cNvSpPr txBox="1"/>
          <p:nvPr/>
        </p:nvSpPr>
        <p:spPr>
          <a:xfrm>
            <a:off x="577812" y="5311329"/>
            <a:ext cx="1171216" cy="298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재미 요소</a:t>
            </a: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  <a:endParaRPr lang="ko-KR" altLang="en-US" sz="13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43" name="가로 글상자 42"/>
          <p:cNvSpPr txBox="1"/>
          <p:nvPr/>
        </p:nvSpPr>
        <p:spPr>
          <a:xfrm>
            <a:off x="577813" y="3887610"/>
            <a:ext cx="1344216" cy="296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시놉시스</a:t>
            </a:r>
            <a:r>
              <a:rPr lang="en-US" altLang="ko-KR" sz="19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  <a:endParaRPr lang="ko-KR" altLang="en-US" sz="13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51" name="사각형 설명선 50"/>
          <p:cNvSpPr/>
          <p:nvPr/>
        </p:nvSpPr>
        <p:spPr>
          <a:xfrm>
            <a:off x="2148247" y="2774758"/>
            <a:ext cx="6194008" cy="282750"/>
          </a:xfrm>
          <a:prstGeom prst="wedgeRectCallout">
            <a:avLst>
              <a:gd name="adj1" fmla="val -51936"/>
              <a:gd name="adj2" fmla="val -19421"/>
            </a:avLst>
          </a:prstGeom>
          <a:noFill/>
          <a:ln>
            <a:solidFill>
              <a:srgbClr val="76777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3" name="사각형 설명선 52"/>
          <p:cNvSpPr/>
          <p:nvPr/>
        </p:nvSpPr>
        <p:spPr>
          <a:xfrm>
            <a:off x="2148247" y="3876609"/>
            <a:ext cx="6194008" cy="1304580"/>
          </a:xfrm>
          <a:prstGeom prst="wedgeRectCallout">
            <a:avLst>
              <a:gd name="adj1" fmla="val -52448"/>
              <a:gd name="adj2" fmla="val -20445"/>
            </a:avLst>
          </a:prstGeom>
          <a:noFill/>
          <a:ln>
            <a:solidFill>
              <a:srgbClr val="76777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4" name="사각형 설명선 53"/>
          <p:cNvSpPr/>
          <p:nvPr/>
        </p:nvSpPr>
        <p:spPr>
          <a:xfrm>
            <a:off x="2148247" y="3342221"/>
            <a:ext cx="6194008" cy="282750"/>
          </a:xfrm>
          <a:prstGeom prst="wedgeRectCallout">
            <a:avLst>
              <a:gd name="adj1" fmla="val -52448"/>
              <a:gd name="adj2" fmla="val -20445"/>
            </a:avLst>
          </a:prstGeom>
          <a:noFill/>
          <a:ln>
            <a:solidFill>
              <a:srgbClr val="76777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5" name="사각형 설명선 54"/>
          <p:cNvSpPr/>
          <p:nvPr/>
        </p:nvSpPr>
        <p:spPr>
          <a:xfrm>
            <a:off x="2148246" y="5311329"/>
            <a:ext cx="6194009" cy="889035"/>
          </a:xfrm>
          <a:prstGeom prst="wedgeRectCallout">
            <a:avLst>
              <a:gd name="adj1" fmla="val -52448"/>
              <a:gd name="adj2" fmla="val -20445"/>
            </a:avLst>
          </a:prstGeom>
          <a:noFill/>
          <a:ln>
            <a:solidFill>
              <a:srgbClr val="76777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6" name="가로 글상자 55"/>
          <p:cNvSpPr txBox="1"/>
          <p:nvPr/>
        </p:nvSpPr>
        <p:spPr>
          <a:xfrm>
            <a:off x="577813" y="2225403"/>
            <a:ext cx="1570434" cy="300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슬로건</a:t>
            </a: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  <a:endParaRPr lang="en-US" altLang="ko-KR" sz="14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57" name="사각형 설명선 56"/>
          <p:cNvSpPr/>
          <p:nvPr/>
        </p:nvSpPr>
        <p:spPr>
          <a:xfrm>
            <a:off x="2148247" y="2225403"/>
            <a:ext cx="6194008" cy="282750"/>
          </a:xfrm>
          <a:prstGeom prst="wedgeRectCallout">
            <a:avLst>
              <a:gd name="adj1" fmla="val -51936"/>
              <a:gd name="adj2" fmla="val -19421"/>
            </a:avLst>
          </a:prstGeom>
          <a:noFill/>
          <a:ln>
            <a:solidFill>
              <a:srgbClr val="76777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8" name="가로 글상자 57"/>
          <p:cNvSpPr txBox="1"/>
          <p:nvPr/>
        </p:nvSpPr>
        <p:spPr>
          <a:xfrm>
            <a:off x="2195868" y="2225402"/>
            <a:ext cx="2598275" cy="288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496f78"/>
                </a:solidFill>
                <a:latin typeface="충북대70주년체 Regular"/>
                <a:ea typeface="충북대70주년체 Regular"/>
              </a:rPr>
              <a:t>선택하거나</a:t>
            </a:r>
            <a:r>
              <a:rPr lang="ko-KR" altLang="en-US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 </a:t>
            </a:r>
            <a:r>
              <a:rPr lang="en-US" altLang="ko-KR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-</a:t>
            </a:r>
            <a:r>
              <a:rPr lang="ko-KR" altLang="en-US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 </a:t>
            </a:r>
            <a:r>
              <a:rPr lang="ko-KR" altLang="en-US" sz="1100" b="1" spc="100">
                <a:solidFill>
                  <a:srgbClr val="8b5587"/>
                </a:solidFill>
                <a:latin typeface="충북대70주년체 Regular"/>
                <a:ea typeface="충북대70주년체 Regular"/>
              </a:rPr>
              <a:t>선택 당하거나</a:t>
            </a:r>
            <a:endParaRPr lang="ko-KR" altLang="en-US" sz="1100" b="1" spc="100">
              <a:solidFill>
                <a:srgbClr val="8b5587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59" name="가로 글상자 58"/>
          <p:cNvSpPr txBox="1"/>
          <p:nvPr/>
        </p:nvSpPr>
        <p:spPr>
          <a:xfrm>
            <a:off x="577813" y="1712338"/>
            <a:ext cx="1570434" cy="299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제목</a:t>
            </a: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  <a:endParaRPr lang="ko-KR" altLang="en-US" sz="14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60" name="사각형 설명선 59"/>
          <p:cNvSpPr/>
          <p:nvPr/>
        </p:nvSpPr>
        <p:spPr>
          <a:xfrm>
            <a:off x="2148247" y="1712339"/>
            <a:ext cx="6194008" cy="282750"/>
          </a:xfrm>
          <a:prstGeom prst="wedgeRectCallout">
            <a:avLst>
              <a:gd name="adj1" fmla="val -51936"/>
              <a:gd name="adj2" fmla="val -19421"/>
            </a:avLst>
          </a:prstGeom>
          <a:noFill/>
          <a:ln>
            <a:solidFill>
              <a:srgbClr val="76777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1" name="가로 글상자 60"/>
          <p:cNvSpPr txBox="1"/>
          <p:nvPr/>
        </p:nvSpPr>
        <p:spPr>
          <a:xfrm>
            <a:off x="2195870" y="1712338"/>
            <a:ext cx="903038" cy="28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넌 착해</a:t>
            </a:r>
            <a:r>
              <a:rPr lang="en-US" altLang="ko-KR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!</a:t>
            </a:r>
            <a:endParaRPr lang="ko-KR" altLang="en-US" sz="1100" b="1" spc="100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70" name="가로 글상자 69"/>
          <p:cNvSpPr txBox="1"/>
          <p:nvPr/>
        </p:nvSpPr>
        <p:spPr>
          <a:xfrm>
            <a:off x="509586" y="294858"/>
            <a:ext cx="3933968" cy="61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방향성</a:t>
            </a:r>
            <a:endParaRPr lang="ko-KR" altLang="en-US" sz="35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75" name="뺄셈 기호 74"/>
          <p:cNvSpPr/>
          <p:nvPr/>
        </p:nvSpPr>
        <p:spPr>
          <a:xfrm>
            <a:off x="1513246" y="770927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6" name="뺄셈 기호 75"/>
          <p:cNvSpPr/>
          <p:nvPr/>
        </p:nvSpPr>
        <p:spPr>
          <a:xfrm>
            <a:off x="1195746" y="770927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7" name="뺄셈 기호 76"/>
          <p:cNvSpPr/>
          <p:nvPr/>
        </p:nvSpPr>
        <p:spPr>
          <a:xfrm>
            <a:off x="878246" y="770927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8" name="뺄셈 기호 77"/>
          <p:cNvSpPr/>
          <p:nvPr/>
        </p:nvSpPr>
        <p:spPr>
          <a:xfrm>
            <a:off x="560746" y="770927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2" name="타원 81"/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3" name="TextBox 1"/>
          <p:cNvSpPr txBox="1"/>
          <p:nvPr/>
        </p:nvSpPr>
        <p:spPr>
          <a:xfrm>
            <a:off x="9316166" y="0"/>
            <a:ext cx="1457269" cy="115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글자 크기</a:t>
            </a:r>
            <a:endParaRPr lang="ko-KR" altLang="en-US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26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2600">
                <a:latin typeface="충북대70주년체 Regular"/>
                <a:ea typeface="충북대70주년체 Regular"/>
              </a:rPr>
              <a:t>(35)</a:t>
            </a:r>
            <a:endParaRPr lang="en-US" altLang="ko-KR" sz="2600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14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400">
                <a:latin typeface="충북대70주년체 Regular"/>
                <a:ea typeface="충북대70주년체 Regular"/>
              </a:rPr>
              <a:t>(19)</a:t>
            </a:r>
            <a:endParaRPr lang="en-US" altLang="ko-KR" sz="1400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11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100">
                <a:latin typeface="충북대70주년체 Regular"/>
                <a:ea typeface="충북대70주년체 Regular"/>
              </a:rPr>
              <a:t>(11)</a:t>
            </a:r>
            <a:endParaRPr lang="en-US" altLang="ko-KR" sz="1100">
              <a:latin typeface="충북대70주년체 Regular"/>
              <a:ea typeface="충북대70주년체 Regular"/>
            </a:endParaRPr>
          </a:p>
        </p:txBody>
      </p:sp>
      <p:sp>
        <p:nvSpPr>
          <p:cNvPr id="84" name="타원 83"/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5" name="타원 84"/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6" name="타원 85"/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7" name="타원 86"/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8" name="타원 87"/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9" name="타원 88"/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0" name="TextBox 1"/>
          <p:cNvSpPr txBox="1"/>
          <p:nvPr/>
        </p:nvSpPr>
        <p:spPr>
          <a:xfrm>
            <a:off x="9316166" y="1301432"/>
            <a:ext cx="1965269" cy="668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글꼴</a:t>
            </a:r>
            <a:endParaRPr lang="ko-KR" altLang="en-US" sz="1900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충북대</a:t>
            </a:r>
            <a:r>
              <a:rPr lang="en-US" altLang="ko-KR" sz="1900">
                <a:latin typeface="충북대70주년체 Regular"/>
                <a:ea typeface="충북대70주년체 Regular"/>
              </a:rPr>
              <a:t>70</a:t>
            </a:r>
            <a:r>
              <a:rPr lang="ko-KR" altLang="en-US" sz="1900">
                <a:latin typeface="충북대70주년체 Regular"/>
                <a:ea typeface="충북대70주년체 Regular"/>
              </a:rPr>
              <a:t>주년체</a:t>
            </a:r>
            <a:endParaRPr lang="ko-KR" altLang="en-US" sz="1900">
              <a:latin typeface="충북대70주년체 Regular"/>
              <a:ea typeface="충북대70주년체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178783012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e0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가로 글상자 25"/>
          <p:cNvSpPr txBox="1"/>
          <p:nvPr/>
        </p:nvSpPr>
        <p:spPr>
          <a:xfrm>
            <a:off x="577813" y="3742116"/>
            <a:ext cx="1570433" cy="299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이야기 목적</a:t>
            </a: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  <a:endParaRPr lang="en-US" altLang="ko-KR" sz="14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28" name="가로 글상자 27"/>
          <p:cNvSpPr txBox="1"/>
          <p:nvPr/>
        </p:nvSpPr>
        <p:spPr>
          <a:xfrm>
            <a:off x="6950886" y="7097387"/>
            <a:ext cx="2374034" cy="363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/>
              <a:t>기획수업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1.16.</a:t>
            </a:r>
            <a:r>
              <a:rPr lang="ko-KR" altLang="en-US"/>
              <a:t>금</a:t>
            </a:r>
            <a:endParaRPr lang="ko-KR" altLang="en-US"/>
          </a:p>
        </p:txBody>
      </p:sp>
      <p:sp>
        <p:nvSpPr>
          <p:cNvPr id="37" name="가로 글상자 36"/>
          <p:cNvSpPr txBox="1"/>
          <p:nvPr/>
        </p:nvSpPr>
        <p:spPr>
          <a:xfrm>
            <a:off x="2195870" y="3742116"/>
            <a:ext cx="6146384" cy="6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ko-KR" sz="1100" b="1" spc="100">
                <a:solidFill>
                  <a:srgbClr val="496f78"/>
                </a:solidFill>
                <a:latin typeface="충북대70주년체 Regular"/>
                <a:ea typeface="충북대70주년체 Regular"/>
              </a:rPr>
              <a:t>‘</a:t>
            </a:r>
            <a:r>
              <a:rPr lang="ko-KR" altLang="en-US" sz="1100" b="1" spc="100">
                <a:solidFill>
                  <a:srgbClr val="496f78"/>
                </a:solidFill>
                <a:latin typeface="충북대70주년체 Regular"/>
                <a:ea typeface="충북대70주년체 Regular"/>
              </a:rPr>
              <a:t>착함</a:t>
            </a:r>
            <a:r>
              <a:rPr lang="en-US" altLang="ko-KR" sz="1100" b="1" spc="100">
                <a:solidFill>
                  <a:srgbClr val="496f78"/>
                </a:solidFill>
                <a:latin typeface="충북대70주년체 Regular"/>
                <a:ea typeface="충북대70주년체 Regular"/>
              </a:rPr>
              <a:t>’</a:t>
            </a: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이라는 사회적 기대 속에서 한 사람이 어떤 선택을 하게 되는 지를 다룬다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.</a:t>
            </a:r>
            <a:endParaRPr lang="en-US" altLang="ko-KR" sz="1100" b="1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세계가 붕괴되어 가는 과정과 함께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,</a:t>
            </a:r>
            <a:endParaRPr lang="en-US" altLang="ko-KR" sz="1100" b="1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타인의 기대에 응답해 온 주인공 역시 점차 하나의 역할로 소모되며 붕괴된다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.</a:t>
            </a:r>
            <a:endParaRPr lang="en-US" altLang="ko-KR" sz="1100" b="1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38" name="가로 글상자 37"/>
          <p:cNvSpPr txBox="1"/>
          <p:nvPr/>
        </p:nvSpPr>
        <p:spPr>
          <a:xfrm>
            <a:off x="2195869" y="4855845"/>
            <a:ext cx="6146387" cy="486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플레이어는 선택과 장애를 극복하며 이야기를 끝까지 완주한다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.</a:t>
            </a:r>
            <a:endParaRPr lang="en-US" altLang="ko-KR" sz="1100" b="1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정답을 찾기보다는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,</a:t>
            </a: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 </a:t>
            </a:r>
            <a:r>
              <a:rPr lang="ko-KR" altLang="en-US" sz="1100" b="1" spc="100">
                <a:solidFill>
                  <a:srgbClr val="8b5587"/>
                </a:solidFill>
                <a:latin typeface="충북대70주년체 Regular"/>
                <a:ea typeface="충북대70주년체 Regular"/>
              </a:rPr>
              <a:t>선택이 누적되며 만들어지는 감정과 서사를 체험</a:t>
            </a: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하는 데 목적이 있다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.</a:t>
            </a:r>
            <a:endParaRPr lang="en-US" altLang="ko-KR" sz="1100" b="1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41" name="가로 글상자 40"/>
          <p:cNvSpPr txBox="1"/>
          <p:nvPr/>
        </p:nvSpPr>
        <p:spPr>
          <a:xfrm>
            <a:off x="577813" y="4855845"/>
            <a:ext cx="1296592" cy="29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플레이 목적</a:t>
            </a: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  <a:endParaRPr lang="en-US" altLang="ko-KR" sz="14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51" name="사각형 설명선 50"/>
          <p:cNvSpPr/>
          <p:nvPr/>
        </p:nvSpPr>
        <p:spPr>
          <a:xfrm>
            <a:off x="2148247" y="3742117"/>
            <a:ext cx="6194008" cy="685103"/>
          </a:xfrm>
          <a:prstGeom prst="wedgeRectCallout">
            <a:avLst>
              <a:gd name="adj1" fmla="val -51936"/>
              <a:gd name="adj2" fmla="val -19421"/>
            </a:avLst>
          </a:prstGeom>
          <a:noFill/>
          <a:ln>
            <a:solidFill>
              <a:srgbClr val="76777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4" name="사각형 설명선 53"/>
          <p:cNvSpPr/>
          <p:nvPr/>
        </p:nvSpPr>
        <p:spPr>
          <a:xfrm>
            <a:off x="2148247" y="4855845"/>
            <a:ext cx="6194008" cy="486091"/>
          </a:xfrm>
          <a:prstGeom prst="wedgeRectCallout">
            <a:avLst>
              <a:gd name="adj1" fmla="val -52448"/>
              <a:gd name="adj2" fmla="val -20445"/>
            </a:avLst>
          </a:prstGeom>
          <a:noFill/>
          <a:ln>
            <a:solidFill>
              <a:srgbClr val="76777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6" name="가로 글상자 55"/>
          <p:cNvSpPr txBox="1"/>
          <p:nvPr/>
        </p:nvSpPr>
        <p:spPr>
          <a:xfrm>
            <a:off x="577813" y="2701512"/>
            <a:ext cx="1570434" cy="300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방해 요인</a:t>
            </a: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  <a:endParaRPr lang="en-US" altLang="ko-KR" sz="14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57" name="사각형 설명선 56"/>
          <p:cNvSpPr/>
          <p:nvPr/>
        </p:nvSpPr>
        <p:spPr>
          <a:xfrm>
            <a:off x="2148247" y="2701512"/>
            <a:ext cx="6194008" cy="644890"/>
          </a:xfrm>
          <a:prstGeom prst="wedgeRectCallout">
            <a:avLst>
              <a:gd name="adj1" fmla="val -51936"/>
              <a:gd name="adj2" fmla="val -19421"/>
            </a:avLst>
          </a:prstGeom>
          <a:noFill/>
          <a:ln>
            <a:solidFill>
              <a:srgbClr val="76777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8" name="가로 글상자 57"/>
          <p:cNvSpPr txBox="1"/>
          <p:nvPr/>
        </p:nvSpPr>
        <p:spPr>
          <a:xfrm>
            <a:off x="2195866" y="2701511"/>
            <a:ext cx="6146388" cy="687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eb657e"/>
                </a:solidFill>
                <a:latin typeface="충북대70주년체 Regular"/>
                <a:ea typeface="충북대70주년체 Regular"/>
              </a:rPr>
              <a:t>몬스터와 퍼즐</a:t>
            </a: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이 물리적인 장애로 등장하며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,</a:t>
            </a:r>
            <a:endParaRPr lang="en-US" altLang="ko-KR" sz="1100" b="1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동시에 </a:t>
            </a:r>
            <a:r>
              <a:rPr lang="ko-KR" altLang="en-US" sz="1100" b="1" spc="100">
                <a:solidFill>
                  <a:srgbClr val="eb657e"/>
                </a:solidFill>
                <a:latin typeface="충북대70주년체 Regular"/>
                <a:ea typeface="충북대70주년체 Regular"/>
              </a:rPr>
              <a:t>주변 인물들의 말과 반복되는 요구</a:t>
            </a: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는 심리적인 압박으로 작용해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,</a:t>
            </a:r>
            <a:endParaRPr lang="en-US" altLang="ko-KR" sz="1100" b="1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fce891"/>
                </a:solidFill>
                <a:latin typeface="충북대70주년체 Regular"/>
                <a:ea typeface="충북대70주년체 Regular"/>
              </a:rPr>
              <a:t>플레이어가 특정한 선택을 하도록 몰아가는 상황</a:t>
            </a: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을 만든다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.</a:t>
            </a:r>
            <a:endParaRPr lang="en-US" altLang="ko-KR" sz="1100" b="1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59" name="가로 글상자 58"/>
          <p:cNvSpPr txBox="1"/>
          <p:nvPr/>
        </p:nvSpPr>
        <p:spPr>
          <a:xfrm>
            <a:off x="577813" y="1712338"/>
            <a:ext cx="1570434" cy="299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[</a:t>
            </a:r>
            <a:r>
              <a:rPr lang="ko-KR" altLang="en-US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플레이 작용 요소</a:t>
            </a:r>
            <a:r>
              <a:rPr lang="en-US" altLang="ko-KR" sz="14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]</a:t>
            </a:r>
            <a:endParaRPr lang="en-US" altLang="ko-KR" sz="14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60" name="사각형 설명선 59"/>
          <p:cNvSpPr/>
          <p:nvPr/>
        </p:nvSpPr>
        <p:spPr>
          <a:xfrm>
            <a:off x="2148247" y="1712339"/>
            <a:ext cx="6194008" cy="686055"/>
          </a:xfrm>
          <a:prstGeom prst="wedgeRectCallout">
            <a:avLst>
              <a:gd name="adj1" fmla="val -51936"/>
              <a:gd name="adj2" fmla="val -19421"/>
            </a:avLst>
          </a:prstGeom>
          <a:noFill/>
          <a:ln>
            <a:solidFill>
              <a:srgbClr val="76777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1" name="가로 글상자 60"/>
          <p:cNvSpPr txBox="1"/>
          <p:nvPr/>
        </p:nvSpPr>
        <p:spPr>
          <a:xfrm>
            <a:off x="2195867" y="1712338"/>
            <a:ext cx="6146388" cy="686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플레이어는 </a:t>
            </a:r>
            <a:r>
              <a:rPr lang="ko-KR" altLang="en-US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대화와 행동 선택</a:t>
            </a: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을 통해 상황에 개입한다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.</a:t>
            </a:r>
            <a:endParaRPr lang="en-US" altLang="ko-KR" sz="1100" b="1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선택은 즉각적인 결과뿐 아니라 </a:t>
            </a:r>
            <a:r>
              <a:rPr lang="ko-KR" altLang="en-US" sz="1100" b="1" spc="100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이후 전개과 선택지 구성에 누적된 영향</a:t>
            </a: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을 미치며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,</a:t>
            </a:r>
            <a:endParaRPr lang="en-US" altLang="ko-KR" sz="1100" b="1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주인공이 주변의 기대에 어떻게 반응해 왔는 지를 드러낸다</a:t>
            </a:r>
            <a:r>
              <a:rPr lang="en-US" altLang="ko-KR" sz="1100" b="1" spc="100">
                <a:solidFill>
                  <a:srgbClr val="767779"/>
                </a:solidFill>
                <a:latin typeface="충북대70주년체 Regular"/>
                <a:ea typeface="충북대70주년체 Regular"/>
              </a:rPr>
              <a:t>.</a:t>
            </a:r>
            <a:endParaRPr lang="en-US" altLang="ko-KR" sz="1100" b="1" spc="100">
              <a:solidFill>
                <a:srgbClr val="767779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82" name="타원 81"/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3" name="TextBox 1"/>
          <p:cNvSpPr txBox="1"/>
          <p:nvPr/>
        </p:nvSpPr>
        <p:spPr>
          <a:xfrm>
            <a:off x="9316166" y="0"/>
            <a:ext cx="1457269" cy="115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글자 크기</a:t>
            </a:r>
            <a:endParaRPr lang="ko-KR" altLang="en-US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26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2600">
                <a:latin typeface="충북대70주년체 Regular"/>
                <a:ea typeface="충북대70주년체 Regular"/>
              </a:rPr>
              <a:t>(35)</a:t>
            </a:r>
            <a:endParaRPr lang="en-US" altLang="ko-KR" sz="2600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14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400">
                <a:latin typeface="충북대70주년체 Regular"/>
                <a:ea typeface="충북대70주년체 Regular"/>
              </a:rPr>
              <a:t>(19)</a:t>
            </a:r>
            <a:endParaRPr lang="en-US" altLang="ko-KR" sz="1400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11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100">
                <a:latin typeface="충북대70주년체 Regular"/>
                <a:ea typeface="충북대70주년체 Regular"/>
              </a:rPr>
              <a:t>(11)</a:t>
            </a:r>
            <a:endParaRPr lang="en-US" altLang="ko-KR" sz="1100">
              <a:latin typeface="충북대70주년체 Regular"/>
              <a:ea typeface="충북대70주년체 Regular"/>
            </a:endParaRPr>
          </a:p>
        </p:txBody>
      </p:sp>
      <p:sp>
        <p:nvSpPr>
          <p:cNvPr id="84" name="타원 83"/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5" name="타원 84"/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6" name="타원 85"/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7" name="타원 86"/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8" name="타원 87"/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9" name="타원 88"/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0" name="TextBox 1"/>
          <p:cNvSpPr txBox="1"/>
          <p:nvPr/>
        </p:nvSpPr>
        <p:spPr>
          <a:xfrm>
            <a:off x="9316166" y="1301432"/>
            <a:ext cx="1965269" cy="668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글꼴</a:t>
            </a:r>
            <a:endParaRPr lang="ko-KR" altLang="en-US" sz="1900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충북대</a:t>
            </a:r>
            <a:r>
              <a:rPr lang="en-US" altLang="ko-KR" sz="1900">
                <a:latin typeface="충북대70주년체 Regular"/>
                <a:ea typeface="충북대70주년체 Regular"/>
              </a:rPr>
              <a:t>70</a:t>
            </a:r>
            <a:r>
              <a:rPr lang="ko-KR" altLang="en-US" sz="1900">
                <a:latin typeface="충북대70주년체 Regular"/>
                <a:ea typeface="충북대70주년체 Regular"/>
              </a:rPr>
              <a:t>주년체</a:t>
            </a:r>
            <a:endParaRPr lang="ko-KR" altLang="en-US" sz="1900">
              <a:latin typeface="충북대70주년체 Regular"/>
              <a:ea typeface="충북대70주년체 Regular"/>
            </a:endParaRPr>
          </a:p>
        </p:txBody>
      </p:sp>
      <p:sp>
        <p:nvSpPr>
          <p:cNvPr id="91" name="가로 글상자 90"/>
          <p:cNvSpPr txBox="1"/>
          <p:nvPr/>
        </p:nvSpPr>
        <p:spPr>
          <a:xfrm>
            <a:off x="509586" y="294858"/>
            <a:ext cx="3933968" cy="61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 b="1">
                <a:solidFill>
                  <a:srgbClr val="ecedf1"/>
                </a:solidFill>
                <a:latin typeface="충북대70주년체 Regular"/>
                <a:ea typeface="충북대70주년체 Regular"/>
              </a:rPr>
              <a:t>방향성</a:t>
            </a:r>
            <a:endParaRPr lang="ko-KR" altLang="en-US" sz="3500" b="1">
              <a:solidFill>
                <a:srgbClr val="ecedf1"/>
              </a:solidFill>
              <a:latin typeface="충북대70주년체 Regular"/>
              <a:ea typeface="충북대70주년체 Regular"/>
            </a:endParaRPr>
          </a:p>
        </p:txBody>
      </p:sp>
      <p:sp>
        <p:nvSpPr>
          <p:cNvPr id="92" name="뺄셈 기호 91"/>
          <p:cNvSpPr/>
          <p:nvPr/>
        </p:nvSpPr>
        <p:spPr>
          <a:xfrm>
            <a:off x="1513246" y="770927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3" name="뺄셈 기호 92"/>
          <p:cNvSpPr/>
          <p:nvPr/>
        </p:nvSpPr>
        <p:spPr>
          <a:xfrm>
            <a:off x="1195746" y="770927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4" name="뺄셈 기호 93"/>
          <p:cNvSpPr/>
          <p:nvPr/>
        </p:nvSpPr>
        <p:spPr>
          <a:xfrm>
            <a:off x="878246" y="770927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solidFill>
                <a:srgbClr val="fce891"/>
              </a:solidFill>
            </a:endParaRPr>
          </a:p>
        </p:txBody>
      </p:sp>
      <p:sp>
        <p:nvSpPr>
          <p:cNvPr id="95" name="뺄셈 기호 94"/>
          <p:cNvSpPr/>
          <p:nvPr/>
        </p:nvSpPr>
        <p:spPr>
          <a:xfrm>
            <a:off x="560746" y="770927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378882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e0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뺄셈 기호 3"/>
          <p:cNvSpPr/>
          <p:nvPr/>
        </p:nvSpPr>
        <p:spPr>
          <a:xfrm>
            <a:off x="28755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뺄셈 기호 4"/>
          <p:cNvSpPr/>
          <p:nvPr/>
        </p:nvSpPr>
        <p:spPr>
          <a:xfrm>
            <a:off x="22405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뺄셈 기호 5"/>
          <p:cNvSpPr/>
          <p:nvPr/>
        </p:nvSpPr>
        <p:spPr>
          <a:xfrm>
            <a:off x="25580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뺄셈 기호 6"/>
          <p:cNvSpPr/>
          <p:nvPr/>
        </p:nvSpPr>
        <p:spPr>
          <a:xfrm>
            <a:off x="19230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뺄셈 기호 7"/>
          <p:cNvSpPr/>
          <p:nvPr/>
        </p:nvSpPr>
        <p:spPr>
          <a:xfrm>
            <a:off x="16055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뺄셈 기호 8"/>
          <p:cNvSpPr/>
          <p:nvPr/>
        </p:nvSpPr>
        <p:spPr>
          <a:xfrm>
            <a:off x="12880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뺄셈 기호 9"/>
          <p:cNvSpPr/>
          <p:nvPr/>
        </p:nvSpPr>
        <p:spPr>
          <a:xfrm>
            <a:off x="9705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뺄셈 기호 10"/>
          <p:cNvSpPr/>
          <p:nvPr/>
        </p:nvSpPr>
        <p:spPr>
          <a:xfrm>
            <a:off x="31930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뺄셈 기호 11"/>
          <p:cNvSpPr/>
          <p:nvPr/>
        </p:nvSpPr>
        <p:spPr>
          <a:xfrm>
            <a:off x="6530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뺄셈 기호 12"/>
          <p:cNvSpPr/>
          <p:nvPr/>
        </p:nvSpPr>
        <p:spPr>
          <a:xfrm>
            <a:off x="3355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뺄셈 기호 13"/>
          <p:cNvSpPr/>
          <p:nvPr/>
        </p:nvSpPr>
        <p:spPr>
          <a:xfrm>
            <a:off x="3510500" y="629360"/>
            <a:ext cx="317500" cy="283134"/>
          </a:xfrm>
          <a:prstGeom prst="mathMinus">
            <a:avLst>
              <a:gd name="adj1" fmla="val 23520"/>
            </a:avLst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타원 14"/>
          <p:cNvSpPr>
            <a:spLocks noChangeAspect="1"/>
          </p:cNvSpPr>
          <p:nvPr/>
        </p:nvSpPr>
        <p:spPr>
          <a:xfrm>
            <a:off x="9531736" y="6344936"/>
            <a:ext cx="513064" cy="513064"/>
          </a:xfrm>
          <a:prstGeom prst="ellipse">
            <a:avLst/>
          </a:prstGeom>
          <a:solidFill>
            <a:srgbClr val="eced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Box 1"/>
          <p:cNvSpPr txBox="1"/>
          <p:nvPr/>
        </p:nvSpPr>
        <p:spPr>
          <a:xfrm>
            <a:off x="9316166" y="0"/>
            <a:ext cx="1457269" cy="1164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글자 크기</a:t>
            </a:r>
            <a:endParaRPr lang="ko-KR" altLang="en-US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26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2600">
                <a:latin typeface="충북대70주년체 Regular"/>
                <a:ea typeface="충북대70주년체 Regular"/>
              </a:rPr>
              <a:t>(35)</a:t>
            </a:r>
            <a:endParaRPr lang="en-US" altLang="ko-KR" sz="2600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14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400">
                <a:latin typeface="충북대70주년체 Regular"/>
                <a:ea typeface="충북대70주년체 Regular"/>
              </a:rPr>
              <a:t>(19)</a:t>
            </a:r>
            <a:endParaRPr lang="en-US" altLang="ko-KR" sz="1400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1100">
                <a:latin typeface="충북대70주년체 Regular"/>
                <a:ea typeface="충북대70주년체 Regular"/>
              </a:rPr>
              <a:t>ㄱ </a:t>
            </a:r>
            <a:r>
              <a:rPr lang="en-US" altLang="ko-KR" sz="1100">
                <a:latin typeface="충북대70주년체 Regular"/>
                <a:ea typeface="충북대70주년체 Regular"/>
              </a:rPr>
              <a:t>(11)</a:t>
            </a:r>
            <a:endParaRPr lang="en-US" altLang="ko-KR" sz="1100">
              <a:latin typeface="충북대70주년체 Regular"/>
              <a:ea typeface="충북대70주년체 Regular"/>
            </a:endParaRPr>
          </a:p>
        </p:txBody>
      </p:sp>
      <p:sp>
        <p:nvSpPr>
          <p:cNvPr id="17" name="타원 16"/>
          <p:cNvSpPr>
            <a:spLocks noChangeAspect="1"/>
          </p:cNvSpPr>
          <p:nvPr/>
        </p:nvSpPr>
        <p:spPr>
          <a:xfrm>
            <a:off x="9531736" y="2188448"/>
            <a:ext cx="513064" cy="513064"/>
          </a:xfrm>
          <a:prstGeom prst="ellipse">
            <a:avLst/>
          </a:prstGeom>
          <a:solidFill>
            <a:srgbClr val="eb657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8" name="타원 17"/>
          <p:cNvSpPr>
            <a:spLocks noChangeAspect="1"/>
          </p:cNvSpPr>
          <p:nvPr/>
        </p:nvSpPr>
        <p:spPr>
          <a:xfrm>
            <a:off x="9531736" y="2833338"/>
            <a:ext cx="513064" cy="513064"/>
          </a:xfrm>
          <a:prstGeom prst="ellipse">
            <a:avLst/>
          </a:prstGeom>
          <a:solidFill>
            <a:srgbClr val="fce89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타원 18"/>
          <p:cNvSpPr>
            <a:spLocks noChangeAspect="1"/>
          </p:cNvSpPr>
          <p:nvPr/>
        </p:nvSpPr>
        <p:spPr>
          <a:xfrm>
            <a:off x="9531736" y="3528964"/>
            <a:ext cx="513064" cy="513064"/>
          </a:xfrm>
          <a:prstGeom prst="ellipse">
            <a:avLst/>
          </a:prstGeom>
          <a:solidFill>
            <a:srgbClr val="496f7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타원 19"/>
          <p:cNvSpPr>
            <a:spLocks noChangeAspect="1"/>
          </p:cNvSpPr>
          <p:nvPr/>
        </p:nvSpPr>
        <p:spPr>
          <a:xfrm>
            <a:off x="9531736" y="4897779"/>
            <a:ext cx="513064" cy="513064"/>
          </a:xfrm>
          <a:prstGeom prst="ellipse">
            <a:avLst/>
          </a:prstGeom>
          <a:solidFill>
            <a:srgbClr val="8b558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1" name="타원 20"/>
          <p:cNvSpPr>
            <a:spLocks noChangeAspect="1"/>
          </p:cNvSpPr>
          <p:nvPr/>
        </p:nvSpPr>
        <p:spPr>
          <a:xfrm>
            <a:off x="9531736" y="4234481"/>
            <a:ext cx="513064" cy="513064"/>
          </a:xfrm>
          <a:prstGeom prst="ellipse">
            <a:avLst/>
          </a:prstGeom>
          <a:solidFill>
            <a:srgbClr val="76777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2" name="타원 21"/>
          <p:cNvSpPr>
            <a:spLocks noChangeAspect="1"/>
          </p:cNvSpPr>
          <p:nvPr/>
        </p:nvSpPr>
        <p:spPr>
          <a:xfrm>
            <a:off x="9531736" y="5627054"/>
            <a:ext cx="513064" cy="513064"/>
          </a:xfrm>
          <a:prstGeom prst="ellipse">
            <a:avLst/>
          </a:prstGeom>
          <a:solidFill>
            <a:srgbClr val="1e0d2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TextBox 1"/>
          <p:cNvSpPr txBox="1"/>
          <p:nvPr/>
        </p:nvSpPr>
        <p:spPr>
          <a:xfrm>
            <a:off x="9316166" y="1301432"/>
            <a:ext cx="1965269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글꼴</a:t>
            </a:r>
            <a:endParaRPr lang="ko-KR" altLang="en-US" sz="1900">
              <a:latin typeface="충북대70주년체 Regular"/>
              <a:ea typeface="충북대70주년체 Regular"/>
            </a:endParaRPr>
          </a:p>
          <a:p>
            <a:pPr lvl="0">
              <a:defRPr/>
            </a:pPr>
            <a:r>
              <a:rPr lang="ko-KR" altLang="en-US" sz="1900">
                <a:latin typeface="충북대70주년체 Regular"/>
                <a:ea typeface="충북대70주년체 Regular"/>
              </a:rPr>
              <a:t>충북대</a:t>
            </a:r>
            <a:r>
              <a:rPr lang="en-US" altLang="ko-KR" sz="1900">
                <a:latin typeface="충북대70주년체 Regular"/>
                <a:ea typeface="충북대70주년체 Regular"/>
              </a:rPr>
              <a:t>70</a:t>
            </a:r>
            <a:r>
              <a:rPr lang="ko-KR" altLang="en-US" sz="1900">
                <a:latin typeface="충북대70주년체 Regular"/>
                <a:ea typeface="충북대70주년체 Regular"/>
              </a:rPr>
              <a:t>주년체</a:t>
            </a:r>
            <a:endParaRPr lang="ko-KR" altLang="en-US" sz="1900">
              <a:latin typeface="충북대70주년체 Regular"/>
              <a:ea typeface="충북대70주년체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845714888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267</ep:Words>
  <ep:PresentationFormat>화면 슬라이드 쇼(4:3)</ep:PresentationFormat>
  <ep:Paragraphs>159</ep:Paragraphs>
  <ep:Slides>6</ep:Slides>
  <ep:Notes>4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2026-01-12T05:12:27.000</dcterms:created>
  <dc:creator>OFFICE</dc:creator>
  <cp:lastModifiedBy>82103</cp:lastModifiedBy>
  <dcterms:modified xsi:type="dcterms:W3CDTF">2026-01-17T06:08:53.657</dcterms:modified>
  <cp:revision>114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