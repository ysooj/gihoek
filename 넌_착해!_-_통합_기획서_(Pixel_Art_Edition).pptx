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slideLayout" Target="../slideLayouts/slideLayout1.xml"/><Relationship Id="rId2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slideLayout" Target="../slideLayouts/slideLayout1.xml"/><Relationship Id="rId1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png"/><Relationship Id="rId16" Type="http://schemas.openxmlformats.org/officeDocument/2006/relationships/image" Target="../media/image-17-16.png"/><Relationship Id="rId17" Type="http://schemas.openxmlformats.org/officeDocument/2006/relationships/image" Target="../media/image-17-17.png"/><Relationship Id="rId18" Type="http://schemas.openxmlformats.org/officeDocument/2006/relationships/slideLayout" Target="../slideLayouts/slideLayout1.xml"/><Relationship Id="rId1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slideLayout" Target="../slideLayouts/slideLayout1.xml"/><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image" Target="../media/image-25-9.png"/><Relationship Id="rId10" Type="http://schemas.openxmlformats.org/officeDocument/2006/relationships/image" Target="../media/image-25-10.png"/><Relationship Id="rId11" Type="http://schemas.openxmlformats.org/officeDocument/2006/relationships/image" Target="../media/image-25-11.png"/><Relationship Id="rId12" Type="http://schemas.openxmlformats.org/officeDocument/2006/relationships/image" Target="../media/image-25-12.png"/><Relationship Id="rId13" Type="http://schemas.openxmlformats.org/officeDocument/2006/relationships/image" Target="../media/image-25-13.png"/><Relationship Id="rId14" Type="http://schemas.openxmlformats.org/officeDocument/2006/relationships/slideLayout" Target="../slideLayouts/slideLayout1.xml"/><Relationship Id="rId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2454855" y="1226046"/>
            <a:ext cx="4234262" cy="1930598"/>
          </a:xfrm>
          <a:prstGeom prst="rect">
            <a:avLst/>
          </a:prstGeom>
          <a:solidFill>
            <a:srgbClr val="FFFFFF"/>
          </a:solidFill>
          <a:ln w="54864">
            <a:solidFill>
              <a:srgbClr val="000000"/>
            </a:solidFill>
            <a:prstDash val="solid"/>
          </a:ln>
        </p:spPr>
      </p:sp>
      <p:sp>
        <p:nvSpPr>
          <p:cNvPr id="4" name="Text 1"/>
          <p:cNvSpPr/>
          <p:nvPr/>
        </p:nvSpPr>
        <p:spPr>
          <a:xfrm>
            <a:off x="3083505" y="1568946"/>
            <a:ext cx="2976962" cy="1244798"/>
          </a:xfrm>
          <a:prstGeom prst="rect">
            <a:avLst/>
          </a:prstGeom>
          <a:noFill/>
          <a:ln/>
        </p:spPr>
        <p:txBody>
          <a:bodyPr wrap="none" lIns="0" tIns="0" rIns="0" bIns="0" rtlCol="0" anchor="t">
            <a:spAutoFit/>
          </a:bodyPr>
          <a:lstStyle/>
          <a:p>
            <a:pPr algn="ctr" indent="0" marL="0">
              <a:lnSpc>
                <a:spcPts val="8100"/>
              </a:lnSpc>
              <a:buNone/>
            </a:pPr>
            <a:r>
              <a:rPr lang="en-US" sz="6218" b="1" spc="3" kern="0" dirty="0">
                <a:solidFill>
                  <a:srgbClr val="1A0D2E"/>
                </a:solidFill>
              </a:rPr>
              <a:t>넌 착해!</a:t>
            </a:r>
            <a:endParaRPr lang="en-US" sz="6218" dirty="0"/>
          </a:p>
        </p:txBody>
      </p:sp>
      <p:sp>
        <p:nvSpPr>
          <p:cNvPr id="5" name="Text 2"/>
          <p:cNvSpPr/>
          <p:nvPr/>
        </p:nvSpPr>
        <p:spPr>
          <a:xfrm>
            <a:off x="3375254" y="3528120"/>
            <a:ext cx="2393463" cy="332184"/>
          </a:xfrm>
          <a:prstGeom prst="rect">
            <a:avLst/>
          </a:prstGeom>
          <a:noFill/>
          <a:ln/>
        </p:spPr>
        <p:txBody>
          <a:bodyPr wrap="none" lIns="0" tIns="0" rIns="0" bIns="0" rtlCol="0" anchor="t">
            <a:spAutoFit/>
          </a:bodyPr>
          <a:lstStyle/>
          <a:p>
            <a:pPr algn="l" indent="0" marL="0">
              <a:lnSpc>
                <a:spcPts val="2200"/>
              </a:lnSpc>
              <a:buNone/>
            </a:pPr>
            <a:r>
              <a:rPr lang="en-US" sz="1602" b="1" spc="2" kern="0" dirty="0">
                <a:solidFill>
                  <a:srgbClr val="FFD700"/>
                </a:solidFill>
              </a:rPr>
              <a:t>네러티브 중심 어드벤처</a:t>
            </a:r>
            <a:endParaRPr lang="en-US" sz="1602" dirty="0"/>
          </a:p>
        </p:txBody>
      </p:sp>
      <p:pic>
        <p:nvPicPr>
          <p:cNvPr id="6" name="Image 1" descr="preencoded.png">    </p:cNvPr>
          <p:cNvPicPr>
            <a:picLocks noChangeAspect="1"/>
          </p:cNvPicPr>
          <p:nvPr/>
        </p:nvPicPr>
        <p:blipFill>
          <a:blip r:embed="rId2"/>
          <a:stretch>
            <a:fillRect/>
          </a:stretch>
        </p:blipFill>
        <p:spPr>
          <a:xfrm>
            <a:off x="4286250" y="3904059"/>
            <a:ext cx="571500" cy="571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571500" y="428625"/>
            <a:ext cx="1259588" cy="698302"/>
          </a:xfrm>
          <a:prstGeom prst="rect">
            <a:avLst/>
          </a:prstGeom>
          <a:solidFill>
            <a:srgbClr val="FFFFFF"/>
          </a:solidFill>
          <a:ln w="27432">
            <a:solidFill>
              <a:srgbClr val="000000"/>
            </a:solidFill>
            <a:prstDash val="solid"/>
          </a:ln>
        </p:spPr>
      </p:sp>
      <p:sp>
        <p:nvSpPr>
          <p:cNvPr id="4" name="Text 1"/>
          <p:cNvSpPr/>
          <p:nvPr/>
        </p:nvSpPr>
        <p:spPr>
          <a:xfrm>
            <a:off x="857250" y="500063"/>
            <a:ext cx="630938" cy="498277"/>
          </a:xfrm>
          <a:prstGeom prst="rect">
            <a:avLst/>
          </a:prstGeom>
          <a:noFill/>
          <a:ln/>
        </p:spPr>
        <p:txBody>
          <a:bodyPr wrap="none" lIns="0" tIns="0" rIns="0" bIns="0" rtlCol="0" anchor="t">
            <a:spAutoFit/>
          </a:bodyPr>
          <a:lstStyle/>
          <a:p>
            <a:pPr algn="l" indent="0" marL="0">
              <a:lnSpc>
                <a:spcPts val="3200"/>
              </a:lnSpc>
              <a:buNone/>
            </a:pPr>
            <a:r>
              <a:rPr lang="en-US" sz="2436" b="1" dirty="0">
                <a:solidFill>
                  <a:srgbClr val="1A0D2E"/>
                </a:solidFill>
              </a:rPr>
              <a:t>목차</a:t>
            </a:r>
            <a:endParaRPr lang="en-US" sz="2436" dirty="0"/>
          </a:p>
        </p:txBody>
      </p:sp>
      <p:sp>
        <p:nvSpPr>
          <p:cNvPr id="5" name="Text 2"/>
          <p:cNvSpPr/>
          <p:nvPr/>
        </p:nvSpPr>
        <p:spPr>
          <a:xfrm>
            <a:off x="571500" y="1826121"/>
            <a:ext cx="1428750" cy="373261"/>
          </a:xfrm>
          <a:prstGeom prst="rect">
            <a:avLst/>
          </a:prstGeom>
          <a:noFill/>
          <a:ln/>
        </p:spPr>
        <p:txBody>
          <a:bodyPr wrap="none" lIns="0" tIns="0" rIns="102108" bIns="0" rtlCol="0" anchor="t">
            <a:spAutoFit/>
          </a:bodyPr>
          <a:lstStyle/>
          <a:p>
            <a:pPr algn="l" indent="0" marL="0">
              <a:lnSpc>
                <a:spcPts val="2400"/>
              </a:lnSpc>
              <a:buNone/>
            </a:pPr>
            <a:r>
              <a:rPr lang="en-US" sz="1924" dirty="0">
                <a:solidFill>
                  <a:srgbClr val="FFD700"/>
                </a:solidFill>
              </a:rPr>
              <a:t>개요</a:t>
            </a:r>
            <a:endParaRPr lang="en-US" sz="1924" dirty="0"/>
          </a:p>
        </p:txBody>
      </p:sp>
      <p:pic>
        <p:nvPicPr>
          <p:cNvPr id="6" name="Image 1" descr="preencoded.png">    </p:cNvPr>
          <p:cNvPicPr>
            <a:picLocks noChangeAspect="1"/>
          </p:cNvPicPr>
          <p:nvPr/>
        </p:nvPicPr>
        <p:blipFill>
          <a:blip r:embed="rId2"/>
          <a:stretch>
            <a:fillRect/>
          </a:stretch>
        </p:blipFill>
        <p:spPr>
          <a:xfrm>
            <a:off x="2286000" y="1787723"/>
            <a:ext cx="57150" cy="114300"/>
          </a:xfrm>
          <a:prstGeom prst="rect">
            <a:avLst/>
          </a:prstGeom>
        </p:spPr>
      </p:pic>
      <p:sp>
        <p:nvSpPr>
          <p:cNvPr id="7" name="Text 3"/>
          <p:cNvSpPr/>
          <p:nvPr/>
        </p:nvSpPr>
        <p:spPr>
          <a:xfrm>
            <a:off x="2414588" y="1719858"/>
            <a:ext cx="473218"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방향성</a:t>
            </a:r>
            <a:endParaRPr lang="en-US" sz="1269" dirty="0"/>
          </a:p>
        </p:txBody>
      </p:sp>
      <p:pic>
        <p:nvPicPr>
          <p:cNvPr id="8" name="Image 2" descr="preencoded.png">    </p:cNvPr>
          <p:cNvPicPr>
            <a:picLocks noChangeAspect="1"/>
          </p:cNvPicPr>
          <p:nvPr/>
        </p:nvPicPr>
        <p:blipFill>
          <a:blip r:embed="rId3"/>
          <a:stretch>
            <a:fillRect/>
          </a:stretch>
        </p:blipFill>
        <p:spPr>
          <a:xfrm>
            <a:off x="2973530" y="1787723"/>
            <a:ext cx="57150" cy="114300"/>
          </a:xfrm>
          <a:prstGeom prst="rect">
            <a:avLst/>
          </a:prstGeom>
        </p:spPr>
      </p:pic>
      <p:sp>
        <p:nvSpPr>
          <p:cNvPr id="9" name="Text 4"/>
          <p:cNvSpPr/>
          <p:nvPr/>
        </p:nvSpPr>
        <p:spPr>
          <a:xfrm>
            <a:off x="3102118" y="1719858"/>
            <a:ext cx="83325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게임의 정의</a:t>
            </a:r>
            <a:endParaRPr lang="en-US" sz="1269" dirty="0"/>
          </a:p>
        </p:txBody>
      </p:sp>
      <p:pic>
        <p:nvPicPr>
          <p:cNvPr id="10" name="Image 3" descr="preencoded.png">    </p:cNvPr>
          <p:cNvPicPr>
            <a:picLocks noChangeAspect="1"/>
          </p:cNvPicPr>
          <p:nvPr/>
        </p:nvPicPr>
        <p:blipFill>
          <a:blip r:embed="rId4"/>
          <a:stretch>
            <a:fillRect/>
          </a:stretch>
        </p:blipFill>
        <p:spPr>
          <a:xfrm>
            <a:off x="2286000" y="2123480"/>
            <a:ext cx="57150" cy="114300"/>
          </a:xfrm>
          <a:prstGeom prst="rect">
            <a:avLst/>
          </a:prstGeom>
        </p:spPr>
      </p:pic>
      <p:sp>
        <p:nvSpPr>
          <p:cNvPr id="11" name="Text 5"/>
          <p:cNvSpPr/>
          <p:nvPr/>
        </p:nvSpPr>
        <p:spPr>
          <a:xfrm>
            <a:off x="2414588" y="2055614"/>
            <a:ext cx="1035565"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컨텐츠 볼륨 맵</a:t>
            </a:r>
            <a:endParaRPr lang="en-US" sz="1269" dirty="0"/>
          </a:p>
        </p:txBody>
      </p:sp>
      <p:sp>
        <p:nvSpPr>
          <p:cNvPr id="12" name="Text 6"/>
          <p:cNvSpPr/>
          <p:nvPr/>
        </p:nvSpPr>
        <p:spPr>
          <a:xfrm>
            <a:off x="4714875" y="1826121"/>
            <a:ext cx="1428750" cy="373261"/>
          </a:xfrm>
          <a:prstGeom prst="rect">
            <a:avLst/>
          </a:prstGeom>
          <a:noFill/>
          <a:ln/>
        </p:spPr>
        <p:txBody>
          <a:bodyPr wrap="none" lIns="0" tIns="0" rIns="102108" bIns="0" rtlCol="0" anchor="t">
            <a:spAutoFit/>
          </a:bodyPr>
          <a:lstStyle/>
          <a:p>
            <a:pPr algn="l" indent="0" marL="0">
              <a:lnSpc>
                <a:spcPts val="2400"/>
              </a:lnSpc>
              <a:buNone/>
            </a:pPr>
            <a:r>
              <a:rPr lang="en-US" sz="1924" dirty="0">
                <a:solidFill>
                  <a:srgbClr val="FFD700"/>
                </a:solidFill>
              </a:rPr>
              <a:t>설정</a:t>
            </a:r>
            <a:endParaRPr lang="en-US" sz="1924" dirty="0"/>
          </a:p>
        </p:txBody>
      </p:sp>
      <p:pic>
        <p:nvPicPr>
          <p:cNvPr id="13" name="Image 4" descr="preencoded.png">    </p:cNvPr>
          <p:cNvPicPr>
            <a:picLocks noChangeAspect="1"/>
          </p:cNvPicPr>
          <p:nvPr/>
        </p:nvPicPr>
        <p:blipFill>
          <a:blip r:embed="rId5"/>
          <a:stretch>
            <a:fillRect/>
          </a:stretch>
        </p:blipFill>
        <p:spPr>
          <a:xfrm>
            <a:off x="6429375" y="1451967"/>
            <a:ext cx="57150" cy="114300"/>
          </a:xfrm>
          <a:prstGeom prst="rect">
            <a:avLst/>
          </a:prstGeom>
        </p:spPr>
      </p:pic>
      <p:sp>
        <p:nvSpPr>
          <p:cNvPr id="14" name="Text 7"/>
          <p:cNvSpPr/>
          <p:nvPr/>
        </p:nvSpPr>
        <p:spPr>
          <a:xfrm>
            <a:off x="6557963" y="1384102"/>
            <a:ext cx="83325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인물 관계도</a:t>
            </a:r>
            <a:endParaRPr lang="en-US" sz="1269" dirty="0"/>
          </a:p>
        </p:txBody>
      </p:sp>
      <p:pic>
        <p:nvPicPr>
          <p:cNvPr id="15" name="Image 5" descr="preencoded.png">    </p:cNvPr>
          <p:cNvPicPr>
            <a:picLocks noChangeAspect="1"/>
          </p:cNvPicPr>
          <p:nvPr/>
        </p:nvPicPr>
        <p:blipFill>
          <a:blip r:embed="rId6"/>
          <a:stretch>
            <a:fillRect/>
          </a:stretch>
        </p:blipFill>
        <p:spPr>
          <a:xfrm>
            <a:off x="7476939" y="1451967"/>
            <a:ext cx="57150" cy="114300"/>
          </a:xfrm>
          <a:prstGeom prst="rect">
            <a:avLst/>
          </a:prstGeom>
        </p:spPr>
      </p:pic>
      <p:sp>
        <p:nvSpPr>
          <p:cNvPr id="16" name="Text 8"/>
          <p:cNvSpPr/>
          <p:nvPr/>
        </p:nvSpPr>
        <p:spPr>
          <a:xfrm>
            <a:off x="7605526" y="1384102"/>
            <a:ext cx="67553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인물 소개</a:t>
            </a:r>
            <a:endParaRPr lang="en-US" sz="1269" dirty="0"/>
          </a:p>
        </p:txBody>
      </p:sp>
      <p:pic>
        <p:nvPicPr>
          <p:cNvPr id="17" name="Image 6" descr="preencoded.png">    </p:cNvPr>
          <p:cNvPicPr>
            <a:picLocks noChangeAspect="1"/>
          </p:cNvPicPr>
          <p:nvPr/>
        </p:nvPicPr>
        <p:blipFill>
          <a:blip r:embed="rId7"/>
          <a:stretch>
            <a:fillRect/>
          </a:stretch>
        </p:blipFill>
        <p:spPr>
          <a:xfrm>
            <a:off x="6429375" y="1787723"/>
            <a:ext cx="57150" cy="114300"/>
          </a:xfrm>
          <a:prstGeom prst="rect">
            <a:avLst/>
          </a:prstGeom>
        </p:spPr>
      </p:pic>
      <p:sp>
        <p:nvSpPr>
          <p:cNvPr id="18" name="Text 9"/>
          <p:cNvSpPr/>
          <p:nvPr/>
        </p:nvSpPr>
        <p:spPr>
          <a:xfrm>
            <a:off x="6557963" y="1719858"/>
            <a:ext cx="1193313"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플레이 구성 요소</a:t>
            </a:r>
            <a:endParaRPr lang="en-US" sz="1269" dirty="0"/>
          </a:p>
        </p:txBody>
      </p:sp>
      <p:pic>
        <p:nvPicPr>
          <p:cNvPr id="19" name="Image 7" descr="preencoded.png">    </p:cNvPr>
          <p:cNvPicPr>
            <a:picLocks noChangeAspect="1"/>
          </p:cNvPicPr>
          <p:nvPr/>
        </p:nvPicPr>
        <p:blipFill>
          <a:blip r:embed="rId8"/>
          <a:stretch>
            <a:fillRect/>
          </a:stretch>
        </p:blipFill>
        <p:spPr>
          <a:xfrm>
            <a:off x="6429375" y="2123480"/>
            <a:ext cx="57150" cy="114300"/>
          </a:xfrm>
          <a:prstGeom prst="rect">
            <a:avLst/>
          </a:prstGeom>
        </p:spPr>
      </p:pic>
      <p:sp>
        <p:nvSpPr>
          <p:cNvPr id="20" name="Text 10"/>
          <p:cNvSpPr/>
          <p:nvPr/>
        </p:nvSpPr>
        <p:spPr>
          <a:xfrm>
            <a:off x="6557963" y="2055614"/>
            <a:ext cx="67553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게임 화면</a:t>
            </a:r>
            <a:endParaRPr lang="en-US" sz="1269" dirty="0"/>
          </a:p>
        </p:txBody>
      </p:sp>
      <p:pic>
        <p:nvPicPr>
          <p:cNvPr id="21" name="Image 8" descr="preencoded.png">    </p:cNvPr>
          <p:cNvPicPr>
            <a:picLocks noChangeAspect="1"/>
          </p:cNvPicPr>
          <p:nvPr/>
        </p:nvPicPr>
        <p:blipFill>
          <a:blip r:embed="rId9"/>
          <a:stretch>
            <a:fillRect/>
          </a:stretch>
        </p:blipFill>
        <p:spPr>
          <a:xfrm>
            <a:off x="7319218" y="2123480"/>
            <a:ext cx="57150" cy="114300"/>
          </a:xfrm>
          <a:prstGeom prst="rect">
            <a:avLst/>
          </a:prstGeom>
        </p:spPr>
      </p:pic>
      <p:sp>
        <p:nvSpPr>
          <p:cNvPr id="22" name="Text 11"/>
          <p:cNvSpPr/>
          <p:nvPr/>
        </p:nvSpPr>
        <p:spPr>
          <a:xfrm>
            <a:off x="7447806" y="2055614"/>
            <a:ext cx="473218"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아이템</a:t>
            </a:r>
            <a:endParaRPr lang="en-US" sz="1269" dirty="0"/>
          </a:p>
        </p:txBody>
      </p:sp>
      <p:pic>
        <p:nvPicPr>
          <p:cNvPr id="23" name="Image 9" descr="preencoded.png">    </p:cNvPr>
          <p:cNvPicPr>
            <a:picLocks noChangeAspect="1"/>
          </p:cNvPicPr>
          <p:nvPr/>
        </p:nvPicPr>
        <p:blipFill>
          <a:blip r:embed="rId10"/>
          <a:stretch>
            <a:fillRect/>
          </a:stretch>
        </p:blipFill>
        <p:spPr>
          <a:xfrm>
            <a:off x="6429375" y="2459236"/>
            <a:ext cx="57150" cy="114300"/>
          </a:xfrm>
          <a:prstGeom prst="rect">
            <a:avLst/>
          </a:prstGeom>
        </p:spPr>
      </p:pic>
      <p:sp>
        <p:nvSpPr>
          <p:cNvPr id="24" name="Text 12"/>
          <p:cNvSpPr/>
          <p:nvPr/>
        </p:nvSpPr>
        <p:spPr>
          <a:xfrm>
            <a:off x="6557963" y="2391370"/>
            <a:ext cx="67553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등장 무대</a:t>
            </a:r>
            <a:endParaRPr lang="en-US" sz="1269" dirty="0"/>
          </a:p>
        </p:txBody>
      </p:sp>
      <p:sp>
        <p:nvSpPr>
          <p:cNvPr id="25" name="Text 13"/>
          <p:cNvSpPr/>
          <p:nvPr/>
        </p:nvSpPr>
        <p:spPr>
          <a:xfrm>
            <a:off x="571500" y="3201293"/>
            <a:ext cx="1428750" cy="373261"/>
          </a:xfrm>
          <a:prstGeom prst="rect">
            <a:avLst/>
          </a:prstGeom>
          <a:noFill/>
          <a:ln/>
        </p:spPr>
        <p:txBody>
          <a:bodyPr wrap="none" lIns="0" tIns="0" rIns="102108" bIns="0" rtlCol="0" anchor="t">
            <a:spAutoFit/>
          </a:bodyPr>
          <a:lstStyle/>
          <a:p>
            <a:pPr algn="l" indent="0" marL="0">
              <a:lnSpc>
                <a:spcPts val="2400"/>
              </a:lnSpc>
              <a:buNone/>
            </a:pPr>
            <a:r>
              <a:rPr lang="en-US" sz="1924" dirty="0">
                <a:solidFill>
                  <a:srgbClr val="FFD700"/>
                </a:solidFill>
              </a:rPr>
              <a:t>시스템</a:t>
            </a:r>
            <a:endParaRPr lang="en-US" sz="1924" dirty="0"/>
          </a:p>
        </p:txBody>
      </p:sp>
      <p:pic>
        <p:nvPicPr>
          <p:cNvPr id="26" name="Image 10" descr="preencoded.png">    </p:cNvPr>
          <p:cNvPicPr>
            <a:picLocks noChangeAspect="1"/>
          </p:cNvPicPr>
          <p:nvPr/>
        </p:nvPicPr>
        <p:blipFill>
          <a:blip r:embed="rId11"/>
          <a:stretch>
            <a:fillRect/>
          </a:stretch>
        </p:blipFill>
        <p:spPr>
          <a:xfrm>
            <a:off x="2286000" y="2995017"/>
            <a:ext cx="57150" cy="114300"/>
          </a:xfrm>
          <a:prstGeom prst="rect">
            <a:avLst/>
          </a:prstGeom>
        </p:spPr>
      </p:pic>
      <p:sp>
        <p:nvSpPr>
          <p:cNvPr id="27" name="Text 14"/>
          <p:cNvSpPr/>
          <p:nvPr/>
        </p:nvSpPr>
        <p:spPr>
          <a:xfrm>
            <a:off x="2414588" y="2927152"/>
            <a:ext cx="1597940"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메인 플레이 및 정보 창</a:t>
            </a:r>
            <a:endParaRPr lang="en-US" sz="1269" dirty="0"/>
          </a:p>
        </p:txBody>
      </p:sp>
      <p:pic>
        <p:nvPicPr>
          <p:cNvPr id="28" name="Image 11" descr="preencoded.png">    </p:cNvPr>
          <p:cNvPicPr>
            <a:picLocks noChangeAspect="1"/>
          </p:cNvPicPr>
          <p:nvPr/>
        </p:nvPicPr>
        <p:blipFill>
          <a:blip r:embed="rId12"/>
          <a:stretch>
            <a:fillRect/>
          </a:stretch>
        </p:blipFill>
        <p:spPr>
          <a:xfrm>
            <a:off x="2286000" y="3330773"/>
            <a:ext cx="57150" cy="114300"/>
          </a:xfrm>
          <a:prstGeom prst="rect">
            <a:avLst/>
          </a:prstGeom>
        </p:spPr>
      </p:pic>
      <p:sp>
        <p:nvSpPr>
          <p:cNvPr id="29" name="Text 15"/>
          <p:cNvSpPr/>
          <p:nvPr/>
        </p:nvSpPr>
        <p:spPr>
          <a:xfrm>
            <a:off x="2414588" y="3262908"/>
            <a:ext cx="903545"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UI 설정 영역</a:t>
            </a:r>
            <a:endParaRPr lang="en-US" sz="1269" dirty="0"/>
          </a:p>
        </p:txBody>
      </p:sp>
      <p:pic>
        <p:nvPicPr>
          <p:cNvPr id="30" name="Image 12" descr="preencoded.png">    </p:cNvPr>
          <p:cNvPicPr>
            <a:picLocks noChangeAspect="1"/>
          </p:cNvPicPr>
          <p:nvPr/>
        </p:nvPicPr>
        <p:blipFill>
          <a:blip r:embed="rId13"/>
          <a:stretch>
            <a:fillRect/>
          </a:stretch>
        </p:blipFill>
        <p:spPr>
          <a:xfrm>
            <a:off x="2286000" y="3666530"/>
            <a:ext cx="57150" cy="114300"/>
          </a:xfrm>
          <a:prstGeom prst="rect">
            <a:avLst/>
          </a:prstGeom>
        </p:spPr>
      </p:pic>
      <p:sp>
        <p:nvSpPr>
          <p:cNvPr id="31" name="Text 16"/>
          <p:cNvSpPr/>
          <p:nvPr/>
        </p:nvSpPr>
        <p:spPr>
          <a:xfrm>
            <a:off x="2414588" y="3598664"/>
            <a:ext cx="991000"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플레이 흐름도</a:t>
            </a:r>
            <a:endParaRPr lang="en-US" sz="1269" dirty="0"/>
          </a:p>
        </p:txBody>
      </p:sp>
      <p:pic>
        <p:nvPicPr>
          <p:cNvPr id="32" name="Image 13" descr="preencoded.png">    </p:cNvPr>
          <p:cNvPicPr>
            <a:picLocks noChangeAspect="1"/>
          </p:cNvPicPr>
          <p:nvPr/>
        </p:nvPicPr>
        <p:blipFill>
          <a:blip r:embed="rId14"/>
          <a:stretch>
            <a:fillRect/>
          </a:stretch>
        </p:blipFill>
        <p:spPr>
          <a:xfrm>
            <a:off x="3491312" y="3666530"/>
            <a:ext cx="57150" cy="114300"/>
          </a:xfrm>
          <a:prstGeom prst="rect">
            <a:avLst/>
          </a:prstGeom>
        </p:spPr>
      </p:pic>
      <p:sp>
        <p:nvSpPr>
          <p:cNvPr id="33" name="Text 17"/>
          <p:cNvSpPr/>
          <p:nvPr/>
        </p:nvSpPr>
        <p:spPr>
          <a:xfrm>
            <a:off x="3619900" y="3598664"/>
            <a:ext cx="67553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게임 구성</a:t>
            </a:r>
            <a:endParaRPr lang="en-US" sz="1269" dirty="0"/>
          </a:p>
        </p:txBody>
      </p:sp>
      <p:sp>
        <p:nvSpPr>
          <p:cNvPr id="34" name="Text 18"/>
          <p:cNvSpPr/>
          <p:nvPr/>
        </p:nvSpPr>
        <p:spPr>
          <a:xfrm>
            <a:off x="4714875" y="3201293"/>
            <a:ext cx="1428750" cy="373261"/>
          </a:xfrm>
          <a:prstGeom prst="rect">
            <a:avLst/>
          </a:prstGeom>
          <a:noFill/>
          <a:ln/>
        </p:spPr>
        <p:txBody>
          <a:bodyPr wrap="none" lIns="0" tIns="0" rIns="102108" bIns="0" rtlCol="0" anchor="t">
            <a:spAutoFit/>
          </a:bodyPr>
          <a:lstStyle/>
          <a:p>
            <a:pPr algn="l" indent="0" marL="0">
              <a:lnSpc>
                <a:spcPts val="2400"/>
              </a:lnSpc>
              <a:buNone/>
            </a:pPr>
            <a:r>
              <a:rPr lang="en-US" sz="1924" dirty="0">
                <a:solidFill>
                  <a:srgbClr val="FFD700"/>
                </a:solidFill>
              </a:rPr>
              <a:t>설계</a:t>
            </a:r>
            <a:endParaRPr lang="en-US" sz="1924" dirty="0"/>
          </a:p>
        </p:txBody>
      </p:sp>
      <p:pic>
        <p:nvPicPr>
          <p:cNvPr id="35" name="Image 14" descr="preencoded.png">    </p:cNvPr>
          <p:cNvPicPr>
            <a:picLocks noChangeAspect="1"/>
          </p:cNvPicPr>
          <p:nvPr/>
        </p:nvPicPr>
        <p:blipFill>
          <a:blip r:embed="rId15"/>
          <a:stretch>
            <a:fillRect/>
          </a:stretch>
        </p:blipFill>
        <p:spPr>
          <a:xfrm>
            <a:off x="6429375" y="3162895"/>
            <a:ext cx="57150" cy="114300"/>
          </a:xfrm>
          <a:prstGeom prst="rect">
            <a:avLst/>
          </a:prstGeom>
        </p:spPr>
      </p:pic>
      <p:sp>
        <p:nvSpPr>
          <p:cNvPr id="36" name="Text 19"/>
          <p:cNvSpPr/>
          <p:nvPr/>
        </p:nvSpPr>
        <p:spPr>
          <a:xfrm>
            <a:off x="6557963" y="3095030"/>
            <a:ext cx="83325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자아 마모도</a:t>
            </a:r>
            <a:endParaRPr lang="en-US" sz="1269" dirty="0"/>
          </a:p>
        </p:txBody>
      </p:sp>
      <p:pic>
        <p:nvPicPr>
          <p:cNvPr id="37" name="Image 15" descr="preencoded.png">    </p:cNvPr>
          <p:cNvPicPr>
            <a:picLocks noChangeAspect="1"/>
          </p:cNvPicPr>
          <p:nvPr/>
        </p:nvPicPr>
        <p:blipFill>
          <a:blip r:embed="rId16"/>
          <a:stretch>
            <a:fillRect/>
          </a:stretch>
        </p:blipFill>
        <p:spPr>
          <a:xfrm>
            <a:off x="7476939" y="3162895"/>
            <a:ext cx="57150" cy="114300"/>
          </a:xfrm>
          <a:prstGeom prst="rect">
            <a:avLst/>
          </a:prstGeom>
        </p:spPr>
      </p:pic>
      <p:sp>
        <p:nvSpPr>
          <p:cNvPr id="38" name="Text 20"/>
          <p:cNvSpPr/>
          <p:nvPr/>
        </p:nvSpPr>
        <p:spPr>
          <a:xfrm>
            <a:off x="7605526" y="3095030"/>
            <a:ext cx="83325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선택과 해석</a:t>
            </a:r>
            <a:endParaRPr lang="en-US" sz="1269" dirty="0"/>
          </a:p>
        </p:txBody>
      </p:sp>
      <p:pic>
        <p:nvPicPr>
          <p:cNvPr id="39" name="Image 16" descr="preencoded.png">    </p:cNvPr>
          <p:cNvPicPr>
            <a:picLocks noChangeAspect="1"/>
          </p:cNvPicPr>
          <p:nvPr/>
        </p:nvPicPr>
        <p:blipFill>
          <a:blip r:embed="rId17"/>
          <a:stretch>
            <a:fillRect/>
          </a:stretch>
        </p:blipFill>
        <p:spPr>
          <a:xfrm>
            <a:off x="6429375" y="3498652"/>
            <a:ext cx="57150" cy="114300"/>
          </a:xfrm>
          <a:prstGeom prst="rect">
            <a:avLst/>
          </a:prstGeom>
        </p:spPr>
      </p:pic>
      <p:sp>
        <p:nvSpPr>
          <p:cNvPr id="40" name="Text 21"/>
          <p:cNvSpPr/>
          <p:nvPr/>
        </p:nvSpPr>
        <p:spPr>
          <a:xfrm>
            <a:off x="6557963" y="3430786"/>
            <a:ext cx="67553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결말 전개</a:t>
            </a:r>
            <a:endParaRPr lang="en-US" sz="1269" dirty="0"/>
          </a:p>
        </p:txBody>
      </p:sp>
      <p:sp>
        <p:nvSpPr>
          <p:cNvPr id="41" name="Text 22"/>
          <p:cNvSpPr/>
          <p:nvPr/>
        </p:nvSpPr>
        <p:spPr>
          <a:xfrm>
            <a:off x="571500" y="4240709"/>
            <a:ext cx="1428750" cy="373261"/>
          </a:xfrm>
          <a:prstGeom prst="rect">
            <a:avLst/>
          </a:prstGeom>
          <a:noFill/>
          <a:ln/>
        </p:spPr>
        <p:txBody>
          <a:bodyPr wrap="none" lIns="0" tIns="0" rIns="102108" bIns="0" rtlCol="0" anchor="t">
            <a:spAutoFit/>
          </a:bodyPr>
          <a:lstStyle/>
          <a:p>
            <a:pPr algn="l" indent="0" marL="0">
              <a:lnSpc>
                <a:spcPts val="2400"/>
              </a:lnSpc>
              <a:buNone/>
            </a:pPr>
            <a:r>
              <a:rPr lang="en-US" sz="1924" dirty="0">
                <a:solidFill>
                  <a:srgbClr val="FFD700"/>
                </a:solidFill>
              </a:rPr>
              <a:t>분석</a:t>
            </a:r>
            <a:endParaRPr lang="en-US" sz="1924" dirty="0"/>
          </a:p>
        </p:txBody>
      </p:sp>
      <p:pic>
        <p:nvPicPr>
          <p:cNvPr id="42" name="Image 17" descr="preencoded.png">    </p:cNvPr>
          <p:cNvPicPr>
            <a:picLocks noChangeAspect="1"/>
          </p:cNvPicPr>
          <p:nvPr/>
        </p:nvPicPr>
        <p:blipFill>
          <a:blip r:embed="rId18"/>
          <a:stretch>
            <a:fillRect/>
          </a:stretch>
        </p:blipFill>
        <p:spPr>
          <a:xfrm>
            <a:off x="2286000" y="4202311"/>
            <a:ext cx="57150" cy="114300"/>
          </a:xfrm>
          <a:prstGeom prst="rect">
            <a:avLst/>
          </a:prstGeom>
        </p:spPr>
      </p:pic>
      <p:sp>
        <p:nvSpPr>
          <p:cNvPr id="43" name="Text 23"/>
          <p:cNvSpPr/>
          <p:nvPr/>
        </p:nvSpPr>
        <p:spPr>
          <a:xfrm>
            <a:off x="2414588" y="4134445"/>
            <a:ext cx="836014"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SWOT 분석</a:t>
            </a:r>
            <a:endParaRPr lang="en-US" sz="1269" dirty="0"/>
          </a:p>
        </p:txBody>
      </p:sp>
      <p:pic>
        <p:nvPicPr>
          <p:cNvPr id="44" name="Image 18" descr="preencoded.png">    </p:cNvPr>
          <p:cNvPicPr>
            <a:picLocks noChangeAspect="1"/>
          </p:cNvPicPr>
          <p:nvPr/>
        </p:nvPicPr>
        <p:blipFill>
          <a:blip r:embed="rId19"/>
          <a:stretch>
            <a:fillRect/>
          </a:stretch>
        </p:blipFill>
        <p:spPr>
          <a:xfrm>
            <a:off x="3336327" y="4202311"/>
            <a:ext cx="57150" cy="114300"/>
          </a:xfrm>
          <a:prstGeom prst="rect">
            <a:avLst/>
          </a:prstGeom>
        </p:spPr>
      </p:pic>
      <p:sp>
        <p:nvSpPr>
          <p:cNvPr id="45" name="Text 24"/>
          <p:cNvSpPr/>
          <p:nvPr/>
        </p:nvSpPr>
        <p:spPr>
          <a:xfrm>
            <a:off x="3464914" y="4134445"/>
            <a:ext cx="67553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타겟 분석</a:t>
            </a:r>
            <a:endParaRPr lang="en-US" sz="1269" dirty="0"/>
          </a:p>
        </p:txBody>
      </p:sp>
      <p:pic>
        <p:nvPicPr>
          <p:cNvPr id="46" name="Image 19" descr="preencoded.png">    </p:cNvPr>
          <p:cNvPicPr>
            <a:picLocks noChangeAspect="1"/>
          </p:cNvPicPr>
          <p:nvPr/>
        </p:nvPicPr>
        <p:blipFill>
          <a:blip r:embed="rId20"/>
          <a:stretch>
            <a:fillRect/>
          </a:stretch>
        </p:blipFill>
        <p:spPr>
          <a:xfrm>
            <a:off x="2286000" y="4538067"/>
            <a:ext cx="57150" cy="114300"/>
          </a:xfrm>
          <a:prstGeom prst="rect">
            <a:avLst/>
          </a:prstGeom>
        </p:spPr>
      </p:pic>
      <p:sp>
        <p:nvSpPr>
          <p:cNvPr id="47" name="Text 25"/>
          <p:cNvSpPr/>
          <p:nvPr/>
        </p:nvSpPr>
        <p:spPr>
          <a:xfrm>
            <a:off x="2414588" y="4470202"/>
            <a:ext cx="833251"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포지셔닝 맵</a:t>
            </a:r>
            <a:endParaRPr lang="en-US" sz="1269" dirty="0"/>
          </a:p>
        </p:txBody>
      </p:sp>
      <p:pic>
        <p:nvPicPr>
          <p:cNvPr id="48" name="Image 20" descr="preencoded.png">    </p:cNvPr>
          <p:cNvPicPr>
            <a:picLocks noChangeAspect="1"/>
          </p:cNvPicPr>
          <p:nvPr/>
        </p:nvPicPr>
        <p:blipFill>
          <a:blip r:embed="rId21"/>
          <a:stretch>
            <a:fillRect/>
          </a:stretch>
        </p:blipFill>
        <p:spPr>
          <a:xfrm>
            <a:off x="8251031" y="4470202"/>
            <a:ext cx="321469" cy="42862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1808959" cy="544711"/>
          </a:xfrm>
          <a:prstGeom prst="rect">
            <a:avLst/>
          </a:prstGeom>
          <a:solidFill>
            <a:srgbClr val="FFFFFF"/>
          </a:solidFill>
          <a:ln w="27432">
            <a:solidFill>
              <a:srgbClr val="000000"/>
            </a:solidFill>
            <a:prstDash val="solid"/>
          </a:ln>
        </p:spPr>
      </p:sp>
      <p:sp>
        <p:nvSpPr>
          <p:cNvPr id="4" name="Text 1"/>
          <p:cNvSpPr/>
          <p:nvPr/>
        </p:nvSpPr>
        <p:spPr>
          <a:xfrm>
            <a:off x="642938" y="342900"/>
            <a:ext cx="132318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개요: 방향성</a:t>
            </a:r>
            <a:endParaRPr lang="en-US" sz="1808" dirty="0"/>
          </a:p>
        </p:txBody>
      </p:sp>
      <p:sp>
        <p:nvSpPr>
          <p:cNvPr id="5" name="Shape 2"/>
          <p:cNvSpPr/>
          <p:nvPr/>
        </p:nvSpPr>
        <p:spPr>
          <a:xfrm>
            <a:off x="428625" y="987623"/>
            <a:ext cx="2500313" cy="1114425"/>
          </a:xfrm>
          <a:prstGeom prst="rect">
            <a:avLst/>
          </a:prstGeom>
          <a:solidFill>
            <a:srgbClr val="FFFFFF">
              <a:alpha val="5000"/>
            </a:srgbClr>
          </a:solidFill>
          <a:ln w="27432">
            <a:solidFill>
              <a:srgbClr val="FFD700"/>
            </a:solidFill>
            <a:prstDash val="solid"/>
          </a:ln>
        </p:spPr>
      </p:sp>
      <p:sp>
        <p:nvSpPr>
          <p:cNvPr id="6" name="Text 3"/>
          <p:cNvSpPr/>
          <p:nvPr/>
        </p:nvSpPr>
        <p:spPr>
          <a:xfrm>
            <a:off x="535781" y="1094780"/>
            <a:ext cx="2286000" cy="207169"/>
          </a:xfrm>
          <a:prstGeom prst="rect">
            <a:avLst/>
          </a:prstGeom>
          <a:noFill/>
          <a:ln/>
        </p:spPr>
        <p:txBody>
          <a:bodyPr wrap="none" lIns="0" tIns="0" rIns="0" bIns="0" rtlCol="0" anchor="t">
            <a:spAutoFit/>
          </a:bodyPr>
          <a:lstStyle/>
          <a:p>
            <a:pPr algn="ctr" indent="0" marL="0">
              <a:lnSpc>
                <a:spcPts val="1400"/>
              </a:lnSpc>
              <a:buNone/>
            </a:pPr>
            <a:r>
              <a:rPr lang="en-US" sz="1050" dirty="0">
                <a:solidFill>
                  <a:srgbClr val="00CED1"/>
                </a:solidFill>
              </a:rPr>
              <a:t>슬로건 Slogan</a:t>
            </a:r>
            <a:endParaRPr lang="en-US" sz="1050" dirty="0"/>
          </a:p>
        </p:txBody>
      </p:sp>
      <p:sp>
        <p:nvSpPr>
          <p:cNvPr id="7" name="Text 4"/>
          <p:cNvSpPr/>
          <p:nvPr/>
        </p:nvSpPr>
        <p:spPr>
          <a:xfrm>
            <a:off x="556431" y="1375172"/>
            <a:ext cx="2060665" cy="273248"/>
          </a:xfrm>
          <a:prstGeom prst="rect">
            <a:avLst/>
          </a:prstGeom>
          <a:noFill/>
          <a:ln/>
        </p:spPr>
        <p:txBody>
          <a:bodyPr wrap="none" lIns="0" tIns="0" rIns="0" bIns="0" rtlCol="0" anchor="t">
            <a:spAutoFit/>
          </a:bodyPr>
          <a:lstStyle/>
          <a:p>
            <a:pPr algn="ctr" indent="0" marL="0">
              <a:lnSpc>
                <a:spcPts val="1900"/>
              </a:lnSpc>
              <a:buNone/>
            </a:pPr>
            <a:r>
              <a:rPr lang="en-US" sz="1486" dirty="0">
                <a:solidFill>
                  <a:srgbClr val="FFD700"/>
                </a:solidFill>
              </a:rPr>
              <a:t>선택하거나 - 선택 당하거</a:t>
            </a:r>
            <a:endParaRPr lang="en-US" sz="1486" dirty="0"/>
          </a:p>
        </p:txBody>
      </p:sp>
      <p:sp>
        <p:nvSpPr>
          <p:cNvPr id="8" name="Text 5"/>
          <p:cNvSpPr/>
          <p:nvPr/>
        </p:nvSpPr>
        <p:spPr>
          <a:xfrm>
            <a:off x="2617096" y="1375172"/>
            <a:ext cx="184035" cy="273248"/>
          </a:xfrm>
          <a:prstGeom prst="rect">
            <a:avLst/>
          </a:prstGeom>
          <a:noFill/>
          <a:ln/>
        </p:spPr>
        <p:txBody>
          <a:bodyPr wrap="none" lIns="0" tIns="0" rIns="0" bIns="0" rtlCol="0" anchor="t">
            <a:spAutoFit/>
          </a:bodyPr>
          <a:lstStyle/>
          <a:p>
            <a:pPr algn="ctr" indent="0" marL="0">
              <a:lnSpc>
                <a:spcPts val="1900"/>
              </a:lnSpc>
              <a:buNone/>
            </a:pPr>
            <a:r>
              <a:rPr lang="en-US" sz="1486" dirty="0">
                <a:solidFill>
                  <a:srgbClr val="FFD700"/>
                </a:solidFill>
              </a:rPr>
              <a:t>나</a:t>
            </a:r>
            <a:endParaRPr lang="en-US" sz="1486" dirty="0"/>
          </a:p>
        </p:txBody>
      </p:sp>
      <p:sp>
        <p:nvSpPr>
          <p:cNvPr id="9" name="Shape 6"/>
          <p:cNvSpPr/>
          <p:nvPr/>
        </p:nvSpPr>
        <p:spPr>
          <a:xfrm>
            <a:off x="428625" y="1898452"/>
            <a:ext cx="2500313" cy="769739"/>
          </a:xfrm>
          <a:prstGeom prst="rect">
            <a:avLst/>
          </a:prstGeom>
          <a:solidFill>
            <a:srgbClr val="FFFFFF">
              <a:alpha val="5000"/>
            </a:srgbClr>
          </a:solidFill>
          <a:ln w="27432">
            <a:solidFill>
              <a:srgbClr val="00CED1"/>
            </a:solidFill>
            <a:prstDash val="solid"/>
          </a:ln>
        </p:spPr>
      </p:sp>
      <p:sp>
        <p:nvSpPr>
          <p:cNvPr id="10" name="Text 7"/>
          <p:cNvSpPr/>
          <p:nvPr/>
        </p:nvSpPr>
        <p:spPr>
          <a:xfrm>
            <a:off x="535781" y="2005608"/>
            <a:ext cx="2286000"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플랫폼 Platform</a:t>
            </a:r>
            <a:endParaRPr lang="en-US" sz="1050" dirty="0"/>
          </a:p>
        </p:txBody>
      </p:sp>
      <p:sp>
        <p:nvSpPr>
          <p:cNvPr id="11" name="Text 8"/>
          <p:cNvSpPr/>
          <p:nvPr/>
        </p:nvSpPr>
        <p:spPr>
          <a:xfrm>
            <a:off x="535781" y="2269927"/>
            <a:ext cx="1084957" cy="233958"/>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PC, CONSOLE</a:t>
            </a:r>
            <a:endParaRPr lang="en-US" sz="1269" dirty="0"/>
          </a:p>
        </p:txBody>
      </p:sp>
      <p:sp>
        <p:nvSpPr>
          <p:cNvPr id="12" name="Shape 9"/>
          <p:cNvSpPr/>
          <p:nvPr/>
        </p:nvSpPr>
        <p:spPr>
          <a:xfrm>
            <a:off x="428625" y="2753916"/>
            <a:ext cx="2500313" cy="785813"/>
          </a:xfrm>
          <a:prstGeom prst="rect">
            <a:avLst/>
          </a:prstGeom>
          <a:solidFill>
            <a:srgbClr val="FFFFFF">
              <a:alpha val="5000"/>
            </a:srgbClr>
          </a:solidFill>
          <a:ln w="27432">
            <a:solidFill>
              <a:srgbClr val="00CED1"/>
            </a:solidFill>
            <a:prstDash val="solid"/>
          </a:ln>
        </p:spPr>
      </p:sp>
      <p:sp>
        <p:nvSpPr>
          <p:cNvPr id="13" name="Text 10"/>
          <p:cNvSpPr/>
          <p:nvPr/>
        </p:nvSpPr>
        <p:spPr>
          <a:xfrm>
            <a:off x="535781" y="2861072"/>
            <a:ext cx="2286000"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게임장르 Genre</a:t>
            </a:r>
            <a:endParaRPr lang="en-US" sz="1050" dirty="0"/>
          </a:p>
        </p:txBody>
      </p:sp>
      <p:sp>
        <p:nvSpPr>
          <p:cNvPr id="14" name="Text 11"/>
          <p:cNvSpPr/>
          <p:nvPr/>
        </p:nvSpPr>
        <p:spPr>
          <a:xfrm>
            <a:off x="535781" y="3141464"/>
            <a:ext cx="1666503" cy="233958"/>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FFFF"/>
                </a:solidFill>
              </a:rPr>
              <a:t>내러티브 중심 어드벤처</a:t>
            </a:r>
            <a:endParaRPr lang="en-US" sz="1269" dirty="0"/>
          </a:p>
        </p:txBody>
      </p:sp>
      <p:sp>
        <p:nvSpPr>
          <p:cNvPr id="15" name="Shape 12"/>
          <p:cNvSpPr/>
          <p:nvPr/>
        </p:nvSpPr>
        <p:spPr>
          <a:xfrm>
            <a:off x="3143250" y="987623"/>
            <a:ext cx="5572125" cy="1575197"/>
          </a:xfrm>
          <a:prstGeom prst="rect">
            <a:avLst/>
          </a:prstGeom>
          <a:solidFill>
            <a:srgbClr val="FFFFFF"/>
          </a:solidFill>
          <a:ln w="45720">
            <a:solidFill>
              <a:srgbClr val="000000"/>
            </a:solidFill>
            <a:prstDash val="solid"/>
          </a:ln>
        </p:spPr>
      </p:sp>
      <p:sp>
        <p:nvSpPr>
          <p:cNvPr id="16" name="Text 13"/>
          <p:cNvSpPr/>
          <p:nvPr/>
        </p:nvSpPr>
        <p:spPr>
          <a:xfrm>
            <a:off x="3321844" y="1166217"/>
            <a:ext cx="5214938" cy="339328"/>
          </a:xfrm>
          <a:prstGeom prst="rect">
            <a:avLst/>
          </a:prstGeom>
          <a:noFill/>
          <a:ln/>
        </p:spPr>
        <p:txBody>
          <a:bodyPr wrap="none" lIns="0" tIns="0" rIns="0" bIns="42545" rtlCol="0" anchor="t">
            <a:spAutoFit/>
          </a:bodyPr>
          <a:lstStyle/>
          <a:p>
            <a:pPr algn="l" indent="0" marL="0">
              <a:lnSpc>
                <a:spcPts val="1900"/>
              </a:lnSpc>
              <a:buNone/>
            </a:pPr>
            <a:r>
              <a:rPr lang="en-US" sz="1397" b="1" dirty="0">
                <a:solidFill>
                  <a:srgbClr val="1A0D2E"/>
                </a:solidFill>
              </a:rPr>
              <a:t>시놉시스 Synopsis</a:t>
            </a:r>
            <a:endParaRPr lang="en-US" sz="1397" dirty="0"/>
          </a:p>
        </p:txBody>
      </p:sp>
      <p:sp>
        <p:nvSpPr>
          <p:cNvPr id="17" name="Text 14"/>
          <p:cNvSpPr/>
          <p:nvPr/>
        </p:nvSpPr>
        <p:spPr>
          <a:xfrm>
            <a:off x="3321844" y="1612702"/>
            <a:ext cx="5214938" cy="6858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1A0D2E"/>
                </a:solidFill>
              </a:rPr>
              <a:t>선택지가 주어지는 것처럼 보이지만, 이야기가 진행될수록 모든 선택은 하나의 방향으로 수렴한다. 스스로를 특별히 착한 사람이라 여기지 않는 주인공은 '가장 착한 사람'이기를 요구받는 기대 속에서, 서서히 붕괴되어 가는 세계와 함께 하나의 역할로 소모되어 간다.</a:t>
            </a:r>
            <a:endParaRPr lang="en-US" sz="1050" dirty="0"/>
          </a:p>
        </p:txBody>
      </p:sp>
      <p:sp>
        <p:nvSpPr>
          <p:cNvPr id="18" name="Shape 15"/>
          <p:cNvSpPr/>
          <p:nvPr/>
        </p:nvSpPr>
        <p:spPr>
          <a:xfrm>
            <a:off x="3143250" y="2619970"/>
            <a:ext cx="2732484" cy="389334"/>
          </a:xfrm>
          <a:prstGeom prst="rect">
            <a:avLst/>
          </a:prstGeom>
          <a:solidFill>
            <a:srgbClr val="FFD700">
              <a:alpha val="10000"/>
            </a:srgbClr>
          </a:solidFill>
          <a:ln w="18288">
            <a:solidFill>
              <a:srgbClr val="FFD700"/>
            </a:solidFill>
            <a:prstDash val="solid"/>
          </a:ln>
        </p:spPr>
      </p:sp>
      <p:pic>
        <p:nvPicPr>
          <p:cNvPr id="19" name="Image 1" descr="preencoded.png">    </p:cNvPr>
          <p:cNvPicPr>
            <a:picLocks noChangeAspect="1"/>
          </p:cNvPicPr>
          <p:nvPr/>
        </p:nvPicPr>
        <p:blipFill>
          <a:blip r:embed="rId2"/>
          <a:stretch>
            <a:fillRect/>
          </a:stretch>
        </p:blipFill>
        <p:spPr>
          <a:xfrm>
            <a:off x="3228975" y="2750344"/>
            <a:ext cx="144661" cy="128588"/>
          </a:xfrm>
          <a:prstGeom prst="rect">
            <a:avLst/>
          </a:prstGeom>
        </p:spPr>
      </p:pic>
      <p:sp>
        <p:nvSpPr>
          <p:cNvPr id="20" name="Text 16"/>
          <p:cNvSpPr/>
          <p:nvPr/>
        </p:nvSpPr>
        <p:spPr>
          <a:xfrm>
            <a:off x="3445073" y="2719983"/>
            <a:ext cx="1401626"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감정적 압박과 몰입 플레이</a:t>
            </a:r>
            <a:endParaRPr lang="en-US" sz="942" dirty="0"/>
          </a:p>
        </p:txBody>
      </p:sp>
      <p:sp>
        <p:nvSpPr>
          <p:cNvPr id="21" name="Shape 17"/>
          <p:cNvSpPr/>
          <p:nvPr/>
        </p:nvSpPr>
        <p:spPr>
          <a:xfrm>
            <a:off x="5982891" y="2619970"/>
            <a:ext cx="2732484" cy="389334"/>
          </a:xfrm>
          <a:prstGeom prst="rect">
            <a:avLst/>
          </a:prstGeom>
          <a:solidFill>
            <a:srgbClr val="FFD700">
              <a:alpha val="10000"/>
            </a:srgbClr>
          </a:solidFill>
          <a:ln w="18288">
            <a:solidFill>
              <a:srgbClr val="FFD700"/>
            </a:solidFill>
            <a:prstDash val="solid"/>
          </a:ln>
        </p:spPr>
      </p:sp>
      <p:pic>
        <p:nvPicPr>
          <p:cNvPr id="22" name="Image 2" descr="preencoded.png">    </p:cNvPr>
          <p:cNvPicPr>
            <a:picLocks noChangeAspect="1"/>
          </p:cNvPicPr>
          <p:nvPr/>
        </p:nvPicPr>
        <p:blipFill>
          <a:blip r:embed="rId3"/>
          <a:stretch>
            <a:fillRect/>
          </a:stretch>
        </p:blipFill>
        <p:spPr>
          <a:xfrm>
            <a:off x="6068616" y="2736056"/>
            <a:ext cx="144661" cy="128588"/>
          </a:xfrm>
          <a:prstGeom prst="rect">
            <a:avLst/>
          </a:prstGeom>
        </p:spPr>
      </p:pic>
      <p:sp>
        <p:nvSpPr>
          <p:cNvPr id="23" name="Text 18"/>
          <p:cNvSpPr/>
          <p:nvPr/>
        </p:nvSpPr>
        <p:spPr>
          <a:xfrm>
            <a:off x="6284714" y="2705695"/>
            <a:ext cx="1283308"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선택에 따른 스토리 전개</a:t>
            </a:r>
            <a:endParaRPr lang="en-US" sz="942" dirty="0"/>
          </a:p>
        </p:txBody>
      </p:sp>
      <p:sp>
        <p:nvSpPr>
          <p:cNvPr id="24" name="Shape 19"/>
          <p:cNvSpPr/>
          <p:nvPr/>
        </p:nvSpPr>
        <p:spPr>
          <a:xfrm>
            <a:off x="3143250" y="3087886"/>
            <a:ext cx="2732484" cy="389334"/>
          </a:xfrm>
          <a:prstGeom prst="rect">
            <a:avLst/>
          </a:prstGeom>
          <a:solidFill>
            <a:srgbClr val="FFD700">
              <a:alpha val="10000"/>
            </a:srgbClr>
          </a:solidFill>
          <a:ln w="18288">
            <a:solidFill>
              <a:srgbClr val="FFD700"/>
            </a:solidFill>
            <a:prstDash val="solid"/>
          </a:ln>
        </p:spPr>
      </p:sp>
      <p:pic>
        <p:nvPicPr>
          <p:cNvPr id="25" name="Image 3" descr="preencoded.png">    </p:cNvPr>
          <p:cNvPicPr>
            <a:picLocks noChangeAspect="1"/>
          </p:cNvPicPr>
          <p:nvPr/>
        </p:nvPicPr>
        <p:blipFill>
          <a:blip r:embed="rId4"/>
          <a:stretch>
            <a:fillRect/>
          </a:stretch>
        </p:blipFill>
        <p:spPr>
          <a:xfrm>
            <a:off x="3228975" y="3218259"/>
            <a:ext cx="144661" cy="128588"/>
          </a:xfrm>
          <a:prstGeom prst="rect">
            <a:avLst/>
          </a:prstGeom>
        </p:spPr>
      </p:pic>
      <p:sp>
        <p:nvSpPr>
          <p:cNvPr id="26" name="Text 20"/>
          <p:cNvSpPr/>
          <p:nvPr/>
        </p:nvSpPr>
        <p:spPr>
          <a:xfrm>
            <a:off x="3445073" y="3187898"/>
            <a:ext cx="1283308"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분위기 반응 연출 시스템</a:t>
            </a:r>
            <a:endParaRPr lang="en-US" sz="942" dirty="0"/>
          </a:p>
        </p:txBody>
      </p:sp>
      <p:sp>
        <p:nvSpPr>
          <p:cNvPr id="27" name="Shape 21"/>
          <p:cNvSpPr/>
          <p:nvPr/>
        </p:nvSpPr>
        <p:spPr>
          <a:xfrm>
            <a:off x="5982891" y="3087886"/>
            <a:ext cx="2732484" cy="389334"/>
          </a:xfrm>
          <a:prstGeom prst="rect">
            <a:avLst/>
          </a:prstGeom>
          <a:solidFill>
            <a:srgbClr val="FFD700">
              <a:alpha val="10000"/>
            </a:srgbClr>
          </a:solidFill>
          <a:ln w="18288">
            <a:solidFill>
              <a:srgbClr val="FFD700"/>
            </a:solidFill>
            <a:prstDash val="solid"/>
          </a:ln>
        </p:spPr>
      </p:sp>
      <p:pic>
        <p:nvPicPr>
          <p:cNvPr id="28" name="Image 4" descr="preencoded.png">    </p:cNvPr>
          <p:cNvPicPr>
            <a:picLocks noChangeAspect="1"/>
          </p:cNvPicPr>
          <p:nvPr/>
        </p:nvPicPr>
        <p:blipFill>
          <a:blip r:embed="rId5"/>
          <a:stretch>
            <a:fillRect/>
          </a:stretch>
        </p:blipFill>
        <p:spPr>
          <a:xfrm>
            <a:off x="6068616" y="3203972"/>
            <a:ext cx="144661" cy="128588"/>
          </a:xfrm>
          <a:prstGeom prst="rect">
            <a:avLst/>
          </a:prstGeom>
        </p:spPr>
      </p:pic>
      <p:sp>
        <p:nvSpPr>
          <p:cNvPr id="29" name="Text 22"/>
          <p:cNvSpPr/>
          <p:nvPr/>
        </p:nvSpPr>
        <p:spPr>
          <a:xfrm>
            <a:off x="6284714" y="3173611"/>
            <a:ext cx="952853"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'선택 소모화' 구조</a:t>
            </a:r>
            <a:endParaRPr lang="en-US" sz="942" dirty="0"/>
          </a:p>
        </p:txBody>
      </p:sp>
      <p:sp>
        <p:nvSpPr>
          <p:cNvPr id="30" name="Shape 23"/>
          <p:cNvSpPr/>
          <p:nvPr/>
        </p:nvSpPr>
        <p:spPr>
          <a:xfrm>
            <a:off x="3143250" y="3555802"/>
            <a:ext cx="2732484" cy="389334"/>
          </a:xfrm>
          <a:prstGeom prst="rect">
            <a:avLst/>
          </a:prstGeom>
          <a:solidFill>
            <a:srgbClr val="FFD700">
              <a:alpha val="10000"/>
            </a:srgbClr>
          </a:solidFill>
          <a:ln w="18288">
            <a:solidFill>
              <a:srgbClr val="FFD700"/>
            </a:solidFill>
            <a:prstDash val="solid"/>
          </a:ln>
        </p:spPr>
      </p:sp>
      <p:pic>
        <p:nvPicPr>
          <p:cNvPr id="31" name="Image 5" descr="preencoded.png">    </p:cNvPr>
          <p:cNvPicPr>
            <a:picLocks noChangeAspect="1"/>
          </p:cNvPicPr>
          <p:nvPr/>
        </p:nvPicPr>
        <p:blipFill>
          <a:blip r:embed="rId6"/>
          <a:stretch>
            <a:fillRect/>
          </a:stretch>
        </p:blipFill>
        <p:spPr>
          <a:xfrm>
            <a:off x="3228975" y="3686175"/>
            <a:ext cx="144661" cy="128588"/>
          </a:xfrm>
          <a:prstGeom prst="rect">
            <a:avLst/>
          </a:prstGeom>
        </p:spPr>
      </p:pic>
      <p:sp>
        <p:nvSpPr>
          <p:cNvPr id="32" name="Text 24"/>
          <p:cNvSpPr/>
          <p:nvPr/>
        </p:nvSpPr>
        <p:spPr>
          <a:xfrm>
            <a:off x="3445073" y="3655814"/>
            <a:ext cx="1046727"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기대 압박 흐름 설계</a:t>
            </a:r>
            <a:endParaRPr lang="en-US" sz="942" dirty="0"/>
          </a:p>
        </p:txBody>
      </p:sp>
      <p:sp>
        <p:nvSpPr>
          <p:cNvPr id="33" name="Shape 25"/>
          <p:cNvSpPr/>
          <p:nvPr/>
        </p:nvSpPr>
        <p:spPr>
          <a:xfrm>
            <a:off x="5982891" y="3555802"/>
            <a:ext cx="2732484" cy="389334"/>
          </a:xfrm>
          <a:prstGeom prst="rect">
            <a:avLst/>
          </a:prstGeom>
          <a:solidFill>
            <a:srgbClr val="FFD700">
              <a:alpha val="10000"/>
            </a:srgbClr>
          </a:solidFill>
          <a:ln w="18288">
            <a:solidFill>
              <a:srgbClr val="FFD700"/>
            </a:solidFill>
            <a:prstDash val="solid"/>
          </a:ln>
        </p:spPr>
      </p:sp>
      <p:pic>
        <p:nvPicPr>
          <p:cNvPr id="34" name="Image 6" descr="preencoded.png">    </p:cNvPr>
          <p:cNvPicPr>
            <a:picLocks noChangeAspect="1"/>
          </p:cNvPicPr>
          <p:nvPr/>
        </p:nvPicPr>
        <p:blipFill>
          <a:blip r:embed="rId7"/>
          <a:stretch>
            <a:fillRect/>
          </a:stretch>
        </p:blipFill>
        <p:spPr>
          <a:xfrm>
            <a:off x="6068616" y="3671888"/>
            <a:ext cx="144661" cy="128588"/>
          </a:xfrm>
          <a:prstGeom prst="rect">
            <a:avLst/>
          </a:prstGeom>
        </p:spPr>
      </p:pic>
      <p:sp>
        <p:nvSpPr>
          <p:cNvPr id="35" name="Text 26"/>
          <p:cNvSpPr/>
          <p:nvPr/>
        </p:nvSpPr>
        <p:spPr>
          <a:xfrm>
            <a:off x="6284714" y="3641527"/>
            <a:ext cx="1283308"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선행 대가 증폭 메커니즘</a:t>
            </a:r>
            <a:endParaRPr lang="en-US" sz="94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개요: 게임의 정의</a:t>
            </a:r>
            <a:endParaRPr lang="en-US" sz="1808" dirty="0"/>
          </a:p>
        </p:txBody>
      </p:sp>
      <p:sp>
        <p:nvSpPr>
          <p:cNvPr id="5" name="Shape 2"/>
          <p:cNvSpPr/>
          <p:nvPr/>
        </p:nvSpPr>
        <p:spPr>
          <a:xfrm>
            <a:off x="428625" y="1059061"/>
            <a:ext cx="4036219" cy="1810941"/>
          </a:xfrm>
          <a:prstGeom prst="rect">
            <a:avLst/>
          </a:prstGeom>
          <a:solidFill>
            <a:srgbClr val="FFFFFF">
              <a:alpha val="3000"/>
            </a:srgbClr>
          </a:solidFill>
          <a:ln w="27432">
            <a:solidFill>
              <a:srgbClr val="00CED1"/>
            </a:solidFill>
            <a:prstDash val="solid"/>
          </a:ln>
        </p:spPr>
      </p:sp>
      <p:pic>
        <p:nvPicPr>
          <p:cNvPr id="6" name="Image 1" descr="preencoded.png">    </p:cNvPr>
          <p:cNvPicPr>
            <a:picLocks noChangeAspect="1"/>
          </p:cNvPicPr>
          <p:nvPr/>
        </p:nvPicPr>
        <p:blipFill>
          <a:blip r:embed="rId2"/>
          <a:stretch>
            <a:fillRect/>
          </a:stretch>
        </p:blipFill>
        <p:spPr>
          <a:xfrm>
            <a:off x="607219" y="1282303"/>
            <a:ext cx="250031" cy="200025"/>
          </a:xfrm>
          <a:prstGeom prst="rect">
            <a:avLst/>
          </a:prstGeom>
        </p:spPr>
      </p:pic>
      <p:sp>
        <p:nvSpPr>
          <p:cNvPr id="7" name="Text 3"/>
          <p:cNvSpPr/>
          <p:nvPr/>
        </p:nvSpPr>
        <p:spPr>
          <a:xfrm>
            <a:off x="964406" y="1237655"/>
            <a:ext cx="1456488" cy="289322"/>
          </a:xfrm>
          <a:prstGeom prst="rect">
            <a:avLst/>
          </a:prstGeom>
          <a:noFill/>
          <a:ln/>
        </p:spPr>
        <p:txBody>
          <a:bodyPr wrap="none" lIns="0" tIns="0" rIns="0" bIns="0" rtlCol="0" anchor="t">
            <a:spAutoFit/>
          </a:bodyPr>
          <a:lstStyle/>
          <a:p>
            <a:pPr algn="l" indent="0" marL="0">
              <a:lnSpc>
                <a:spcPts val="1900"/>
              </a:lnSpc>
              <a:buNone/>
            </a:pPr>
            <a:r>
              <a:rPr lang="en-US" sz="1397" b="1" spc="1" kern="0" dirty="0">
                <a:solidFill>
                  <a:srgbClr val="FFFFFF"/>
                </a:solidFill>
              </a:rPr>
              <a:t>플레이 작용 요소</a:t>
            </a:r>
            <a:endParaRPr lang="en-US" sz="1397" dirty="0"/>
          </a:p>
        </p:txBody>
      </p:sp>
      <p:sp>
        <p:nvSpPr>
          <p:cNvPr id="8" name="Text 4"/>
          <p:cNvSpPr/>
          <p:nvPr/>
        </p:nvSpPr>
        <p:spPr>
          <a:xfrm>
            <a:off x="607219" y="1719858"/>
            <a:ext cx="3679031" cy="9144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E0E0E0"/>
                </a:solidFill>
              </a:rPr>
              <a:t>플레이어는 </a:t>
            </a:r>
            <a:pPr algn="l" indent="0" marL="0">
              <a:lnSpc>
                <a:spcPts val="1800"/>
              </a:lnSpc>
              <a:buNone/>
            </a:pPr>
            <a:r>
              <a:rPr lang="en-US" sz="1050" dirty="0">
                <a:solidFill>
                  <a:srgbClr val="FFD700"/>
                </a:solidFill>
              </a:rPr>
              <a:t>대화와 행동 선택</a:t>
            </a:r>
            <a:pPr algn="l" indent="0" marL="0">
              <a:lnSpc>
                <a:spcPts val="1800"/>
              </a:lnSpc>
              <a:buNone/>
            </a:pPr>
            <a:r>
              <a:rPr lang="en-US" sz="1050" dirty="0">
                <a:solidFill>
                  <a:srgbClr val="E0E0E0"/>
                </a:solidFill>
              </a:rPr>
              <a:t>을 통해 상황에 개입합니다. 선택</a:t>
            </a:r>
            <a:pPr algn="l" indent="0" marL="0">
              <a:lnSpc>
                <a:spcPts val="1800"/>
              </a:lnSpc>
              <a:buNone/>
            </a:pPr>
            <a:r>
              <a:rPr lang="en-US" sz="1050" dirty="0">
                <a:solidFill>
                  <a:srgbClr val="E0E0E0"/>
                </a:solidFill>
              </a:rPr>
              <a:t>은 즉각적인 결과뿐 아니라 이후 전개와 선택지 구성에 </a:t>
            </a:r>
            <a:pPr algn="l" indent="0" marL="0">
              <a:lnSpc>
                <a:spcPts val="1800"/>
              </a:lnSpc>
              <a:buNone/>
            </a:pPr>
            <a:r>
              <a:rPr lang="en-US" sz="1050" dirty="0">
                <a:solidFill>
                  <a:srgbClr val="FFD700"/>
                </a:solidFill>
              </a:rPr>
              <a:t>누적된 영향</a:t>
            </a:r>
            <a:pPr algn="l" indent="0" marL="0">
              <a:lnSpc>
                <a:spcPts val="1800"/>
              </a:lnSpc>
              <a:buNone/>
            </a:pPr>
            <a:r>
              <a:rPr lang="en-US" sz="1050" dirty="0">
                <a:solidFill>
                  <a:srgbClr val="E0E0E0"/>
                </a:solidFill>
              </a:rPr>
              <a:t>을 미치며, 주인공이 주변의 기대에 어떻게 반응해 왔는지</a:t>
            </a:r>
            <a:pPr algn="l" indent="0" marL="0">
              <a:lnSpc>
                <a:spcPts val="1800"/>
              </a:lnSpc>
              <a:buNone/>
            </a:pPr>
            <a:r>
              <a:rPr lang="en-US" sz="1050" dirty="0">
                <a:solidFill>
                  <a:srgbClr val="E0E0E0"/>
                </a:solidFill>
              </a:rPr>
              <a:t>를 드러냅니다.</a:t>
            </a:r>
            <a:endParaRPr lang="en-US" sz="1050" dirty="0"/>
          </a:p>
        </p:txBody>
      </p:sp>
      <p:sp>
        <p:nvSpPr>
          <p:cNvPr id="9" name="Shape 5"/>
          <p:cNvSpPr/>
          <p:nvPr/>
        </p:nvSpPr>
        <p:spPr>
          <a:xfrm>
            <a:off x="4679156" y="1059061"/>
            <a:ext cx="4036219" cy="1810941"/>
          </a:xfrm>
          <a:prstGeom prst="rect">
            <a:avLst/>
          </a:prstGeom>
          <a:solidFill>
            <a:srgbClr val="FFFFFF">
              <a:alpha val="3000"/>
            </a:srgbClr>
          </a:solidFill>
          <a:ln w="27432">
            <a:solidFill>
              <a:srgbClr val="FFD700"/>
            </a:solidFill>
            <a:prstDash val="solid"/>
          </a:ln>
        </p:spPr>
      </p:sp>
      <p:pic>
        <p:nvPicPr>
          <p:cNvPr id="10" name="Image 2" descr="preencoded.png">    </p:cNvPr>
          <p:cNvPicPr>
            <a:picLocks noChangeAspect="1"/>
          </p:cNvPicPr>
          <p:nvPr/>
        </p:nvPicPr>
        <p:blipFill>
          <a:blip r:embed="rId3"/>
          <a:stretch>
            <a:fillRect/>
          </a:stretch>
        </p:blipFill>
        <p:spPr>
          <a:xfrm>
            <a:off x="4857750" y="1282303"/>
            <a:ext cx="200025" cy="200025"/>
          </a:xfrm>
          <a:prstGeom prst="rect">
            <a:avLst/>
          </a:prstGeom>
        </p:spPr>
      </p:pic>
      <p:sp>
        <p:nvSpPr>
          <p:cNvPr id="11" name="Text 6"/>
          <p:cNvSpPr/>
          <p:nvPr/>
        </p:nvSpPr>
        <p:spPr>
          <a:xfrm>
            <a:off x="5164931" y="1237655"/>
            <a:ext cx="823819" cy="289322"/>
          </a:xfrm>
          <a:prstGeom prst="rect">
            <a:avLst/>
          </a:prstGeom>
          <a:noFill/>
          <a:ln/>
        </p:spPr>
        <p:txBody>
          <a:bodyPr wrap="none" lIns="0" tIns="0" rIns="0" bIns="0" rtlCol="0" anchor="t">
            <a:spAutoFit/>
          </a:bodyPr>
          <a:lstStyle/>
          <a:p>
            <a:pPr algn="l" indent="0" marL="0">
              <a:lnSpc>
                <a:spcPts val="1900"/>
              </a:lnSpc>
              <a:buNone/>
            </a:pPr>
            <a:r>
              <a:rPr lang="en-US" sz="1397" b="1" spc="1" kern="0" dirty="0">
                <a:solidFill>
                  <a:srgbClr val="FFFFFF"/>
                </a:solidFill>
              </a:rPr>
              <a:t>방해 요인</a:t>
            </a:r>
            <a:endParaRPr lang="en-US" sz="1397" dirty="0"/>
          </a:p>
        </p:txBody>
      </p:sp>
      <p:sp>
        <p:nvSpPr>
          <p:cNvPr id="12" name="Text 7"/>
          <p:cNvSpPr/>
          <p:nvPr/>
        </p:nvSpPr>
        <p:spPr>
          <a:xfrm>
            <a:off x="4857750" y="1719858"/>
            <a:ext cx="3679031" cy="9144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E0E0E0"/>
                </a:solidFill>
              </a:rPr>
              <a:t>세계가 붕괴되어 가는 과정 속에서 </a:t>
            </a:r>
            <a:pPr algn="l" indent="0" marL="0">
              <a:lnSpc>
                <a:spcPts val="1800"/>
              </a:lnSpc>
              <a:buNone/>
            </a:pPr>
            <a:r>
              <a:rPr lang="en-US" sz="1050" dirty="0">
                <a:solidFill>
                  <a:srgbClr val="FFD700"/>
                </a:solidFill>
              </a:rPr>
              <a:t>몬스터와 퍼즐</a:t>
            </a:r>
            <a:pPr algn="l" indent="0" marL="0">
              <a:lnSpc>
                <a:spcPts val="1800"/>
              </a:lnSpc>
              <a:buNone/>
            </a:pPr>
            <a:r>
              <a:rPr lang="en-US" sz="1050" dirty="0">
                <a:solidFill>
                  <a:srgbClr val="E0E0E0"/>
                </a:solidFill>
              </a:rPr>
              <a:t>이 등장합니</a:t>
            </a:r>
            <a:pPr algn="l" indent="0" marL="0">
              <a:lnSpc>
                <a:spcPts val="1800"/>
              </a:lnSpc>
              <a:buNone/>
            </a:pPr>
            <a:r>
              <a:rPr lang="en-US" sz="1050" dirty="0">
                <a:solidFill>
                  <a:srgbClr val="E0E0E0"/>
                </a:solidFill>
              </a:rPr>
              <a:t>다. 동시에 주변 인물들의 말과 반복되는 요구는 </a:t>
            </a:r>
            <a:pPr algn="l" indent="0" marL="0">
              <a:lnSpc>
                <a:spcPts val="1800"/>
              </a:lnSpc>
              <a:buNone/>
            </a:pPr>
            <a:r>
              <a:rPr lang="en-US" sz="1050" dirty="0">
                <a:solidFill>
                  <a:srgbClr val="FFD700"/>
                </a:solidFill>
              </a:rPr>
              <a:t>심리적인 압박</a:t>
            </a:r>
            <a:pPr algn="l" indent="0" marL="0">
              <a:lnSpc>
                <a:spcPts val="1800"/>
              </a:lnSpc>
              <a:buNone/>
            </a:pPr>
            <a:r>
              <a:rPr lang="en-US" sz="1050" dirty="0">
                <a:solidFill>
                  <a:srgbClr val="E0E0E0"/>
                </a:solidFill>
              </a:rPr>
              <a:t>으로 작용하여, 플레이어가 특정한 선택을 하도록 몰아가는 상</a:t>
            </a:r>
            <a:pPr algn="l" indent="0" marL="0">
              <a:lnSpc>
                <a:spcPts val="1800"/>
              </a:lnSpc>
              <a:buNone/>
            </a:pPr>
            <a:r>
              <a:rPr lang="en-US" sz="1050" dirty="0">
                <a:solidFill>
                  <a:srgbClr val="E0E0E0"/>
                </a:solidFill>
              </a:rPr>
              <a:t>황을 만듭니다.</a:t>
            </a:r>
            <a:endParaRPr lang="en-US" sz="1050" dirty="0"/>
          </a:p>
        </p:txBody>
      </p:sp>
      <p:sp>
        <p:nvSpPr>
          <p:cNvPr id="13" name="Shape 8"/>
          <p:cNvSpPr/>
          <p:nvPr/>
        </p:nvSpPr>
        <p:spPr>
          <a:xfrm>
            <a:off x="428625" y="3027164"/>
            <a:ext cx="4036219" cy="1810941"/>
          </a:xfrm>
          <a:prstGeom prst="rect">
            <a:avLst/>
          </a:prstGeom>
          <a:solidFill>
            <a:srgbClr val="FFFFFF">
              <a:alpha val="3000"/>
            </a:srgbClr>
          </a:solidFill>
          <a:ln w="27432">
            <a:solidFill>
              <a:srgbClr val="FFD700"/>
            </a:solidFill>
            <a:prstDash val="solid"/>
          </a:ln>
        </p:spPr>
      </p:sp>
      <p:pic>
        <p:nvPicPr>
          <p:cNvPr id="14" name="Image 3" descr="preencoded.png">    </p:cNvPr>
          <p:cNvPicPr>
            <a:picLocks noChangeAspect="1"/>
          </p:cNvPicPr>
          <p:nvPr/>
        </p:nvPicPr>
        <p:blipFill>
          <a:blip r:embed="rId4"/>
          <a:stretch>
            <a:fillRect/>
          </a:stretch>
        </p:blipFill>
        <p:spPr>
          <a:xfrm>
            <a:off x="607219" y="3250406"/>
            <a:ext cx="175022" cy="200025"/>
          </a:xfrm>
          <a:prstGeom prst="rect">
            <a:avLst/>
          </a:prstGeom>
        </p:spPr>
      </p:pic>
      <p:sp>
        <p:nvSpPr>
          <p:cNvPr id="15" name="Text 9"/>
          <p:cNvSpPr/>
          <p:nvPr/>
        </p:nvSpPr>
        <p:spPr>
          <a:xfrm>
            <a:off x="889397" y="3205758"/>
            <a:ext cx="1014999" cy="289322"/>
          </a:xfrm>
          <a:prstGeom prst="rect">
            <a:avLst/>
          </a:prstGeom>
          <a:noFill/>
          <a:ln/>
        </p:spPr>
        <p:txBody>
          <a:bodyPr wrap="none" lIns="0" tIns="0" rIns="0" bIns="0" rtlCol="0" anchor="t">
            <a:spAutoFit/>
          </a:bodyPr>
          <a:lstStyle/>
          <a:p>
            <a:pPr algn="l" indent="0" marL="0">
              <a:lnSpc>
                <a:spcPts val="1900"/>
              </a:lnSpc>
              <a:buNone/>
            </a:pPr>
            <a:r>
              <a:rPr lang="en-US" sz="1397" b="1" spc="1" kern="0" dirty="0">
                <a:solidFill>
                  <a:srgbClr val="FFFFFF"/>
                </a:solidFill>
              </a:rPr>
              <a:t>이야기 목적</a:t>
            </a:r>
            <a:endParaRPr lang="en-US" sz="1397" dirty="0"/>
          </a:p>
        </p:txBody>
      </p:sp>
      <p:sp>
        <p:nvSpPr>
          <p:cNvPr id="16" name="Text 10"/>
          <p:cNvSpPr/>
          <p:nvPr/>
        </p:nvSpPr>
        <p:spPr>
          <a:xfrm>
            <a:off x="607219" y="3687961"/>
            <a:ext cx="3679031" cy="9144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FFD700"/>
                </a:solidFill>
              </a:rPr>
              <a:t>'착함'이라는 기대</a:t>
            </a:r>
            <a:pPr algn="l" indent="0" marL="0">
              <a:lnSpc>
                <a:spcPts val="1800"/>
              </a:lnSpc>
              <a:buNone/>
            </a:pPr>
            <a:r>
              <a:rPr lang="en-US" sz="1050" dirty="0">
                <a:solidFill>
                  <a:srgbClr val="E0E0E0"/>
                </a:solidFill>
              </a:rPr>
              <a:t> 속에서, 세계의 붕괴와 함께 소모되어 가는 </a:t>
            </a:r>
            <a:pPr algn="l" indent="0" marL="0">
              <a:lnSpc>
                <a:spcPts val="1800"/>
              </a:lnSpc>
              <a:buNone/>
            </a:pPr>
            <a:r>
              <a:rPr lang="en-US" sz="1050" dirty="0">
                <a:solidFill>
                  <a:srgbClr val="E0E0E0"/>
                </a:solidFill>
              </a:rPr>
              <a:t>한 인물의 선택을 그립니다. 플레이어는 선택과 장애를 넘어서</a:t>
            </a:r>
            <a:pPr algn="l" indent="0" marL="0">
              <a:lnSpc>
                <a:spcPts val="1800"/>
              </a:lnSpc>
              <a:buNone/>
            </a:pPr>
            <a:r>
              <a:rPr lang="en-US" sz="1050" dirty="0">
                <a:solidFill>
                  <a:srgbClr val="E0E0E0"/>
                </a:solidFill>
              </a:rPr>
              <a:t>며 이야기를 완주하고, 선택이 누적되며 만들어지는 </a:t>
            </a:r>
            <a:pPr algn="l" indent="0" marL="0">
              <a:lnSpc>
                <a:spcPts val="1800"/>
              </a:lnSpc>
              <a:buNone/>
            </a:pPr>
            <a:r>
              <a:rPr lang="en-US" sz="1050" dirty="0">
                <a:solidFill>
                  <a:srgbClr val="FFD700"/>
                </a:solidFill>
              </a:rPr>
              <a:t>감정과 서사</a:t>
            </a:r>
            <a:pPr algn="l" indent="0" marL="0">
              <a:lnSpc>
                <a:spcPts val="1800"/>
              </a:lnSpc>
              <a:buNone/>
            </a:pPr>
            <a:r>
              <a:rPr lang="en-US" sz="1050" dirty="0">
                <a:solidFill>
                  <a:srgbClr val="E0E0E0"/>
                </a:solidFill>
              </a:rPr>
              <a:t>를 체험합니다.</a:t>
            </a:r>
            <a:endParaRPr lang="en-US" sz="1050" dirty="0"/>
          </a:p>
        </p:txBody>
      </p:sp>
      <p:sp>
        <p:nvSpPr>
          <p:cNvPr id="17" name="Shape 11"/>
          <p:cNvSpPr/>
          <p:nvPr/>
        </p:nvSpPr>
        <p:spPr>
          <a:xfrm>
            <a:off x="4679156" y="3027164"/>
            <a:ext cx="4036219" cy="1810941"/>
          </a:xfrm>
          <a:prstGeom prst="rect">
            <a:avLst/>
          </a:prstGeom>
          <a:solidFill>
            <a:srgbClr val="FFFFFF">
              <a:alpha val="3000"/>
            </a:srgbClr>
          </a:solidFill>
          <a:ln w="27432">
            <a:solidFill>
              <a:srgbClr val="00CED1"/>
            </a:solidFill>
            <a:prstDash val="solid"/>
          </a:ln>
        </p:spPr>
      </p:sp>
      <p:pic>
        <p:nvPicPr>
          <p:cNvPr id="18" name="Image 4" descr="preencoded.png">    </p:cNvPr>
          <p:cNvPicPr>
            <a:picLocks noChangeAspect="1"/>
          </p:cNvPicPr>
          <p:nvPr/>
        </p:nvPicPr>
        <p:blipFill>
          <a:blip r:embed="rId5"/>
          <a:stretch>
            <a:fillRect/>
          </a:stretch>
        </p:blipFill>
        <p:spPr>
          <a:xfrm>
            <a:off x="4857750" y="3250406"/>
            <a:ext cx="225028" cy="200025"/>
          </a:xfrm>
          <a:prstGeom prst="rect">
            <a:avLst/>
          </a:prstGeom>
        </p:spPr>
      </p:pic>
      <p:sp>
        <p:nvSpPr>
          <p:cNvPr id="19" name="Text 12"/>
          <p:cNvSpPr/>
          <p:nvPr/>
        </p:nvSpPr>
        <p:spPr>
          <a:xfrm>
            <a:off x="5189934" y="3205758"/>
            <a:ext cx="1014999" cy="289322"/>
          </a:xfrm>
          <a:prstGeom prst="rect">
            <a:avLst/>
          </a:prstGeom>
          <a:noFill/>
          <a:ln/>
        </p:spPr>
        <p:txBody>
          <a:bodyPr wrap="none" lIns="0" tIns="0" rIns="0" bIns="0" rtlCol="0" anchor="t">
            <a:spAutoFit/>
          </a:bodyPr>
          <a:lstStyle/>
          <a:p>
            <a:pPr algn="l" indent="0" marL="0">
              <a:lnSpc>
                <a:spcPts val="1900"/>
              </a:lnSpc>
              <a:buNone/>
            </a:pPr>
            <a:r>
              <a:rPr lang="en-US" sz="1397" b="1" spc="1" kern="0" dirty="0">
                <a:solidFill>
                  <a:srgbClr val="FFFFFF"/>
                </a:solidFill>
              </a:rPr>
              <a:t>플레이 목적</a:t>
            </a:r>
            <a:endParaRPr lang="en-US" sz="1397" dirty="0"/>
          </a:p>
        </p:txBody>
      </p:sp>
      <p:sp>
        <p:nvSpPr>
          <p:cNvPr id="20" name="Text 13"/>
          <p:cNvSpPr/>
          <p:nvPr/>
        </p:nvSpPr>
        <p:spPr>
          <a:xfrm>
            <a:off x="4857750" y="3687961"/>
            <a:ext cx="3679031" cy="9144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E0E0E0"/>
                </a:solidFill>
              </a:rPr>
              <a:t>단순한 엔딩 도달이 아닌, </a:t>
            </a:r>
            <a:pPr algn="l" indent="0" marL="0">
              <a:lnSpc>
                <a:spcPts val="1800"/>
              </a:lnSpc>
              <a:buNone/>
            </a:pPr>
            <a:r>
              <a:rPr lang="en-US" sz="1050" dirty="0">
                <a:solidFill>
                  <a:srgbClr val="FFD700"/>
                </a:solidFill>
              </a:rPr>
              <a:t>선택의 무게</a:t>
            </a:r>
            <a:pPr algn="l" indent="0" marL="0">
              <a:lnSpc>
                <a:spcPts val="1800"/>
              </a:lnSpc>
              <a:buNone/>
            </a:pPr>
            <a:r>
              <a:rPr lang="en-US" sz="1050" dirty="0">
                <a:solidFill>
                  <a:srgbClr val="E0E0E0"/>
                </a:solidFill>
              </a:rPr>
              <a:t>를 직접 경험하는 것이 </a:t>
            </a:r>
            <a:pPr algn="l" indent="0" marL="0">
              <a:lnSpc>
                <a:spcPts val="1800"/>
              </a:lnSpc>
              <a:buNone/>
            </a:pPr>
            <a:r>
              <a:rPr lang="en-US" sz="1050" dirty="0">
                <a:solidFill>
                  <a:srgbClr val="E0E0E0"/>
                </a:solidFill>
              </a:rPr>
              <a:t>목표입니다. 기대에 부응할 것인가, 아니면 자신을 지킬 것인</a:t>
            </a:r>
            <a:pPr algn="l" indent="0" marL="0">
              <a:lnSpc>
                <a:spcPts val="1800"/>
              </a:lnSpc>
              <a:buNone/>
            </a:pPr>
            <a:r>
              <a:rPr lang="en-US" sz="1050" dirty="0">
                <a:solidFill>
                  <a:srgbClr val="E0E0E0"/>
                </a:solidFill>
              </a:rPr>
              <a:t>가에 대한 끊임없는 질문을 통해 </a:t>
            </a:r>
            <a:pPr algn="l" indent="0" marL="0">
              <a:lnSpc>
                <a:spcPts val="1800"/>
              </a:lnSpc>
              <a:buNone/>
            </a:pPr>
            <a:r>
              <a:rPr lang="en-US" sz="1050" dirty="0">
                <a:solidFill>
                  <a:srgbClr val="FFD700"/>
                </a:solidFill>
              </a:rPr>
              <a:t>독창적인 플레이 경험</a:t>
            </a:r>
            <a:pPr algn="l" indent="0" marL="0">
              <a:lnSpc>
                <a:spcPts val="1800"/>
              </a:lnSpc>
              <a:buNone/>
            </a:pPr>
            <a:r>
              <a:rPr lang="en-US" sz="1050" dirty="0">
                <a:solidFill>
                  <a:srgbClr val="E0E0E0"/>
                </a:solidFill>
              </a:rPr>
              <a:t>을 제공</a:t>
            </a:r>
            <a:pPr algn="l" indent="0" marL="0">
              <a:lnSpc>
                <a:spcPts val="1800"/>
              </a:lnSpc>
              <a:buNone/>
            </a:pPr>
            <a:r>
              <a:rPr lang="en-US" sz="1050" dirty="0">
                <a:solidFill>
                  <a:srgbClr val="E0E0E0"/>
                </a:solidFill>
              </a:rPr>
              <a:t>합니다.</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652480" cy="544711"/>
          </a:xfrm>
          <a:prstGeom prst="rect">
            <a:avLst/>
          </a:prstGeom>
          <a:solidFill>
            <a:srgbClr val="FFFFFF"/>
          </a:solidFill>
          <a:ln w="27432">
            <a:solidFill>
              <a:srgbClr val="000000"/>
            </a:solidFill>
            <a:prstDash val="solid"/>
          </a:ln>
        </p:spPr>
      </p:sp>
      <p:sp>
        <p:nvSpPr>
          <p:cNvPr id="4" name="Text 1"/>
          <p:cNvSpPr/>
          <p:nvPr/>
        </p:nvSpPr>
        <p:spPr>
          <a:xfrm>
            <a:off x="642938" y="342900"/>
            <a:ext cx="216670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개요: 컨텐츠 볼륨 맵</a:t>
            </a:r>
            <a:endParaRPr lang="en-US" sz="1808" dirty="0"/>
          </a:p>
        </p:txBody>
      </p:sp>
      <p:sp>
        <p:nvSpPr>
          <p:cNvPr id="5" name="Shape 2"/>
          <p:cNvSpPr/>
          <p:nvPr/>
        </p:nvSpPr>
        <p:spPr>
          <a:xfrm>
            <a:off x="4114800" y="2566392"/>
            <a:ext cx="914400" cy="914400"/>
          </a:xfrm>
          <a:prstGeom prst="rect">
            <a:avLst/>
          </a:prstGeom>
          <a:solidFill>
            <a:srgbClr val="FFFFFF"/>
          </a:solidFill>
          <a:ln w="27432">
            <a:solidFill>
              <a:srgbClr val="000000"/>
            </a:solidFill>
            <a:prstDash val="solid"/>
          </a:ln>
        </p:spPr>
      </p:sp>
      <p:pic>
        <p:nvPicPr>
          <p:cNvPr id="6" name="Image 1" descr="preencoded.png">    </p:cNvPr>
          <p:cNvPicPr>
            <a:picLocks noChangeAspect="1"/>
          </p:cNvPicPr>
          <p:nvPr/>
        </p:nvPicPr>
        <p:blipFill>
          <a:blip r:embed="rId2"/>
          <a:stretch>
            <a:fillRect/>
          </a:stretch>
        </p:blipFill>
        <p:spPr>
          <a:xfrm>
            <a:off x="4446984" y="2741414"/>
            <a:ext cx="250031" cy="285750"/>
          </a:xfrm>
          <a:prstGeom prst="rect">
            <a:avLst/>
          </a:prstGeom>
        </p:spPr>
      </p:pic>
      <p:sp>
        <p:nvSpPr>
          <p:cNvPr id="7" name="Text 3"/>
          <p:cNvSpPr/>
          <p:nvPr/>
        </p:nvSpPr>
        <p:spPr>
          <a:xfrm>
            <a:off x="4335391" y="3055739"/>
            <a:ext cx="473218" cy="250031"/>
          </a:xfrm>
          <a:prstGeom prst="rect">
            <a:avLst/>
          </a:prstGeom>
          <a:noFill/>
          <a:ln/>
        </p:spPr>
        <p:txBody>
          <a:bodyPr wrap="none" lIns="0" tIns="0" rIns="0" bIns="0" rtlCol="0" anchor="t">
            <a:spAutoFit/>
          </a:bodyPr>
          <a:lstStyle/>
          <a:p>
            <a:pPr algn="ctr" indent="0" marL="0">
              <a:lnSpc>
                <a:spcPts val="1600"/>
              </a:lnSpc>
              <a:buNone/>
            </a:pPr>
            <a:r>
              <a:rPr lang="en-US" sz="1193" b="1" dirty="0">
                <a:solidFill>
                  <a:srgbClr val="1A0D2E"/>
                </a:solidFill>
              </a:rPr>
              <a:t>주인공</a:t>
            </a:r>
            <a:endParaRPr lang="en-US" sz="1193" dirty="0"/>
          </a:p>
        </p:txBody>
      </p:sp>
      <p:sp>
        <p:nvSpPr>
          <p:cNvPr id="8" name="Shape 4"/>
          <p:cNvSpPr/>
          <p:nvPr/>
        </p:nvSpPr>
        <p:spPr>
          <a:xfrm>
            <a:off x="3500438" y="2630686"/>
            <a:ext cx="628650" cy="628650"/>
          </a:xfrm>
          <a:prstGeom prst="rect">
            <a:avLst/>
          </a:prstGeom>
          <a:solidFill>
            <a:srgbClr val="00CED1"/>
          </a:solidFill>
          <a:ln w="27432">
            <a:solidFill>
              <a:srgbClr val="008B8B"/>
            </a:solidFill>
            <a:prstDash val="solid"/>
          </a:ln>
        </p:spPr>
      </p:sp>
      <p:pic>
        <p:nvPicPr>
          <p:cNvPr id="9" name="Image 2" descr="preencoded.png">    </p:cNvPr>
          <p:cNvPicPr>
            <a:picLocks noChangeAspect="1"/>
          </p:cNvPicPr>
          <p:nvPr/>
        </p:nvPicPr>
        <p:blipFill>
          <a:blip r:embed="rId3"/>
          <a:stretch>
            <a:fillRect/>
          </a:stretch>
        </p:blipFill>
        <p:spPr>
          <a:xfrm>
            <a:off x="3723680" y="2748558"/>
            <a:ext cx="125016" cy="142875"/>
          </a:xfrm>
          <a:prstGeom prst="rect">
            <a:avLst/>
          </a:prstGeom>
        </p:spPr>
      </p:pic>
      <p:sp>
        <p:nvSpPr>
          <p:cNvPr id="10" name="Text 5"/>
          <p:cNvSpPr/>
          <p:nvPr/>
        </p:nvSpPr>
        <p:spPr>
          <a:xfrm>
            <a:off x="3681013" y="2920008"/>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선택</a:t>
            </a:r>
            <a:endParaRPr lang="en-US" sz="834" dirty="0"/>
          </a:p>
        </p:txBody>
      </p:sp>
      <p:sp>
        <p:nvSpPr>
          <p:cNvPr id="11" name="Shape 6"/>
          <p:cNvSpPr/>
          <p:nvPr/>
        </p:nvSpPr>
        <p:spPr>
          <a:xfrm>
            <a:off x="3500438" y="3416498"/>
            <a:ext cx="628650" cy="628650"/>
          </a:xfrm>
          <a:prstGeom prst="rect">
            <a:avLst/>
          </a:prstGeom>
          <a:solidFill>
            <a:srgbClr val="00CED1"/>
          </a:solidFill>
          <a:ln w="27432">
            <a:solidFill>
              <a:srgbClr val="008B8B"/>
            </a:solidFill>
            <a:prstDash val="solid"/>
          </a:ln>
        </p:spPr>
      </p:sp>
      <p:pic>
        <p:nvPicPr>
          <p:cNvPr id="12" name="Image 3" descr="preencoded.png">    </p:cNvPr>
          <p:cNvPicPr>
            <a:picLocks noChangeAspect="1"/>
          </p:cNvPicPr>
          <p:nvPr/>
        </p:nvPicPr>
        <p:blipFill>
          <a:blip r:embed="rId4"/>
          <a:stretch>
            <a:fillRect/>
          </a:stretch>
        </p:blipFill>
        <p:spPr>
          <a:xfrm>
            <a:off x="3714750" y="3534370"/>
            <a:ext cx="142875" cy="142875"/>
          </a:xfrm>
          <a:prstGeom prst="rect">
            <a:avLst/>
          </a:prstGeom>
        </p:spPr>
      </p:pic>
      <p:sp>
        <p:nvSpPr>
          <p:cNvPr id="13" name="Text 7"/>
          <p:cNvSpPr/>
          <p:nvPr/>
        </p:nvSpPr>
        <p:spPr>
          <a:xfrm>
            <a:off x="3681013" y="3705820"/>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대화</a:t>
            </a:r>
            <a:endParaRPr lang="en-US" sz="834" dirty="0"/>
          </a:p>
        </p:txBody>
      </p:sp>
      <p:sp>
        <p:nvSpPr>
          <p:cNvPr id="14" name="Shape 8"/>
          <p:cNvSpPr/>
          <p:nvPr/>
        </p:nvSpPr>
        <p:spPr>
          <a:xfrm>
            <a:off x="3143250" y="3023592"/>
            <a:ext cx="628650" cy="628650"/>
          </a:xfrm>
          <a:prstGeom prst="rect">
            <a:avLst/>
          </a:prstGeom>
          <a:solidFill>
            <a:srgbClr val="00CED1"/>
          </a:solidFill>
          <a:ln w="27432">
            <a:solidFill>
              <a:srgbClr val="008B8B"/>
            </a:solidFill>
            <a:prstDash val="solid"/>
          </a:ln>
        </p:spPr>
      </p:sp>
      <p:pic>
        <p:nvPicPr>
          <p:cNvPr id="15" name="Image 4" descr="preencoded.png">    </p:cNvPr>
          <p:cNvPicPr>
            <a:picLocks noChangeAspect="1"/>
          </p:cNvPicPr>
          <p:nvPr/>
        </p:nvPicPr>
        <p:blipFill>
          <a:blip r:embed="rId5"/>
          <a:stretch>
            <a:fillRect/>
          </a:stretch>
        </p:blipFill>
        <p:spPr>
          <a:xfrm>
            <a:off x="3339703" y="3145929"/>
            <a:ext cx="178594" cy="142875"/>
          </a:xfrm>
          <a:prstGeom prst="rect">
            <a:avLst/>
          </a:prstGeom>
        </p:spPr>
      </p:pic>
      <p:sp>
        <p:nvSpPr>
          <p:cNvPr id="16" name="Text 9"/>
          <p:cNvSpPr/>
          <p:nvPr/>
        </p:nvSpPr>
        <p:spPr>
          <a:xfrm>
            <a:off x="3314867" y="3317379"/>
            <a:ext cx="228265" cy="155377"/>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NPC</a:t>
            </a:r>
            <a:endParaRPr lang="en-US" sz="834" dirty="0"/>
          </a:p>
        </p:txBody>
      </p:sp>
      <p:sp>
        <p:nvSpPr>
          <p:cNvPr id="17" name="Shape 10"/>
          <p:cNvSpPr/>
          <p:nvPr/>
        </p:nvSpPr>
        <p:spPr>
          <a:xfrm>
            <a:off x="6000750" y="3023592"/>
            <a:ext cx="628650" cy="628650"/>
          </a:xfrm>
          <a:prstGeom prst="rect">
            <a:avLst/>
          </a:prstGeom>
          <a:solidFill>
            <a:srgbClr val="00CED1"/>
          </a:solidFill>
          <a:ln w="27432">
            <a:solidFill>
              <a:srgbClr val="008B8B"/>
            </a:solidFill>
            <a:prstDash val="solid"/>
          </a:ln>
        </p:spPr>
      </p:sp>
      <p:pic>
        <p:nvPicPr>
          <p:cNvPr id="18" name="Image 5" descr="preencoded.png">    </p:cNvPr>
          <p:cNvPicPr>
            <a:picLocks noChangeAspect="1"/>
          </p:cNvPicPr>
          <p:nvPr/>
        </p:nvPicPr>
        <p:blipFill>
          <a:blip r:embed="rId6"/>
          <a:stretch>
            <a:fillRect/>
          </a:stretch>
        </p:blipFill>
        <p:spPr>
          <a:xfrm>
            <a:off x="6223992" y="3141464"/>
            <a:ext cx="125016" cy="142875"/>
          </a:xfrm>
          <a:prstGeom prst="rect">
            <a:avLst/>
          </a:prstGeom>
        </p:spPr>
      </p:pic>
      <p:sp>
        <p:nvSpPr>
          <p:cNvPr id="19" name="Text 11"/>
          <p:cNvSpPr/>
          <p:nvPr/>
        </p:nvSpPr>
        <p:spPr>
          <a:xfrm>
            <a:off x="6181325" y="3312914"/>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행동</a:t>
            </a:r>
            <a:endParaRPr lang="en-US" sz="834" dirty="0"/>
          </a:p>
        </p:txBody>
      </p:sp>
      <p:sp>
        <p:nvSpPr>
          <p:cNvPr id="20" name="Shape 12"/>
          <p:cNvSpPr/>
          <p:nvPr/>
        </p:nvSpPr>
        <p:spPr>
          <a:xfrm>
            <a:off x="4214813" y="2041327"/>
            <a:ext cx="700088" cy="700088"/>
          </a:xfrm>
          <a:prstGeom prst="rect">
            <a:avLst/>
          </a:prstGeom>
          <a:solidFill>
            <a:srgbClr val="FFD700"/>
          </a:solidFill>
          <a:ln w="27432">
            <a:solidFill>
              <a:srgbClr val="B8860B"/>
            </a:solidFill>
            <a:prstDash val="solid"/>
          </a:ln>
        </p:spPr>
      </p:sp>
      <p:pic>
        <p:nvPicPr>
          <p:cNvPr id="21" name="Image 6" descr="preencoded.png">    </p:cNvPr>
          <p:cNvPicPr>
            <a:picLocks noChangeAspect="1"/>
          </p:cNvPicPr>
          <p:nvPr/>
        </p:nvPicPr>
        <p:blipFill>
          <a:blip r:embed="rId7"/>
          <a:stretch>
            <a:fillRect/>
          </a:stretch>
        </p:blipFill>
        <p:spPr>
          <a:xfrm>
            <a:off x="4473773" y="2194917"/>
            <a:ext cx="125016" cy="142875"/>
          </a:xfrm>
          <a:prstGeom prst="rect">
            <a:avLst/>
          </a:prstGeom>
        </p:spPr>
      </p:pic>
      <p:sp>
        <p:nvSpPr>
          <p:cNvPr id="22" name="Text 13"/>
          <p:cNvSpPr/>
          <p:nvPr/>
        </p:nvSpPr>
        <p:spPr>
          <a:xfrm>
            <a:off x="4431106" y="2366367"/>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전투</a:t>
            </a:r>
            <a:endParaRPr lang="en-US" sz="834" dirty="0"/>
          </a:p>
        </p:txBody>
      </p:sp>
      <p:sp>
        <p:nvSpPr>
          <p:cNvPr id="23" name="Shape 14"/>
          <p:cNvSpPr/>
          <p:nvPr/>
        </p:nvSpPr>
        <p:spPr>
          <a:xfrm>
            <a:off x="4214813" y="4005858"/>
            <a:ext cx="700088" cy="700088"/>
          </a:xfrm>
          <a:prstGeom prst="rect">
            <a:avLst/>
          </a:prstGeom>
          <a:solidFill>
            <a:srgbClr val="FFD700"/>
          </a:solidFill>
          <a:ln w="27432">
            <a:solidFill>
              <a:srgbClr val="B8860B"/>
            </a:solidFill>
            <a:prstDash val="solid"/>
          </a:ln>
        </p:spPr>
      </p:sp>
      <p:pic>
        <p:nvPicPr>
          <p:cNvPr id="24" name="Image 7" descr="preencoded.png">    </p:cNvPr>
          <p:cNvPicPr>
            <a:picLocks noChangeAspect="1"/>
          </p:cNvPicPr>
          <p:nvPr/>
        </p:nvPicPr>
        <p:blipFill>
          <a:blip r:embed="rId8"/>
          <a:stretch>
            <a:fillRect/>
          </a:stretch>
        </p:blipFill>
        <p:spPr>
          <a:xfrm>
            <a:off x="4464844" y="4159448"/>
            <a:ext cx="142875" cy="142875"/>
          </a:xfrm>
          <a:prstGeom prst="rect">
            <a:avLst/>
          </a:prstGeom>
        </p:spPr>
      </p:pic>
      <p:sp>
        <p:nvSpPr>
          <p:cNvPr id="25" name="Text 15"/>
          <p:cNvSpPr/>
          <p:nvPr/>
        </p:nvSpPr>
        <p:spPr>
          <a:xfrm>
            <a:off x="4431106" y="4330898"/>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퍼즐</a:t>
            </a:r>
            <a:endParaRPr lang="en-US" sz="834" dirty="0"/>
          </a:p>
        </p:txBody>
      </p:sp>
      <p:sp>
        <p:nvSpPr>
          <p:cNvPr id="26" name="Shape 16"/>
          <p:cNvSpPr/>
          <p:nvPr/>
        </p:nvSpPr>
        <p:spPr>
          <a:xfrm>
            <a:off x="2071688" y="3023592"/>
            <a:ext cx="700088" cy="700088"/>
          </a:xfrm>
          <a:prstGeom prst="rect">
            <a:avLst/>
          </a:prstGeom>
          <a:solidFill>
            <a:srgbClr val="FFD700"/>
          </a:solidFill>
          <a:ln w="27432">
            <a:solidFill>
              <a:srgbClr val="B8860B"/>
            </a:solidFill>
            <a:prstDash val="solid"/>
          </a:ln>
        </p:spPr>
      </p:sp>
      <p:pic>
        <p:nvPicPr>
          <p:cNvPr id="27" name="Image 8" descr="preencoded.png">    </p:cNvPr>
          <p:cNvPicPr>
            <a:picLocks noChangeAspect="1"/>
          </p:cNvPicPr>
          <p:nvPr/>
        </p:nvPicPr>
        <p:blipFill>
          <a:blip r:embed="rId9"/>
          <a:stretch>
            <a:fillRect/>
          </a:stretch>
        </p:blipFill>
        <p:spPr>
          <a:xfrm>
            <a:off x="2321719" y="3177183"/>
            <a:ext cx="142875" cy="142875"/>
          </a:xfrm>
          <a:prstGeom prst="rect">
            <a:avLst/>
          </a:prstGeom>
        </p:spPr>
      </p:pic>
      <p:sp>
        <p:nvSpPr>
          <p:cNvPr id="28" name="Text 17"/>
          <p:cNvSpPr/>
          <p:nvPr/>
        </p:nvSpPr>
        <p:spPr>
          <a:xfrm>
            <a:off x="2287981" y="3348633"/>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탐색</a:t>
            </a:r>
            <a:endParaRPr lang="en-US" sz="834" dirty="0"/>
          </a:p>
        </p:txBody>
      </p:sp>
      <p:sp>
        <p:nvSpPr>
          <p:cNvPr id="29" name="Shape 18"/>
          <p:cNvSpPr/>
          <p:nvPr/>
        </p:nvSpPr>
        <p:spPr>
          <a:xfrm>
            <a:off x="7072313" y="3023592"/>
            <a:ext cx="700088" cy="700088"/>
          </a:xfrm>
          <a:prstGeom prst="rect">
            <a:avLst/>
          </a:prstGeom>
          <a:solidFill>
            <a:srgbClr val="FFD700"/>
          </a:solidFill>
          <a:ln w="27432">
            <a:solidFill>
              <a:srgbClr val="B8860B"/>
            </a:solidFill>
            <a:prstDash val="solid"/>
          </a:ln>
        </p:spPr>
      </p:sp>
      <p:pic>
        <p:nvPicPr>
          <p:cNvPr id="30" name="Image 9" descr="preencoded.png">    </p:cNvPr>
          <p:cNvPicPr>
            <a:picLocks noChangeAspect="1"/>
          </p:cNvPicPr>
          <p:nvPr/>
        </p:nvPicPr>
        <p:blipFill>
          <a:blip r:embed="rId10"/>
          <a:stretch>
            <a:fillRect/>
          </a:stretch>
        </p:blipFill>
        <p:spPr>
          <a:xfrm>
            <a:off x="7322344" y="3177183"/>
            <a:ext cx="142875" cy="142875"/>
          </a:xfrm>
          <a:prstGeom prst="rect">
            <a:avLst/>
          </a:prstGeom>
        </p:spPr>
      </p:pic>
      <p:sp>
        <p:nvSpPr>
          <p:cNvPr id="31" name="Text 19"/>
          <p:cNvSpPr/>
          <p:nvPr/>
        </p:nvSpPr>
        <p:spPr>
          <a:xfrm>
            <a:off x="7288606" y="3348633"/>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연출</a:t>
            </a:r>
            <a:endParaRPr lang="en-US" sz="834" dirty="0"/>
          </a:p>
        </p:txBody>
      </p:sp>
      <p:sp>
        <p:nvSpPr>
          <p:cNvPr id="32" name="Shape 20"/>
          <p:cNvSpPr/>
          <p:nvPr/>
        </p:nvSpPr>
        <p:spPr>
          <a:xfrm>
            <a:off x="5643563" y="1844873"/>
            <a:ext cx="628650" cy="628650"/>
          </a:xfrm>
          <a:prstGeom prst="rect">
            <a:avLst/>
          </a:prstGeom>
          <a:solidFill>
            <a:srgbClr val="FFD700"/>
          </a:solidFill>
          <a:ln w="27432">
            <a:solidFill>
              <a:srgbClr val="B8860B"/>
            </a:solidFill>
            <a:prstDash val="solid"/>
          </a:ln>
        </p:spPr>
      </p:sp>
      <p:pic>
        <p:nvPicPr>
          <p:cNvPr id="33" name="Image 10" descr="preencoded.png">    </p:cNvPr>
          <p:cNvPicPr>
            <a:picLocks noChangeAspect="1"/>
          </p:cNvPicPr>
          <p:nvPr/>
        </p:nvPicPr>
        <p:blipFill>
          <a:blip r:embed="rId11"/>
          <a:stretch>
            <a:fillRect/>
          </a:stretch>
        </p:blipFill>
        <p:spPr>
          <a:xfrm>
            <a:off x="5857875" y="1962745"/>
            <a:ext cx="142875" cy="142875"/>
          </a:xfrm>
          <a:prstGeom prst="rect">
            <a:avLst/>
          </a:prstGeom>
        </p:spPr>
      </p:pic>
      <p:sp>
        <p:nvSpPr>
          <p:cNvPr id="34" name="Text 21"/>
          <p:cNvSpPr/>
          <p:nvPr/>
        </p:nvSpPr>
        <p:spPr>
          <a:xfrm>
            <a:off x="5824138" y="2134195"/>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배경</a:t>
            </a:r>
            <a:endParaRPr lang="en-US" sz="834" dirty="0"/>
          </a:p>
        </p:txBody>
      </p:sp>
      <p:sp>
        <p:nvSpPr>
          <p:cNvPr id="35" name="Shape 22"/>
          <p:cNvSpPr/>
          <p:nvPr/>
        </p:nvSpPr>
        <p:spPr>
          <a:xfrm>
            <a:off x="5643563" y="4202311"/>
            <a:ext cx="628650" cy="628650"/>
          </a:xfrm>
          <a:prstGeom prst="rect">
            <a:avLst/>
          </a:prstGeom>
          <a:solidFill>
            <a:srgbClr val="FFD700"/>
          </a:solidFill>
          <a:ln w="27432">
            <a:solidFill>
              <a:srgbClr val="B8860B"/>
            </a:solidFill>
            <a:prstDash val="solid"/>
          </a:ln>
        </p:spPr>
      </p:sp>
      <p:pic>
        <p:nvPicPr>
          <p:cNvPr id="36" name="Image 11" descr="preencoded.png">    </p:cNvPr>
          <p:cNvPicPr>
            <a:picLocks noChangeAspect="1"/>
          </p:cNvPicPr>
          <p:nvPr/>
        </p:nvPicPr>
        <p:blipFill>
          <a:blip r:embed="rId12"/>
          <a:stretch>
            <a:fillRect/>
          </a:stretch>
        </p:blipFill>
        <p:spPr>
          <a:xfrm>
            <a:off x="5840016" y="4320183"/>
            <a:ext cx="178594" cy="142875"/>
          </a:xfrm>
          <a:prstGeom prst="rect">
            <a:avLst/>
          </a:prstGeom>
        </p:spPr>
      </p:pic>
      <p:sp>
        <p:nvSpPr>
          <p:cNvPr id="37" name="Text 23"/>
          <p:cNvSpPr/>
          <p:nvPr/>
        </p:nvSpPr>
        <p:spPr>
          <a:xfrm>
            <a:off x="5771564" y="4491633"/>
            <a:ext cx="315469"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1A0D2E"/>
                </a:solidFill>
              </a:rPr>
              <a:t>사운드</a:t>
            </a:r>
            <a:endParaRPr lang="en-US" sz="834" dirty="0"/>
          </a:p>
        </p:txBody>
      </p:sp>
      <p:sp>
        <p:nvSpPr>
          <p:cNvPr id="38" name="Shape 24"/>
          <p:cNvSpPr/>
          <p:nvPr/>
        </p:nvSpPr>
        <p:spPr>
          <a:xfrm>
            <a:off x="3143250" y="1451967"/>
            <a:ext cx="557213" cy="557213"/>
          </a:xfrm>
          <a:prstGeom prst="rect">
            <a:avLst/>
          </a:prstGeom>
          <a:solidFill>
            <a:srgbClr val="FF69B4"/>
          </a:solidFill>
          <a:ln w="27432">
            <a:solidFill>
              <a:srgbClr val="C71585"/>
            </a:solidFill>
            <a:prstDash val="solid"/>
          </a:ln>
        </p:spPr>
      </p:sp>
      <p:pic>
        <p:nvPicPr>
          <p:cNvPr id="39" name="Image 12" descr="preencoded.png">    </p:cNvPr>
          <p:cNvPicPr>
            <a:picLocks noChangeAspect="1"/>
          </p:cNvPicPr>
          <p:nvPr/>
        </p:nvPicPr>
        <p:blipFill>
          <a:blip r:embed="rId13"/>
          <a:stretch>
            <a:fillRect/>
          </a:stretch>
        </p:blipFill>
        <p:spPr>
          <a:xfrm>
            <a:off x="3303984" y="1534120"/>
            <a:ext cx="178594" cy="142875"/>
          </a:xfrm>
          <a:prstGeom prst="rect">
            <a:avLst/>
          </a:prstGeom>
        </p:spPr>
      </p:pic>
      <p:sp>
        <p:nvSpPr>
          <p:cNvPr id="40" name="Text 25"/>
          <p:cNvSpPr/>
          <p:nvPr/>
        </p:nvSpPr>
        <p:spPr>
          <a:xfrm>
            <a:off x="3288106" y="1705570"/>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FFFF"/>
                </a:solidFill>
              </a:rPr>
              <a:t>스킨</a:t>
            </a:r>
            <a:endParaRPr lang="en-US" sz="834" dirty="0"/>
          </a:p>
        </p:txBody>
      </p:sp>
      <p:sp>
        <p:nvSpPr>
          <p:cNvPr id="41" name="Shape 26"/>
          <p:cNvSpPr/>
          <p:nvPr/>
        </p:nvSpPr>
        <p:spPr>
          <a:xfrm>
            <a:off x="4572000" y="1451967"/>
            <a:ext cx="557213" cy="557213"/>
          </a:xfrm>
          <a:prstGeom prst="rect">
            <a:avLst/>
          </a:prstGeom>
          <a:solidFill>
            <a:srgbClr val="FF69B4"/>
          </a:solidFill>
          <a:ln w="27432">
            <a:solidFill>
              <a:srgbClr val="C71585"/>
            </a:solidFill>
            <a:prstDash val="solid"/>
          </a:ln>
        </p:spPr>
      </p:sp>
      <p:pic>
        <p:nvPicPr>
          <p:cNvPr id="42" name="Image 13" descr="preencoded.png">    </p:cNvPr>
          <p:cNvPicPr>
            <a:picLocks noChangeAspect="1"/>
          </p:cNvPicPr>
          <p:nvPr/>
        </p:nvPicPr>
        <p:blipFill>
          <a:blip r:embed="rId14"/>
          <a:stretch>
            <a:fillRect/>
          </a:stretch>
        </p:blipFill>
        <p:spPr>
          <a:xfrm>
            <a:off x="4741664" y="1534120"/>
            <a:ext cx="160734" cy="142875"/>
          </a:xfrm>
          <a:prstGeom prst="rect">
            <a:avLst/>
          </a:prstGeom>
        </p:spPr>
      </p:pic>
      <p:sp>
        <p:nvSpPr>
          <p:cNvPr id="43" name="Text 27"/>
          <p:cNvSpPr/>
          <p:nvPr/>
        </p:nvSpPr>
        <p:spPr>
          <a:xfrm>
            <a:off x="4716856" y="1705570"/>
            <a:ext cx="210322"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FFFF"/>
                </a:solidFill>
              </a:rPr>
              <a:t>상점</a:t>
            </a:r>
            <a:endParaRPr lang="en-US" sz="834" dirty="0"/>
          </a:p>
        </p:txBody>
      </p:sp>
      <p:sp>
        <p:nvSpPr>
          <p:cNvPr id="44" name="Shape 28"/>
          <p:cNvSpPr/>
          <p:nvPr/>
        </p:nvSpPr>
        <p:spPr>
          <a:xfrm>
            <a:off x="6000750" y="1451967"/>
            <a:ext cx="557213" cy="557213"/>
          </a:xfrm>
          <a:prstGeom prst="rect">
            <a:avLst/>
          </a:prstGeom>
          <a:solidFill>
            <a:srgbClr val="FF69B4"/>
          </a:solidFill>
          <a:ln w="27432">
            <a:solidFill>
              <a:srgbClr val="C71585"/>
            </a:solidFill>
            <a:prstDash val="solid"/>
          </a:ln>
        </p:spPr>
      </p:sp>
      <p:pic>
        <p:nvPicPr>
          <p:cNvPr id="45" name="Image 14" descr="preencoded.png">    </p:cNvPr>
          <p:cNvPicPr>
            <a:picLocks noChangeAspect="1"/>
          </p:cNvPicPr>
          <p:nvPr/>
        </p:nvPicPr>
        <p:blipFill>
          <a:blip r:embed="rId15"/>
          <a:stretch>
            <a:fillRect/>
          </a:stretch>
        </p:blipFill>
        <p:spPr>
          <a:xfrm>
            <a:off x="6179344" y="1534120"/>
            <a:ext cx="142875" cy="142875"/>
          </a:xfrm>
          <a:prstGeom prst="rect">
            <a:avLst/>
          </a:prstGeom>
        </p:spPr>
      </p:pic>
      <p:sp>
        <p:nvSpPr>
          <p:cNvPr id="46" name="Text 29"/>
          <p:cNvSpPr/>
          <p:nvPr/>
        </p:nvSpPr>
        <p:spPr>
          <a:xfrm>
            <a:off x="6093033" y="1705570"/>
            <a:ext cx="315469"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FFFF"/>
                </a:solidFill>
              </a:rPr>
              <a:t>아이템</a:t>
            </a:r>
            <a:endParaRPr lang="en-US" sz="834" dirty="0"/>
          </a:p>
        </p:txBody>
      </p:sp>
      <p:sp>
        <p:nvSpPr>
          <p:cNvPr id="47" name="Shape 30"/>
          <p:cNvSpPr/>
          <p:nvPr/>
        </p:nvSpPr>
        <p:spPr>
          <a:xfrm>
            <a:off x="3143250" y="4595217"/>
            <a:ext cx="557213" cy="557213"/>
          </a:xfrm>
          <a:prstGeom prst="rect">
            <a:avLst/>
          </a:prstGeom>
          <a:solidFill>
            <a:srgbClr val="FF69B4"/>
          </a:solidFill>
          <a:ln w="27432">
            <a:solidFill>
              <a:srgbClr val="C71585"/>
            </a:solidFill>
            <a:prstDash val="solid"/>
          </a:ln>
        </p:spPr>
      </p:sp>
      <p:pic>
        <p:nvPicPr>
          <p:cNvPr id="48" name="Image 15" descr="preencoded.png">    </p:cNvPr>
          <p:cNvPicPr>
            <a:picLocks noChangeAspect="1"/>
          </p:cNvPicPr>
          <p:nvPr/>
        </p:nvPicPr>
        <p:blipFill>
          <a:blip r:embed="rId16"/>
          <a:stretch>
            <a:fillRect/>
          </a:stretch>
        </p:blipFill>
        <p:spPr>
          <a:xfrm>
            <a:off x="3321844" y="4677370"/>
            <a:ext cx="142875" cy="142875"/>
          </a:xfrm>
          <a:prstGeom prst="rect">
            <a:avLst/>
          </a:prstGeom>
        </p:spPr>
      </p:pic>
      <p:sp>
        <p:nvSpPr>
          <p:cNvPr id="49" name="Text 31"/>
          <p:cNvSpPr/>
          <p:nvPr/>
        </p:nvSpPr>
        <p:spPr>
          <a:xfrm>
            <a:off x="3235533" y="4848820"/>
            <a:ext cx="315469"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FFFF"/>
                </a:solidFill>
              </a:rPr>
              <a:t>몬스터</a:t>
            </a:r>
            <a:endParaRPr lang="en-US" sz="834" dirty="0"/>
          </a:p>
        </p:txBody>
      </p:sp>
      <p:sp>
        <p:nvSpPr>
          <p:cNvPr id="50" name="Shape 32"/>
          <p:cNvSpPr/>
          <p:nvPr/>
        </p:nvSpPr>
        <p:spPr>
          <a:xfrm>
            <a:off x="4572000" y="4595217"/>
            <a:ext cx="557213" cy="557213"/>
          </a:xfrm>
          <a:prstGeom prst="rect">
            <a:avLst/>
          </a:prstGeom>
          <a:solidFill>
            <a:srgbClr val="FF69B4"/>
          </a:solidFill>
          <a:ln w="27432">
            <a:solidFill>
              <a:srgbClr val="C71585"/>
            </a:solidFill>
            <a:prstDash val="solid"/>
          </a:ln>
        </p:spPr>
      </p:sp>
      <p:pic>
        <p:nvPicPr>
          <p:cNvPr id="51" name="Image 16" descr="preencoded.png">    </p:cNvPr>
          <p:cNvPicPr>
            <a:picLocks noChangeAspect="1"/>
          </p:cNvPicPr>
          <p:nvPr/>
        </p:nvPicPr>
        <p:blipFill>
          <a:blip r:embed="rId17"/>
          <a:stretch>
            <a:fillRect/>
          </a:stretch>
        </p:blipFill>
        <p:spPr>
          <a:xfrm>
            <a:off x="4750594" y="4677370"/>
            <a:ext cx="142875" cy="142875"/>
          </a:xfrm>
          <a:prstGeom prst="rect">
            <a:avLst/>
          </a:prstGeom>
        </p:spPr>
      </p:pic>
      <p:sp>
        <p:nvSpPr>
          <p:cNvPr id="52" name="Text 33"/>
          <p:cNvSpPr/>
          <p:nvPr/>
        </p:nvSpPr>
        <p:spPr>
          <a:xfrm>
            <a:off x="4664283" y="4848820"/>
            <a:ext cx="315469"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FFFF"/>
                </a:solidFill>
              </a:rPr>
              <a:t>장애물</a:t>
            </a:r>
            <a:endParaRPr lang="en-US" sz="834" dirty="0"/>
          </a:p>
        </p:txBody>
      </p:sp>
      <p:sp>
        <p:nvSpPr>
          <p:cNvPr id="53" name="Shape 34"/>
          <p:cNvSpPr/>
          <p:nvPr/>
        </p:nvSpPr>
        <p:spPr>
          <a:xfrm>
            <a:off x="6000750" y="4595217"/>
            <a:ext cx="557213" cy="557213"/>
          </a:xfrm>
          <a:prstGeom prst="rect">
            <a:avLst/>
          </a:prstGeom>
          <a:solidFill>
            <a:srgbClr val="FF69B4"/>
          </a:solidFill>
          <a:ln w="27432">
            <a:solidFill>
              <a:srgbClr val="C71585"/>
            </a:solidFill>
            <a:prstDash val="solid"/>
          </a:ln>
        </p:spPr>
      </p:sp>
      <p:pic>
        <p:nvPicPr>
          <p:cNvPr id="54" name="Image 17" descr="preencoded.png">    </p:cNvPr>
          <p:cNvPicPr>
            <a:picLocks noChangeAspect="1"/>
          </p:cNvPicPr>
          <p:nvPr/>
        </p:nvPicPr>
        <p:blipFill>
          <a:blip r:embed="rId18"/>
          <a:stretch>
            <a:fillRect/>
          </a:stretch>
        </p:blipFill>
        <p:spPr>
          <a:xfrm>
            <a:off x="6188273" y="4677370"/>
            <a:ext cx="125016" cy="142875"/>
          </a:xfrm>
          <a:prstGeom prst="rect">
            <a:avLst/>
          </a:prstGeom>
        </p:spPr>
      </p:pic>
      <p:sp>
        <p:nvSpPr>
          <p:cNvPr id="55" name="Text 35"/>
          <p:cNvSpPr/>
          <p:nvPr/>
        </p:nvSpPr>
        <p:spPr>
          <a:xfrm>
            <a:off x="6040459" y="4848820"/>
            <a:ext cx="420644"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FFFF"/>
                </a:solidFill>
              </a:rPr>
              <a:t>타임어택</a:t>
            </a:r>
            <a:endParaRPr lang="en-US" sz="834" dirty="0"/>
          </a:p>
        </p:txBody>
      </p:sp>
      <p:sp>
        <p:nvSpPr>
          <p:cNvPr id="56" name="Shape 36"/>
          <p:cNvSpPr/>
          <p:nvPr/>
        </p:nvSpPr>
        <p:spPr>
          <a:xfrm>
            <a:off x="7260171" y="3904059"/>
            <a:ext cx="1455204" cy="953691"/>
          </a:xfrm>
          <a:prstGeom prst="rect">
            <a:avLst/>
          </a:prstGeom>
          <a:solidFill>
            <a:srgbClr val="000000">
              <a:alpha val="50000"/>
            </a:srgbClr>
          </a:solidFill>
          <a:ln w="18288">
            <a:solidFill>
              <a:srgbClr val="FFFFFF"/>
            </a:solidFill>
            <a:prstDash val="solid"/>
          </a:ln>
        </p:spPr>
      </p:sp>
      <p:sp>
        <p:nvSpPr>
          <p:cNvPr id="57" name="Text 37"/>
          <p:cNvSpPr/>
          <p:nvPr/>
        </p:nvSpPr>
        <p:spPr>
          <a:xfrm>
            <a:off x="7638790" y="4039791"/>
            <a:ext cx="629320"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핵심 (Core)</a:t>
            </a:r>
            <a:endParaRPr lang="en-US" sz="942" dirty="0"/>
          </a:p>
        </p:txBody>
      </p:sp>
      <p:sp>
        <p:nvSpPr>
          <p:cNvPr id="58" name="Text 38"/>
          <p:cNvSpPr/>
          <p:nvPr/>
        </p:nvSpPr>
        <p:spPr>
          <a:xfrm>
            <a:off x="7638790" y="4300538"/>
            <a:ext cx="659402"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기본 (Basic)</a:t>
            </a:r>
            <a:endParaRPr lang="en-US" sz="942" dirty="0"/>
          </a:p>
        </p:txBody>
      </p:sp>
      <p:sp>
        <p:nvSpPr>
          <p:cNvPr id="59" name="Text 39"/>
          <p:cNvSpPr/>
          <p:nvPr/>
        </p:nvSpPr>
        <p:spPr>
          <a:xfrm>
            <a:off x="7638790" y="4561284"/>
            <a:ext cx="969429"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확장 (Expansion)</a:t>
            </a:r>
            <a:endParaRPr lang="en-US" sz="942"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인물 관계도</a:t>
            </a:r>
            <a:endParaRPr lang="en-US" sz="1808" dirty="0"/>
          </a:p>
        </p:txBody>
      </p:sp>
      <p:sp>
        <p:nvSpPr>
          <p:cNvPr id="5" name="Shape 2"/>
          <p:cNvSpPr/>
          <p:nvPr/>
        </p:nvSpPr>
        <p:spPr>
          <a:xfrm>
            <a:off x="6049696" y="2900363"/>
            <a:ext cx="759358" cy="246459"/>
          </a:xfrm>
          <a:prstGeom prst="rect">
            <a:avLst/>
          </a:prstGeom>
          <a:solidFill>
            <a:srgbClr val="1A0D2E"/>
          </a:solidFill>
          <a:ln w="18288">
            <a:solidFill>
              <a:srgbClr val="FF69B4"/>
            </a:solidFill>
            <a:prstDash val="solid"/>
          </a:ln>
        </p:spPr>
      </p:sp>
      <p:sp>
        <p:nvSpPr>
          <p:cNvPr id="6" name="Text 3"/>
          <p:cNvSpPr/>
          <p:nvPr/>
        </p:nvSpPr>
        <p:spPr>
          <a:xfrm>
            <a:off x="6049696" y="2900363"/>
            <a:ext cx="759358" cy="246459"/>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FF69B4"/>
                </a:solidFill>
              </a:rPr>
              <a:t>대립 / 판정</a:t>
            </a:r>
            <a:endParaRPr lang="en-US" sz="942" dirty="0"/>
          </a:p>
        </p:txBody>
      </p:sp>
      <p:sp>
        <p:nvSpPr>
          <p:cNvPr id="7" name="Shape 4"/>
          <p:cNvSpPr/>
          <p:nvPr/>
        </p:nvSpPr>
        <p:spPr>
          <a:xfrm>
            <a:off x="4441403" y="4025503"/>
            <a:ext cx="289768" cy="246459"/>
          </a:xfrm>
          <a:prstGeom prst="rect">
            <a:avLst/>
          </a:prstGeom>
          <a:solidFill>
            <a:srgbClr val="1A0D2E"/>
          </a:solidFill>
          <a:ln w="18288">
            <a:solidFill>
              <a:srgbClr val="FFD700"/>
            </a:solidFill>
            <a:prstDash val="solid"/>
          </a:ln>
        </p:spPr>
      </p:sp>
      <p:sp>
        <p:nvSpPr>
          <p:cNvPr id="8" name="Text 5"/>
          <p:cNvSpPr/>
          <p:nvPr/>
        </p:nvSpPr>
        <p:spPr>
          <a:xfrm>
            <a:off x="4441403" y="4025503"/>
            <a:ext cx="289768" cy="246459"/>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FFD700"/>
                </a:solidFill>
              </a:rPr>
              <a:t>기</a:t>
            </a:r>
            <a:endParaRPr lang="en-US" sz="942" dirty="0"/>
          </a:p>
        </p:txBody>
      </p:sp>
      <p:sp>
        <p:nvSpPr>
          <p:cNvPr id="9" name="Shape 6"/>
          <p:cNvSpPr/>
          <p:nvPr/>
        </p:nvSpPr>
        <p:spPr>
          <a:xfrm>
            <a:off x="4441403" y="4025503"/>
            <a:ext cx="289768" cy="246459"/>
          </a:xfrm>
          <a:prstGeom prst="rect">
            <a:avLst/>
          </a:prstGeom>
          <a:solidFill>
            <a:srgbClr val="1A0D2E"/>
          </a:solidFill>
          <a:ln w="18288">
            <a:solidFill>
              <a:srgbClr val="FFD700"/>
            </a:solidFill>
            <a:prstDash val="solid"/>
          </a:ln>
        </p:spPr>
      </p:sp>
      <p:sp>
        <p:nvSpPr>
          <p:cNvPr id="10" name="Text 7"/>
          <p:cNvSpPr/>
          <p:nvPr/>
        </p:nvSpPr>
        <p:spPr>
          <a:xfrm>
            <a:off x="4441403" y="4025503"/>
            <a:ext cx="289768" cy="246459"/>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FFD700"/>
                </a:solidFill>
              </a:rPr>
              <a:t>대</a:t>
            </a:r>
            <a:endParaRPr lang="en-US" sz="942" dirty="0"/>
          </a:p>
        </p:txBody>
      </p:sp>
      <p:sp>
        <p:nvSpPr>
          <p:cNvPr id="11" name="Shape 8"/>
          <p:cNvSpPr/>
          <p:nvPr/>
        </p:nvSpPr>
        <p:spPr>
          <a:xfrm>
            <a:off x="4476634" y="4032647"/>
            <a:ext cx="219308" cy="232172"/>
          </a:xfrm>
          <a:prstGeom prst="rect">
            <a:avLst/>
          </a:prstGeom>
          <a:solidFill>
            <a:srgbClr val="1A0D2E"/>
          </a:solidFill>
          <a:ln w="18288">
            <a:solidFill>
              <a:srgbClr val="FFD700"/>
            </a:solidFill>
            <a:prstDash val="solid"/>
          </a:ln>
        </p:spPr>
      </p:sp>
      <p:sp>
        <p:nvSpPr>
          <p:cNvPr id="12" name="Text 9"/>
          <p:cNvSpPr/>
          <p:nvPr/>
        </p:nvSpPr>
        <p:spPr>
          <a:xfrm>
            <a:off x="4476634" y="4032647"/>
            <a:ext cx="219308" cy="232172"/>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FFD700"/>
                </a:solidFill>
              </a:rPr>
              <a:t>/</a:t>
            </a:r>
            <a:endParaRPr lang="en-US" sz="942" dirty="0"/>
          </a:p>
        </p:txBody>
      </p:sp>
      <p:sp>
        <p:nvSpPr>
          <p:cNvPr id="13" name="Shape 10"/>
          <p:cNvSpPr/>
          <p:nvPr/>
        </p:nvSpPr>
        <p:spPr>
          <a:xfrm>
            <a:off x="4441403" y="4025503"/>
            <a:ext cx="289768" cy="246459"/>
          </a:xfrm>
          <a:prstGeom prst="rect">
            <a:avLst/>
          </a:prstGeom>
          <a:solidFill>
            <a:srgbClr val="1A0D2E"/>
          </a:solidFill>
          <a:ln w="18288">
            <a:solidFill>
              <a:srgbClr val="FFD700"/>
            </a:solidFill>
            <a:prstDash val="solid"/>
          </a:ln>
        </p:spPr>
      </p:sp>
      <p:sp>
        <p:nvSpPr>
          <p:cNvPr id="14" name="Text 11"/>
          <p:cNvSpPr/>
          <p:nvPr/>
        </p:nvSpPr>
        <p:spPr>
          <a:xfrm>
            <a:off x="4441403" y="4025503"/>
            <a:ext cx="289768" cy="246459"/>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FFD700"/>
                </a:solidFill>
              </a:rPr>
              <a:t>의</a:t>
            </a:r>
            <a:endParaRPr lang="en-US" sz="942" dirty="0"/>
          </a:p>
        </p:txBody>
      </p:sp>
      <p:sp>
        <p:nvSpPr>
          <p:cNvPr id="15" name="Shape 12"/>
          <p:cNvSpPr/>
          <p:nvPr/>
        </p:nvSpPr>
        <p:spPr>
          <a:xfrm>
            <a:off x="4441403" y="4025503"/>
            <a:ext cx="289768" cy="246459"/>
          </a:xfrm>
          <a:prstGeom prst="rect">
            <a:avLst/>
          </a:prstGeom>
          <a:solidFill>
            <a:srgbClr val="1A0D2E"/>
          </a:solidFill>
          <a:ln w="18288">
            <a:solidFill>
              <a:srgbClr val="FFD700"/>
            </a:solidFill>
            <a:prstDash val="solid"/>
          </a:ln>
        </p:spPr>
      </p:sp>
      <p:sp>
        <p:nvSpPr>
          <p:cNvPr id="16" name="Text 13"/>
          <p:cNvSpPr/>
          <p:nvPr/>
        </p:nvSpPr>
        <p:spPr>
          <a:xfrm>
            <a:off x="4441403" y="4025503"/>
            <a:ext cx="289768" cy="246459"/>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FFD700"/>
                </a:solidFill>
              </a:rPr>
              <a:t>존</a:t>
            </a:r>
            <a:endParaRPr lang="en-US" sz="942" dirty="0"/>
          </a:p>
        </p:txBody>
      </p:sp>
      <p:sp>
        <p:nvSpPr>
          <p:cNvPr id="17" name="Shape 14"/>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18" name="Text 15"/>
          <p:cNvSpPr/>
          <p:nvPr/>
        </p:nvSpPr>
        <p:spPr>
          <a:xfrm rot="-1800000">
            <a:off x="4134222" y="2116464"/>
            <a:ext cx="289768" cy="246460"/>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협</a:t>
            </a:r>
            <a:endParaRPr lang="en-US" sz="942" dirty="0"/>
          </a:p>
        </p:txBody>
      </p:sp>
      <p:sp>
        <p:nvSpPr>
          <p:cNvPr id="19" name="Shape 16"/>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20" name="Text 17"/>
          <p:cNvSpPr/>
          <p:nvPr/>
        </p:nvSpPr>
        <p:spPr>
          <a:xfrm rot="-1800000">
            <a:off x="4134222" y="2116464"/>
            <a:ext cx="289768" cy="246460"/>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력</a:t>
            </a:r>
            <a:endParaRPr lang="en-US" sz="942" dirty="0"/>
          </a:p>
        </p:txBody>
      </p:sp>
      <p:sp>
        <p:nvSpPr>
          <p:cNvPr id="21" name="Shape 18"/>
          <p:cNvSpPr/>
          <p:nvPr/>
        </p:nvSpPr>
        <p:spPr>
          <a:xfrm rot="-1800000">
            <a:off x="4193381" y="2211119"/>
            <a:ext cx="171451" cy="57150"/>
          </a:xfrm>
          <a:prstGeom prst="rect">
            <a:avLst/>
          </a:prstGeom>
          <a:solidFill>
            <a:srgbClr val="1A0D2E"/>
          </a:solidFill>
          <a:ln w="18288">
            <a:solidFill>
              <a:srgbClr val="00CED1"/>
            </a:solidFill>
            <a:prstDash val="solid"/>
          </a:ln>
        </p:spPr>
      </p:sp>
      <p:sp>
        <p:nvSpPr>
          <p:cNvPr id="22" name="Text 19"/>
          <p:cNvSpPr/>
          <p:nvPr/>
        </p:nvSpPr>
        <p:spPr>
          <a:xfrm rot="-1800000">
            <a:off x="4193381" y="2211119"/>
            <a:ext cx="171451" cy="57150"/>
          </a:xfrm>
          <a:prstGeom prst="rect">
            <a:avLst/>
          </a:prstGeom>
          <a:noFill/>
          <a:ln/>
        </p:spPr>
        <p:txBody>
          <a:bodyPr wrap="none" lIns="85090" tIns="17018" rIns="85090" bIns="17018" rtlCol="0" anchor="t">
            <a:spAutoFit/>
          </a:bodyPr>
          <a:lstStyle/>
          <a:p>
            <a:pPr algn="l" indent="0" marL="0">
              <a:lnSpc>
                <a:spcPts val="1200"/>
              </a:lnSpc>
              <a:buNone/>
            </a:pPr>
            <a:endParaRPr lang="en-US" sz="942" dirty="0"/>
          </a:p>
        </p:txBody>
      </p:sp>
      <p:sp>
        <p:nvSpPr>
          <p:cNvPr id="23" name="Shape 20"/>
          <p:cNvSpPr/>
          <p:nvPr/>
        </p:nvSpPr>
        <p:spPr>
          <a:xfrm rot="-1800000">
            <a:off x="4255177" y="2152183"/>
            <a:ext cx="47858" cy="175022"/>
          </a:xfrm>
          <a:prstGeom prst="rect">
            <a:avLst/>
          </a:prstGeom>
          <a:solidFill>
            <a:srgbClr val="1A0D2E"/>
          </a:solidFill>
          <a:ln w="18288">
            <a:solidFill>
              <a:srgbClr val="00CED1"/>
            </a:solidFill>
            <a:prstDash val="solid"/>
          </a:ln>
        </p:spPr>
      </p:sp>
      <p:sp>
        <p:nvSpPr>
          <p:cNvPr id="24" name="Text 21"/>
          <p:cNvSpPr/>
          <p:nvPr/>
        </p:nvSpPr>
        <p:spPr>
          <a:xfrm rot="-1800000">
            <a:off x="4169453" y="2123608"/>
            <a:ext cx="219307" cy="232172"/>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a:t>
            </a:r>
            <a:endParaRPr lang="en-US" sz="942" dirty="0"/>
          </a:p>
        </p:txBody>
      </p:sp>
      <p:sp>
        <p:nvSpPr>
          <p:cNvPr id="25" name="Shape 22"/>
          <p:cNvSpPr/>
          <p:nvPr/>
        </p:nvSpPr>
        <p:spPr>
          <a:xfrm rot="-1800000">
            <a:off x="4193381" y="2211119"/>
            <a:ext cx="171451" cy="57150"/>
          </a:xfrm>
          <a:prstGeom prst="rect">
            <a:avLst/>
          </a:prstGeom>
          <a:solidFill>
            <a:srgbClr val="1A0D2E"/>
          </a:solidFill>
          <a:ln w="18288">
            <a:solidFill>
              <a:srgbClr val="00CED1"/>
            </a:solidFill>
            <a:prstDash val="solid"/>
          </a:ln>
        </p:spPr>
      </p:sp>
      <p:sp>
        <p:nvSpPr>
          <p:cNvPr id="26" name="Text 23"/>
          <p:cNvSpPr/>
          <p:nvPr/>
        </p:nvSpPr>
        <p:spPr>
          <a:xfrm rot="-1800000">
            <a:off x="4193381" y="2211119"/>
            <a:ext cx="171451" cy="57150"/>
          </a:xfrm>
          <a:prstGeom prst="rect">
            <a:avLst/>
          </a:prstGeom>
          <a:noFill/>
          <a:ln/>
        </p:spPr>
        <p:txBody>
          <a:bodyPr wrap="none" lIns="85090" tIns="17018" rIns="85090" bIns="17018" rtlCol="0" anchor="t">
            <a:spAutoFit/>
          </a:bodyPr>
          <a:lstStyle/>
          <a:p>
            <a:pPr algn="l" indent="0" marL="0">
              <a:lnSpc>
                <a:spcPts val="1200"/>
              </a:lnSpc>
              <a:buNone/>
            </a:pPr>
            <a:endParaRPr lang="en-US" sz="942" dirty="0"/>
          </a:p>
        </p:txBody>
      </p:sp>
      <p:sp>
        <p:nvSpPr>
          <p:cNvPr id="27" name="Shape 24"/>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28" name="Text 25"/>
          <p:cNvSpPr/>
          <p:nvPr/>
        </p:nvSpPr>
        <p:spPr>
          <a:xfrm rot="-1800000">
            <a:off x="4134222" y="2116464"/>
            <a:ext cx="289768" cy="246460"/>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진</a:t>
            </a:r>
            <a:endParaRPr lang="en-US" sz="942" dirty="0"/>
          </a:p>
        </p:txBody>
      </p:sp>
      <p:sp>
        <p:nvSpPr>
          <p:cNvPr id="29" name="Shape 26"/>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30" name="Text 27"/>
          <p:cNvSpPr/>
          <p:nvPr/>
        </p:nvSpPr>
        <p:spPr>
          <a:xfrm rot="-1800000">
            <a:off x="4134222" y="2116464"/>
            <a:ext cx="289768" cy="246460"/>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실</a:t>
            </a:r>
            <a:endParaRPr lang="en-US" sz="942" dirty="0"/>
          </a:p>
        </p:txBody>
      </p:sp>
      <p:sp>
        <p:nvSpPr>
          <p:cNvPr id="31" name="Shape 28"/>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32" name="Text 29"/>
          <p:cNvSpPr/>
          <p:nvPr/>
        </p:nvSpPr>
        <p:spPr>
          <a:xfrm rot="-1800000">
            <a:off x="4134222" y="2116464"/>
            <a:ext cx="289768" cy="246460"/>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추</a:t>
            </a:r>
            <a:endParaRPr lang="en-US" sz="942" dirty="0"/>
          </a:p>
        </p:txBody>
      </p:sp>
      <p:sp>
        <p:nvSpPr>
          <p:cNvPr id="33" name="Shape 30"/>
          <p:cNvSpPr/>
          <p:nvPr/>
        </p:nvSpPr>
        <p:spPr>
          <a:xfrm rot="-1800000">
            <a:off x="4219947" y="2145039"/>
            <a:ext cx="118318" cy="189309"/>
          </a:xfrm>
          <a:prstGeom prst="rect">
            <a:avLst/>
          </a:prstGeom>
          <a:solidFill>
            <a:srgbClr val="1A0D2E"/>
          </a:solidFill>
          <a:ln w="18288">
            <a:solidFill>
              <a:srgbClr val="00CED1"/>
            </a:solidFill>
            <a:prstDash val="solid"/>
          </a:ln>
        </p:spPr>
      </p:sp>
      <p:sp>
        <p:nvSpPr>
          <p:cNvPr id="34" name="Text 31"/>
          <p:cNvSpPr/>
          <p:nvPr/>
        </p:nvSpPr>
        <p:spPr>
          <a:xfrm rot="-1800000">
            <a:off x="4134222" y="2116464"/>
            <a:ext cx="289768" cy="246460"/>
          </a:xfrm>
          <a:prstGeom prst="rect">
            <a:avLst/>
          </a:prstGeom>
          <a:noFill/>
          <a:ln/>
        </p:spPr>
        <p:txBody>
          <a:bodyPr wrap="square" lIns="85090" tIns="17018" rIns="85090" bIns="17018" rtlCol="0" anchor="t">
            <a:spAutoFit/>
          </a:bodyPr>
          <a:lstStyle/>
          <a:p>
            <a:pPr algn="l" indent="0" marL="0">
              <a:lnSpc>
                <a:spcPts val="1200"/>
              </a:lnSpc>
              <a:buNone/>
            </a:pPr>
            <a:r>
              <a:rPr lang="en-US" sz="942" dirty="0">
                <a:solidFill>
                  <a:srgbClr val="00CED1"/>
                </a:solidFill>
              </a:rPr>
              <a:t>적</a:t>
            </a:r>
            <a:endParaRPr lang="en-US" sz="942" dirty="0"/>
          </a:p>
        </p:txBody>
      </p:sp>
      <p:sp>
        <p:nvSpPr>
          <p:cNvPr id="35" name="Shape 32"/>
          <p:cNvSpPr/>
          <p:nvPr/>
        </p:nvSpPr>
        <p:spPr>
          <a:xfrm>
            <a:off x="1714500" y="1416248"/>
            <a:ext cx="1414463" cy="1003697"/>
          </a:xfrm>
          <a:prstGeom prst="rect">
            <a:avLst/>
          </a:prstGeom>
          <a:solidFill>
            <a:srgbClr val="00CED1">
              <a:alpha val="10000"/>
            </a:srgbClr>
          </a:solidFill>
          <a:ln w="27432">
            <a:solidFill>
              <a:srgbClr val="00CED1"/>
            </a:solidFill>
            <a:prstDash val="solid"/>
          </a:ln>
        </p:spPr>
      </p:sp>
      <p:pic>
        <p:nvPicPr>
          <p:cNvPr id="36" name="Image 1" descr="preencoded.png">    </p:cNvPr>
          <p:cNvPicPr>
            <a:picLocks noChangeAspect="1"/>
          </p:cNvPicPr>
          <p:nvPr/>
        </p:nvPicPr>
        <p:blipFill>
          <a:blip r:embed="rId2"/>
          <a:stretch>
            <a:fillRect/>
          </a:stretch>
        </p:blipFill>
        <p:spPr>
          <a:xfrm>
            <a:off x="1821656" y="1523405"/>
            <a:ext cx="1143000" cy="285750"/>
          </a:xfrm>
          <a:prstGeom prst="rect">
            <a:avLst/>
          </a:prstGeom>
        </p:spPr>
      </p:pic>
      <p:sp>
        <p:nvSpPr>
          <p:cNvPr id="37" name="Text 33"/>
          <p:cNvSpPr/>
          <p:nvPr/>
        </p:nvSpPr>
        <p:spPr>
          <a:xfrm>
            <a:off x="1821656" y="1880592"/>
            <a:ext cx="1143000" cy="194667"/>
          </a:xfrm>
          <a:prstGeom prst="rect">
            <a:avLst/>
          </a:prstGeom>
          <a:noFill/>
          <a:ln/>
        </p:spPr>
        <p:txBody>
          <a:bodyPr wrap="none" lIns="0" tIns="0" rIns="0" bIns="0" rtlCol="0" anchor="t">
            <a:spAutoFit/>
          </a:bodyPr>
          <a:lstStyle/>
          <a:p>
            <a:pPr algn="ctr" indent="0" marL="0">
              <a:lnSpc>
                <a:spcPts val="1300"/>
              </a:lnSpc>
              <a:buNone/>
            </a:pPr>
            <a:r>
              <a:rPr lang="en-US" sz="922" b="1" dirty="0">
                <a:solidFill>
                  <a:srgbClr val="FFFFFF"/>
                </a:solidFill>
              </a:rPr>
              <a:t>은하 병원</a:t>
            </a:r>
            <a:endParaRPr lang="en-US" sz="922" dirty="0"/>
          </a:p>
        </p:txBody>
      </p:sp>
      <p:sp>
        <p:nvSpPr>
          <p:cNvPr id="38" name="Text 34"/>
          <p:cNvSpPr/>
          <p:nvPr/>
        </p:nvSpPr>
        <p:spPr>
          <a:xfrm>
            <a:off x="1821656" y="2110978"/>
            <a:ext cx="1143000" cy="144661"/>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FFFFFF"/>
                </a:solidFill>
              </a:rPr>
              <a:t>사건의 발단</a:t>
            </a:r>
            <a:endParaRPr lang="en-US" sz="727" dirty="0"/>
          </a:p>
        </p:txBody>
      </p:sp>
      <p:sp>
        <p:nvSpPr>
          <p:cNvPr id="39" name="Shape 35"/>
          <p:cNvSpPr/>
          <p:nvPr/>
        </p:nvSpPr>
        <p:spPr>
          <a:xfrm>
            <a:off x="3721894" y="2464594"/>
            <a:ext cx="1700213" cy="1117997"/>
          </a:xfrm>
          <a:prstGeom prst="rect">
            <a:avLst/>
          </a:prstGeom>
          <a:solidFill>
            <a:srgbClr val="FFD700">
              <a:alpha val="10000"/>
            </a:srgbClr>
          </a:solidFill>
          <a:ln w="27432">
            <a:solidFill>
              <a:srgbClr val="FFD700"/>
            </a:solidFill>
            <a:prstDash val="solid"/>
          </a:ln>
        </p:spPr>
      </p:sp>
      <p:pic>
        <p:nvPicPr>
          <p:cNvPr id="40" name="Image 2" descr="preencoded.png">    </p:cNvPr>
          <p:cNvPicPr>
            <a:picLocks noChangeAspect="1"/>
          </p:cNvPicPr>
          <p:nvPr/>
        </p:nvPicPr>
        <p:blipFill>
          <a:blip r:embed="rId3"/>
          <a:stretch>
            <a:fillRect/>
          </a:stretch>
        </p:blipFill>
        <p:spPr>
          <a:xfrm>
            <a:off x="3857625" y="2600325"/>
            <a:ext cx="1428750" cy="285750"/>
          </a:xfrm>
          <a:prstGeom prst="rect">
            <a:avLst/>
          </a:prstGeom>
        </p:spPr>
      </p:pic>
      <p:sp>
        <p:nvSpPr>
          <p:cNvPr id="41" name="Text 36"/>
          <p:cNvSpPr/>
          <p:nvPr/>
        </p:nvSpPr>
        <p:spPr>
          <a:xfrm>
            <a:off x="3857625" y="2957513"/>
            <a:ext cx="1428750" cy="289322"/>
          </a:xfrm>
          <a:prstGeom prst="rect">
            <a:avLst/>
          </a:prstGeom>
          <a:noFill/>
          <a:ln/>
        </p:spPr>
        <p:txBody>
          <a:bodyPr wrap="none" lIns="0" tIns="0" rIns="0" bIns="0" rtlCol="0" anchor="t">
            <a:spAutoFit/>
          </a:bodyPr>
          <a:lstStyle/>
          <a:p>
            <a:pPr algn="ctr" indent="0" marL="0">
              <a:lnSpc>
                <a:spcPts val="1900"/>
              </a:lnSpc>
              <a:buNone/>
            </a:pPr>
            <a:r>
              <a:rPr lang="en-US" sz="1397" b="1" dirty="0">
                <a:solidFill>
                  <a:srgbClr val="FFFFFF"/>
                </a:solidFill>
              </a:rPr>
              <a:t>차한해</a:t>
            </a:r>
            <a:endParaRPr lang="en-US" sz="1397" dirty="0"/>
          </a:p>
        </p:txBody>
      </p:sp>
      <p:sp>
        <p:nvSpPr>
          <p:cNvPr id="42" name="Text 37"/>
          <p:cNvSpPr/>
          <p:nvPr/>
        </p:nvSpPr>
        <p:spPr>
          <a:xfrm>
            <a:off x="3857625" y="3282553"/>
            <a:ext cx="1428750" cy="164306"/>
          </a:xfrm>
          <a:prstGeom prst="rect">
            <a:avLst/>
          </a:prstGeom>
          <a:noFill/>
          <a:ln/>
        </p:spPr>
        <p:txBody>
          <a:bodyPr wrap="none" lIns="0" tIns="0" rIns="0" bIns="0" rtlCol="0" anchor="t">
            <a:spAutoFit/>
          </a:bodyPr>
          <a:lstStyle/>
          <a:p>
            <a:pPr algn="ctr" indent="0" marL="0">
              <a:lnSpc>
                <a:spcPts val="1100"/>
              </a:lnSpc>
              <a:buNone/>
            </a:pPr>
            <a:r>
              <a:rPr lang="en-US" sz="834" dirty="0">
                <a:solidFill>
                  <a:srgbClr val="FFD700"/>
                </a:solidFill>
              </a:rPr>
              <a:t>모든 기대의 중심</a:t>
            </a:r>
            <a:endParaRPr lang="en-US" sz="834" dirty="0"/>
          </a:p>
        </p:txBody>
      </p:sp>
      <p:sp>
        <p:nvSpPr>
          <p:cNvPr id="43" name="Shape 38"/>
          <p:cNvSpPr/>
          <p:nvPr/>
        </p:nvSpPr>
        <p:spPr>
          <a:xfrm>
            <a:off x="6729413" y="2521744"/>
            <a:ext cx="1414463" cy="1003697"/>
          </a:xfrm>
          <a:prstGeom prst="rect">
            <a:avLst/>
          </a:prstGeom>
          <a:solidFill>
            <a:srgbClr val="FF69B4">
              <a:alpha val="10000"/>
            </a:srgbClr>
          </a:solidFill>
          <a:ln w="27432">
            <a:solidFill>
              <a:srgbClr val="FF69B4"/>
            </a:solidFill>
            <a:prstDash val="solid"/>
          </a:ln>
        </p:spPr>
      </p:sp>
      <p:pic>
        <p:nvPicPr>
          <p:cNvPr id="44" name="Image 3" descr="preencoded.png">    </p:cNvPr>
          <p:cNvPicPr>
            <a:picLocks noChangeAspect="1"/>
          </p:cNvPicPr>
          <p:nvPr/>
        </p:nvPicPr>
        <p:blipFill>
          <a:blip r:embed="rId4"/>
          <a:stretch>
            <a:fillRect/>
          </a:stretch>
        </p:blipFill>
        <p:spPr>
          <a:xfrm>
            <a:off x="6893719" y="2657475"/>
            <a:ext cx="1143000" cy="285750"/>
          </a:xfrm>
          <a:prstGeom prst="rect">
            <a:avLst/>
          </a:prstGeom>
        </p:spPr>
      </p:pic>
      <p:sp>
        <p:nvSpPr>
          <p:cNvPr id="45" name="Text 39"/>
          <p:cNvSpPr/>
          <p:nvPr/>
        </p:nvSpPr>
        <p:spPr>
          <a:xfrm>
            <a:off x="6893719" y="3014663"/>
            <a:ext cx="1143000" cy="194667"/>
          </a:xfrm>
          <a:prstGeom prst="rect">
            <a:avLst/>
          </a:prstGeom>
          <a:noFill/>
          <a:ln/>
        </p:spPr>
        <p:txBody>
          <a:bodyPr wrap="none" lIns="0" tIns="0" rIns="0" bIns="0" rtlCol="0" anchor="t">
            <a:spAutoFit/>
          </a:bodyPr>
          <a:lstStyle/>
          <a:p>
            <a:pPr algn="ctr" indent="0" marL="0">
              <a:lnSpc>
                <a:spcPts val="1300"/>
              </a:lnSpc>
              <a:buNone/>
            </a:pPr>
            <a:r>
              <a:rPr lang="en-US" sz="922" b="1" dirty="0">
                <a:solidFill>
                  <a:srgbClr val="FFFFFF"/>
                </a:solidFill>
              </a:rPr>
              <a:t>강성과</a:t>
            </a:r>
            <a:endParaRPr lang="en-US" sz="922" dirty="0"/>
          </a:p>
        </p:txBody>
      </p:sp>
      <p:sp>
        <p:nvSpPr>
          <p:cNvPr id="46" name="Text 40"/>
          <p:cNvSpPr/>
          <p:nvPr/>
        </p:nvSpPr>
        <p:spPr>
          <a:xfrm>
            <a:off x="6893719" y="3245048"/>
            <a:ext cx="1143000" cy="144661"/>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FFFFFF"/>
                </a:solidFill>
              </a:rPr>
              <a:t>최종 보스 (에코스)</a:t>
            </a:r>
            <a:endParaRPr lang="en-US" sz="727" dirty="0"/>
          </a:p>
        </p:txBody>
      </p:sp>
      <p:sp>
        <p:nvSpPr>
          <p:cNvPr id="47" name="Shape 41"/>
          <p:cNvSpPr/>
          <p:nvPr/>
        </p:nvSpPr>
        <p:spPr>
          <a:xfrm>
            <a:off x="3864769" y="3627239"/>
            <a:ext cx="1414463" cy="1003697"/>
          </a:xfrm>
          <a:prstGeom prst="rect">
            <a:avLst/>
          </a:prstGeom>
          <a:solidFill>
            <a:srgbClr val="00CED1">
              <a:alpha val="10000"/>
            </a:srgbClr>
          </a:solidFill>
          <a:ln w="27432">
            <a:solidFill>
              <a:srgbClr val="00CED1"/>
            </a:solidFill>
            <a:prstDash val="solid"/>
          </a:ln>
        </p:spPr>
      </p:sp>
      <p:pic>
        <p:nvPicPr>
          <p:cNvPr id="48" name="Image 4" descr="preencoded.png">    </p:cNvPr>
          <p:cNvPicPr>
            <a:picLocks noChangeAspect="1"/>
          </p:cNvPicPr>
          <p:nvPr/>
        </p:nvPicPr>
        <p:blipFill>
          <a:blip r:embed="rId5"/>
          <a:stretch>
            <a:fillRect/>
          </a:stretch>
        </p:blipFill>
        <p:spPr>
          <a:xfrm>
            <a:off x="4000500" y="3791545"/>
            <a:ext cx="1143000" cy="285750"/>
          </a:xfrm>
          <a:prstGeom prst="rect">
            <a:avLst/>
          </a:prstGeom>
        </p:spPr>
      </p:pic>
      <p:sp>
        <p:nvSpPr>
          <p:cNvPr id="49" name="Text 42"/>
          <p:cNvSpPr/>
          <p:nvPr/>
        </p:nvSpPr>
        <p:spPr>
          <a:xfrm>
            <a:off x="4000500" y="4148733"/>
            <a:ext cx="1143000" cy="194667"/>
          </a:xfrm>
          <a:prstGeom prst="rect">
            <a:avLst/>
          </a:prstGeom>
          <a:noFill/>
          <a:ln/>
        </p:spPr>
        <p:txBody>
          <a:bodyPr wrap="none" lIns="0" tIns="0" rIns="0" bIns="0" rtlCol="0" anchor="t">
            <a:spAutoFit/>
          </a:bodyPr>
          <a:lstStyle/>
          <a:p>
            <a:pPr algn="ctr" indent="0" marL="0">
              <a:lnSpc>
                <a:spcPts val="1300"/>
              </a:lnSpc>
              <a:buNone/>
            </a:pPr>
            <a:r>
              <a:rPr lang="en-US" sz="922" b="1" dirty="0">
                <a:solidFill>
                  <a:srgbClr val="FFFFFF"/>
                </a:solidFill>
              </a:rPr>
              <a:t>마을 사람들</a:t>
            </a:r>
            <a:endParaRPr lang="en-US" sz="922" dirty="0"/>
          </a:p>
        </p:txBody>
      </p:sp>
      <p:sp>
        <p:nvSpPr>
          <p:cNvPr id="50" name="Text 43"/>
          <p:cNvSpPr/>
          <p:nvPr/>
        </p:nvSpPr>
        <p:spPr>
          <a:xfrm>
            <a:off x="4000500" y="4379119"/>
            <a:ext cx="1143000" cy="144661"/>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FFFFFF"/>
                </a:solidFill>
              </a:rPr>
              <a:t>생존과 보호 요청</a:t>
            </a:r>
            <a:endParaRPr lang="en-US" sz="727" dirty="0"/>
          </a:p>
        </p:txBody>
      </p:sp>
      <p:sp>
        <p:nvSpPr>
          <p:cNvPr id="51" name="Shape 44"/>
          <p:cNvSpPr/>
          <p:nvPr/>
        </p:nvSpPr>
        <p:spPr>
          <a:xfrm>
            <a:off x="6015038" y="1416248"/>
            <a:ext cx="1414463" cy="1003697"/>
          </a:xfrm>
          <a:prstGeom prst="rect">
            <a:avLst/>
          </a:prstGeom>
          <a:solidFill>
            <a:srgbClr val="FF69B4">
              <a:alpha val="10000"/>
            </a:srgbClr>
          </a:solidFill>
          <a:ln w="27432">
            <a:solidFill>
              <a:srgbClr val="FF69B4"/>
            </a:solidFill>
            <a:prstDash val="solid"/>
          </a:ln>
        </p:spPr>
      </p:sp>
      <p:pic>
        <p:nvPicPr>
          <p:cNvPr id="52" name="Image 5" descr="preencoded.png">    </p:cNvPr>
          <p:cNvPicPr>
            <a:picLocks noChangeAspect="1"/>
          </p:cNvPicPr>
          <p:nvPr/>
        </p:nvPicPr>
        <p:blipFill>
          <a:blip r:embed="rId6"/>
          <a:stretch>
            <a:fillRect/>
          </a:stretch>
        </p:blipFill>
        <p:spPr>
          <a:xfrm>
            <a:off x="6179344" y="1523405"/>
            <a:ext cx="1143000" cy="285750"/>
          </a:xfrm>
          <a:prstGeom prst="rect">
            <a:avLst/>
          </a:prstGeom>
        </p:spPr>
      </p:pic>
      <p:sp>
        <p:nvSpPr>
          <p:cNvPr id="53" name="Text 45"/>
          <p:cNvSpPr/>
          <p:nvPr/>
        </p:nvSpPr>
        <p:spPr>
          <a:xfrm>
            <a:off x="6179344" y="1880592"/>
            <a:ext cx="1143000" cy="194667"/>
          </a:xfrm>
          <a:prstGeom prst="rect">
            <a:avLst/>
          </a:prstGeom>
          <a:noFill/>
          <a:ln/>
        </p:spPr>
        <p:txBody>
          <a:bodyPr wrap="none" lIns="0" tIns="0" rIns="0" bIns="0" rtlCol="0" anchor="t">
            <a:spAutoFit/>
          </a:bodyPr>
          <a:lstStyle/>
          <a:p>
            <a:pPr algn="ctr" indent="0" marL="0">
              <a:lnSpc>
                <a:spcPts val="1300"/>
              </a:lnSpc>
              <a:buNone/>
            </a:pPr>
            <a:r>
              <a:rPr lang="en-US" sz="922" b="1" dirty="0">
                <a:solidFill>
                  <a:srgbClr val="FFFFFF"/>
                </a:solidFill>
              </a:rPr>
              <a:t>변이자</a:t>
            </a:r>
            <a:endParaRPr lang="en-US" sz="922" dirty="0"/>
          </a:p>
        </p:txBody>
      </p:sp>
      <p:sp>
        <p:nvSpPr>
          <p:cNvPr id="54" name="Text 46"/>
          <p:cNvSpPr/>
          <p:nvPr/>
        </p:nvSpPr>
        <p:spPr>
          <a:xfrm>
            <a:off x="6179344" y="2110978"/>
            <a:ext cx="1143000" cy="144661"/>
          </a:xfrm>
          <a:prstGeom prst="rect">
            <a:avLst/>
          </a:prstGeom>
          <a:noFill/>
          <a:ln/>
        </p:spPr>
        <p:txBody>
          <a:bodyPr wrap="none" lIns="0" tIns="0" rIns="0" bIns="0" rtlCol="0" anchor="t">
            <a:spAutoFit/>
          </a:bodyPr>
          <a:lstStyle/>
          <a:p>
            <a:pPr algn="ctr" indent="0" marL="0">
              <a:lnSpc>
                <a:spcPts val="900"/>
              </a:lnSpc>
              <a:buNone/>
            </a:pPr>
            <a:r>
              <a:rPr lang="en-US" sz="727" dirty="0">
                <a:solidFill>
                  <a:srgbClr val="FFFFFF"/>
                </a:solidFill>
              </a:rPr>
              <a:t>선동된 적대 세력</a:t>
            </a:r>
            <a:endParaRPr lang="en-US" sz="727"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427464"/>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주인공 소개</a:t>
            </a:r>
            <a:endParaRPr lang="en-US" sz="1808" dirty="0"/>
          </a:p>
        </p:txBody>
      </p:sp>
      <p:sp>
        <p:nvSpPr>
          <p:cNvPr id="5" name="Shape 2"/>
          <p:cNvSpPr/>
          <p:nvPr/>
        </p:nvSpPr>
        <p:spPr>
          <a:xfrm>
            <a:off x="907256" y="1059061"/>
            <a:ext cx="2257425" cy="2971800"/>
          </a:xfrm>
          <a:prstGeom prst="rect">
            <a:avLst/>
          </a:prstGeom>
          <a:solidFill>
            <a:srgbClr val="FFFFFF">
              <a:alpha val="5000"/>
            </a:srgbClr>
          </a:solidFill>
          <a:ln w="54864">
            <a:solidFill>
              <a:srgbClr val="FFD700"/>
            </a:solidFill>
            <a:prstDash val="solid"/>
          </a:ln>
        </p:spPr>
      </p:sp>
      <p:pic>
        <p:nvPicPr>
          <p:cNvPr id="6" name="Image 1" descr="preencoded.png">    </p:cNvPr>
          <p:cNvPicPr>
            <a:picLocks noChangeAspect="1"/>
          </p:cNvPicPr>
          <p:nvPr/>
        </p:nvPicPr>
        <p:blipFill>
          <a:blip r:embed="rId2"/>
          <a:stretch>
            <a:fillRect/>
          </a:stretch>
        </p:blipFill>
        <p:spPr>
          <a:xfrm>
            <a:off x="1321594" y="1773436"/>
            <a:ext cx="1428750" cy="1428750"/>
          </a:xfrm>
          <a:prstGeom prst="rect">
            <a:avLst/>
          </a:prstGeom>
        </p:spPr>
      </p:pic>
      <p:sp>
        <p:nvSpPr>
          <p:cNvPr id="7" name="Shape 3"/>
          <p:cNvSpPr/>
          <p:nvPr/>
        </p:nvSpPr>
        <p:spPr>
          <a:xfrm>
            <a:off x="1549050" y="3916561"/>
            <a:ext cx="973838" cy="460772"/>
          </a:xfrm>
          <a:prstGeom prst="rect">
            <a:avLst/>
          </a:prstGeom>
          <a:solidFill>
            <a:srgbClr val="FFD700"/>
          </a:solidFill>
          <a:ln w="27432">
            <a:solidFill>
              <a:srgbClr val="000000"/>
            </a:solidFill>
            <a:prstDash val="solid"/>
          </a:ln>
        </p:spPr>
      </p:sp>
      <p:sp>
        <p:nvSpPr>
          <p:cNvPr id="8" name="Text 4"/>
          <p:cNvSpPr/>
          <p:nvPr/>
        </p:nvSpPr>
        <p:spPr>
          <a:xfrm>
            <a:off x="1549050" y="3916561"/>
            <a:ext cx="973838" cy="460772"/>
          </a:xfrm>
          <a:prstGeom prst="rect">
            <a:avLst/>
          </a:prstGeom>
          <a:noFill/>
          <a:ln/>
        </p:spPr>
        <p:txBody>
          <a:bodyPr wrap="square" lIns="170053" tIns="42545" rIns="170053" bIns="42545" rtlCol="0" anchor="t">
            <a:spAutoFit/>
          </a:bodyPr>
          <a:lstStyle/>
          <a:p>
            <a:pPr algn="l" indent="0" marL="0">
              <a:lnSpc>
                <a:spcPts val="2200"/>
              </a:lnSpc>
              <a:buNone/>
            </a:pPr>
            <a:r>
              <a:rPr lang="en-US" sz="1704" dirty="0">
                <a:solidFill>
                  <a:srgbClr val="1A0D2E"/>
                </a:solidFill>
              </a:rPr>
              <a:t>차한해</a:t>
            </a:r>
            <a:endParaRPr lang="en-US" sz="1704" dirty="0"/>
          </a:p>
        </p:txBody>
      </p:sp>
      <p:sp>
        <p:nvSpPr>
          <p:cNvPr id="9" name="Shape 5"/>
          <p:cNvSpPr/>
          <p:nvPr/>
        </p:nvSpPr>
        <p:spPr>
          <a:xfrm>
            <a:off x="428625" y="4463058"/>
            <a:ext cx="1571625" cy="332184"/>
          </a:xfrm>
          <a:prstGeom prst="rect">
            <a:avLst/>
          </a:prstGeom>
          <a:solidFill>
            <a:srgbClr val="00CED1">
              <a:alpha val="10000"/>
            </a:srgbClr>
          </a:solidFill>
          <a:ln w="18288">
            <a:solidFill>
              <a:srgbClr val="00CED1"/>
            </a:solidFill>
            <a:prstDash val="solid"/>
          </a:ln>
        </p:spPr>
      </p:sp>
      <p:pic>
        <p:nvPicPr>
          <p:cNvPr id="10" name="Image 2" descr="preencoded.png">    </p:cNvPr>
          <p:cNvPicPr>
            <a:picLocks noChangeAspect="1"/>
          </p:cNvPicPr>
          <p:nvPr/>
        </p:nvPicPr>
        <p:blipFill>
          <a:blip r:embed="rId3"/>
          <a:stretch>
            <a:fillRect/>
          </a:stretch>
        </p:blipFill>
        <p:spPr>
          <a:xfrm>
            <a:off x="485775" y="4564856"/>
            <a:ext cx="128588" cy="128588"/>
          </a:xfrm>
          <a:prstGeom prst="rect">
            <a:avLst/>
          </a:prstGeom>
        </p:spPr>
      </p:pic>
      <p:sp>
        <p:nvSpPr>
          <p:cNvPr id="11" name="Text 6"/>
          <p:cNvSpPr/>
          <p:nvPr/>
        </p:nvSpPr>
        <p:spPr>
          <a:xfrm>
            <a:off x="671513" y="4534495"/>
            <a:ext cx="506648"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남색 비니</a:t>
            </a:r>
            <a:endParaRPr lang="en-US" sz="942" dirty="0"/>
          </a:p>
        </p:txBody>
      </p:sp>
      <p:sp>
        <p:nvSpPr>
          <p:cNvPr id="12" name="Shape 7"/>
          <p:cNvSpPr/>
          <p:nvPr/>
        </p:nvSpPr>
        <p:spPr>
          <a:xfrm>
            <a:off x="2071688" y="4463058"/>
            <a:ext cx="1571625" cy="332184"/>
          </a:xfrm>
          <a:prstGeom prst="rect">
            <a:avLst/>
          </a:prstGeom>
          <a:solidFill>
            <a:srgbClr val="00CED1">
              <a:alpha val="10000"/>
            </a:srgbClr>
          </a:solidFill>
          <a:ln w="18288">
            <a:solidFill>
              <a:srgbClr val="00CED1"/>
            </a:solidFill>
            <a:prstDash val="solid"/>
          </a:ln>
        </p:spPr>
      </p:sp>
      <p:pic>
        <p:nvPicPr>
          <p:cNvPr id="13" name="Image 3" descr="preencoded.png">    </p:cNvPr>
          <p:cNvPicPr>
            <a:picLocks noChangeAspect="1"/>
          </p:cNvPicPr>
          <p:nvPr/>
        </p:nvPicPr>
        <p:blipFill>
          <a:blip r:embed="rId4"/>
          <a:stretch>
            <a:fillRect/>
          </a:stretch>
        </p:blipFill>
        <p:spPr>
          <a:xfrm>
            <a:off x="2128838" y="4550569"/>
            <a:ext cx="112514" cy="128588"/>
          </a:xfrm>
          <a:prstGeom prst="rect">
            <a:avLst/>
          </a:prstGeom>
        </p:spPr>
      </p:pic>
      <p:sp>
        <p:nvSpPr>
          <p:cNvPr id="14" name="Text 8"/>
          <p:cNvSpPr/>
          <p:nvPr/>
        </p:nvSpPr>
        <p:spPr>
          <a:xfrm>
            <a:off x="2298502" y="4520208"/>
            <a:ext cx="506648"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회색 조끼</a:t>
            </a:r>
            <a:endParaRPr lang="en-US" sz="942" dirty="0"/>
          </a:p>
        </p:txBody>
      </p:sp>
      <p:sp>
        <p:nvSpPr>
          <p:cNvPr id="15" name="Shape 9"/>
          <p:cNvSpPr/>
          <p:nvPr/>
        </p:nvSpPr>
        <p:spPr>
          <a:xfrm>
            <a:off x="428625" y="4838105"/>
            <a:ext cx="1571625" cy="332184"/>
          </a:xfrm>
          <a:prstGeom prst="rect">
            <a:avLst/>
          </a:prstGeom>
          <a:solidFill>
            <a:srgbClr val="00CED1">
              <a:alpha val="10000"/>
            </a:srgbClr>
          </a:solidFill>
          <a:ln w="18288">
            <a:solidFill>
              <a:srgbClr val="00CED1"/>
            </a:solidFill>
            <a:prstDash val="solid"/>
          </a:ln>
        </p:spPr>
      </p:sp>
      <p:pic>
        <p:nvPicPr>
          <p:cNvPr id="16" name="Image 4" descr="preencoded.png">    </p:cNvPr>
          <p:cNvPicPr>
            <a:picLocks noChangeAspect="1"/>
          </p:cNvPicPr>
          <p:nvPr/>
        </p:nvPicPr>
        <p:blipFill>
          <a:blip r:embed="rId5"/>
          <a:stretch>
            <a:fillRect/>
          </a:stretch>
        </p:blipFill>
        <p:spPr>
          <a:xfrm>
            <a:off x="485775" y="4939903"/>
            <a:ext cx="128588" cy="128588"/>
          </a:xfrm>
          <a:prstGeom prst="rect">
            <a:avLst/>
          </a:prstGeom>
        </p:spPr>
      </p:pic>
      <p:sp>
        <p:nvSpPr>
          <p:cNvPr id="17" name="Text 10"/>
          <p:cNvSpPr/>
          <p:nvPr/>
        </p:nvSpPr>
        <p:spPr>
          <a:xfrm>
            <a:off x="671513" y="4909542"/>
            <a:ext cx="473218"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크로스백</a:t>
            </a:r>
            <a:endParaRPr lang="en-US" sz="942" dirty="0"/>
          </a:p>
        </p:txBody>
      </p:sp>
      <p:sp>
        <p:nvSpPr>
          <p:cNvPr id="18" name="Shape 11"/>
          <p:cNvSpPr/>
          <p:nvPr/>
        </p:nvSpPr>
        <p:spPr>
          <a:xfrm>
            <a:off x="2071688" y="4838105"/>
            <a:ext cx="1571625" cy="332184"/>
          </a:xfrm>
          <a:prstGeom prst="rect">
            <a:avLst/>
          </a:prstGeom>
          <a:solidFill>
            <a:srgbClr val="00CED1">
              <a:alpha val="10000"/>
            </a:srgbClr>
          </a:solidFill>
          <a:ln w="18288">
            <a:solidFill>
              <a:srgbClr val="00CED1"/>
            </a:solidFill>
            <a:prstDash val="solid"/>
          </a:ln>
        </p:spPr>
      </p:sp>
      <p:pic>
        <p:nvPicPr>
          <p:cNvPr id="19" name="Image 5" descr="preencoded.png">    </p:cNvPr>
          <p:cNvPicPr>
            <a:picLocks noChangeAspect="1"/>
          </p:cNvPicPr>
          <p:nvPr/>
        </p:nvPicPr>
        <p:blipFill>
          <a:blip r:embed="rId6"/>
          <a:stretch>
            <a:fillRect/>
          </a:stretch>
        </p:blipFill>
        <p:spPr>
          <a:xfrm>
            <a:off x="2128838" y="4925616"/>
            <a:ext cx="160734" cy="128588"/>
          </a:xfrm>
          <a:prstGeom prst="rect">
            <a:avLst/>
          </a:prstGeom>
        </p:spPr>
      </p:pic>
      <p:sp>
        <p:nvSpPr>
          <p:cNvPr id="20" name="Text 12"/>
          <p:cNvSpPr/>
          <p:nvPr/>
        </p:nvSpPr>
        <p:spPr>
          <a:xfrm>
            <a:off x="2346722" y="4895255"/>
            <a:ext cx="624939"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흰색 운동화</a:t>
            </a:r>
            <a:endParaRPr lang="en-US" sz="942" dirty="0"/>
          </a:p>
        </p:txBody>
      </p:sp>
      <p:sp>
        <p:nvSpPr>
          <p:cNvPr id="21" name="Shape 13"/>
          <p:cNvSpPr/>
          <p:nvPr/>
        </p:nvSpPr>
        <p:spPr>
          <a:xfrm>
            <a:off x="3929063" y="1059061"/>
            <a:ext cx="4786313" cy="1660922"/>
          </a:xfrm>
          <a:prstGeom prst="rect">
            <a:avLst/>
          </a:prstGeom>
          <a:solidFill>
            <a:srgbClr val="FFFFFF"/>
          </a:solidFill>
          <a:ln w="45720">
            <a:solidFill>
              <a:srgbClr val="000000"/>
            </a:solidFill>
            <a:prstDash val="solid"/>
          </a:ln>
        </p:spPr>
      </p:sp>
      <p:sp>
        <p:nvSpPr>
          <p:cNvPr id="22" name="Text 14"/>
          <p:cNvSpPr/>
          <p:nvPr/>
        </p:nvSpPr>
        <p:spPr>
          <a:xfrm>
            <a:off x="4071938" y="1201936"/>
            <a:ext cx="4500563" cy="303609"/>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1A0D2E"/>
                </a:solidFill>
              </a:rPr>
              <a:t>캐릭터 배경</a:t>
            </a:r>
            <a:endParaRPr lang="en-US" sz="1397" dirty="0"/>
          </a:p>
        </p:txBody>
      </p:sp>
      <p:sp>
        <p:nvSpPr>
          <p:cNvPr id="23" name="Text 15"/>
          <p:cNvSpPr/>
          <p:nvPr/>
        </p:nvSpPr>
        <p:spPr>
          <a:xfrm>
            <a:off x="4071938" y="1576983"/>
            <a:ext cx="4500563" cy="9144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1A0D2E"/>
                </a:solidFill>
              </a:rPr>
              <a:t>평범한 일상 속에서 자연스럽게 선행을 해오던 인물입니다. 스스로를 특별히 착하다고 여기지 않지만, 주변 사람들은 언제나 그를 '가장 착한 사람'으로 여겨 왔습니다. 바이러스 확산 이후 사람들을 보호하며 살아남았고, 그의 선행은 점점 선택이 아닌 당연한 역할이 되어 갑니다.</a:t>
            </a:r>
            <a:endParaRPr lang="en-US" sz="1050" dirty="0"/>
          </a:p>
        </p:txBody>
      </p:sp>
      <p:sp>
        <p:nvSpPr>
          <p:cNvPr id="24" name="Shape 16"/>
          <p:cNvSpPr/>
          <p:nvPr/>
        </p:nvSpPr>
        <p:spPr>
          <a:xfrm>
            <a:off x="3929063" y="2812852"/>
            <a:ext cx="4786313" cy="1432322"/>
          </a:xfrm>
          <a:prstGeom prst="rect">
            <a:avLst/>
          </a:prstGeom>
          <a:solidFill>
            <a:srgbClr val="FFFFFF"/>
          </a:solidFill>
          <a:ln w="45720">
            <a:solidFill>
              <a:srgbClr val="000000"/>
            </a:solidFill>
            <a:prstDash val="solid"/>
          </a:ln>
        </p:spPr>
      </p:sp>
      <p:sp>
        <p:nvSpPr>
          <p:cNvPr id="25" name="Text 17"/>
          <p:cNvSpPr/>
          <p:nvPr/>
        </p:nvSpPr>
        <p:spPr>
          <a:xfrm>
            <a:off x="4071938" y="2955727"/>
            <a:ext cx="4500563" cy="303609"/>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1A0D2E"/>
                </a:solidFill>
              </a:rPr>
              <a:t>성격 및 특징</a:t>
            </a:r>
            <a:endParaRPr lang="en-US" sz="1397" dirty="0"/>
          </a:p>
        </p:txBody>
      </p:sp>
      <p:sp>
        <p:nvSpPr>
          <p:cNvPr id="26" name="Text 18"/>
          <p:cNvSpPr/>
          <p:nvPr/>
        </p:nvSpPr>
        <p:spPr>
          <a:xfrm>
            <a:off x="4071938" y="3330773"/>
            <a:ext cx="4500563" cy="6858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1A0D2E"/>
                </a:solidFill>
              </a:rPr>
              <a:t>밝은 인상과 말 걸기 쉬운 분위기를 가졌습니다. 전투, 탐색, 선택을 통해 세계에 개입하며, 세계의 붕괴 원인을 추적하던 중 모든 사태의 중심에 '강성과'가 있음을 알게 됩니다.</a:t>
            </a:r>
            <a:endParaRPr lang="en-US" sz="1050" dirty="0"/>
          </a:p>
        </p:txBody>
      </p:sp>
      <p:sp>
        <p:nvSpPr>
          <p:cNvPr id="27" name="Shape 19"/>
          <p:cNvSpPr/>
          <p:nvPr/>
        </p:nvSpPr>
        <p:spPr>
          <a:xfrm>
            <a:off x="3929063" y="4338042"/>
            <a:ext cx="1092854" cy="289322"/>
          </a:xfrm>
          <a:prstGeom prst="rect">
            <a:avLst/>
          </a:prstGeom>
          <a:solidFill>
            <a:srgbClr val="FF69B4"/>
          </a:solidFill>
          <a:ln w="18288">
            <a:solidFill>
              <a:srgbClr val="000000"/>
            </a:solidFill>
            <a:prstDash val="solid"/>
          </a:ln>
        </p:spPr>
      </p:sp>
      <p:sp>
        <p:nvSpPr>
          <p:cNvPr id="28" name="Text 20"/>
          <p:cNvSpPr/>
          <p:nvPr/>
        </p:nvSpPr>
        <p:spPr>
          <a:xfrm>
            <a:off x="3929063" y="4338042"/>
            <a:ext cx="109285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FFFF"/>
                </a:solidFill>
              </a:rPr>
              <a:t>#평범한_선행자</a:t>
            </a:r>
            <a:endParaRPr lang="en-US" sz="942" dirty="0"/>
          </a:p>
        </p:txBody>
      </p:sp>
      <p:sp>
        <p:nvSpPr>
          <p:cNvPr id="29" name="Shape 21"/>
          <p:cNvSpPr/>
          <p:nvPr/>
        </p:nvSpPr>
        <p:spPr>
          <a:xfrm>
            <a:off x="5064779" y="4338042"/>
            <a:ext cx="974564" cy="289322"/>
          </a:xfrm>
          <a:prstGeom prst="rect">
            <a:avLst/>
          </a:prstGeom>
          <a:solidFill>
            <a:srgbClr val="FF69B4"/>
          </a:solidFill>
          <a:ln w="18288">
            <a:solidFill>
              <a:srgbClr val="000000"/>
            </a:solidFill>
            <a:prstDash val="solid"/>
          </a:ln>
        </p:spPr>
      </p:sp>
      <p:sp>
        <p:nvSpPr>
          <p:cNvPr id="30" name="Text 22"/>
          <p:cNvSpPr/>
          <p:nvPr/>
        </p:nvSpPr>
        <p:spPr>
          <a:xfrm>
            <a:off x="5064779" y="4338042"/>
            <a:ext cx="97456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FFFF"/>
                </a:solidFill>
              </a:rPr>
              <a:t>#기대의_압박</a:t>
            </a:r>
            <a:endParaRPr lang="en-US" sz="942" dirty="0"/>
          </a:p>
        </p:txBody>
      </p:sp>
      <p:sp>
        <p:nvSpPr>
          <p:cNvPr id="31" name="Shape 23"/>
          <p:cNvSpPr/>
          <p:nvPr/>
        </p:nvSpPr>
        <p:spPr>
          <a:xfrm>
            <a:off x="6082205" y="4338042"/>
            <a:ext cx="1092854" cy="289322"/>
          </a:xfrm>
          <a:prstGeom prst="rect">
            <a:avLst/>
          </a:prstGeom>
          <a:solidFill>
            <a:srgbClr val="FF69B4"/>
          </a:solidFill>
          <a:ln w="18288">
            <a:solidFill>
              <a:srgbClr val="000000"/>
            </a:solidFill>
            <a:prstDash val="solid"/>
          </a:ln>
        </p:spPr>
      </p:sp>
      <p:sp>
        <p:nvSpPr>
          <p:cNvPr id="32" name="Text 24"/>
          <p:cNvSpPr/>
          <p:nvPr/>
        </p:nvSpPr>
        <p:spPr>
          <a:xfrm>
            <a:off x="6082205" y="4338042"/>
            <a:ext cx="109285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FFFF"/>
                </a:solidFill>
              </a:rPr>
              <a:t>#소모되는_영웅</a:t>
            </a:r>
            <a:endParaRPr lang="en-US" sz="942" dirty="0"/>
          </a:p>
        </p:txBody>
      </p:sp>
      <p:sp>
        <p:nvSpPr>
          <p:cNvPr id="33" name="Shape 25"/>
          <p:cNvSpPr/>
          <p:nvPr/>
        </p:nvSpPr>
        <p:spPr>
          <a:xfrm>
            <a:off x="7217922" y="4338042"/>
            <a:ext cx="974564" cy="289322"/>
          </a:xfrm>
          <a:prstGeom prst="rect">
            <a:avLst/>
          </a:prstGeom>
          <a:solidFill>
            <a:srgbClr val="FF69B4"/>
          </a:solidFill>
          <a:ln w="18288">
            <a:solidFill>
              <a:srgbClr val="000000"/>
            </a:solidFill>
            <a:prstDash val="solid"/>
          </a:ln>
        </p:spPr>
      </p:sp>
      <p:sp>
        <p:nvSpPr>
          <p:cNvPr id="34" name="Text 26"/>
          <p:cNvSpPr/>
          <p:nvPr/>
        </p:nvSpPr>
        <p:spPr>
          <a:xfrm>
            <a:off x="7217922" y="4338042"/>
            <a:ext cx="97456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FFFF"/>
                </a:solidFill>
              </a:rPr>
              <a:t>#진실_추적자</a:t>
            </a:r>
            <a:endParaRPr lang="en-US" sz="942"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889089" cy="544711"/>
          </a:xfrm>
          <a:prstGeom prst="rect">
            <a:avLst/>
          </a:prstGeom>
          <a:solidFill>
            <a:srgbClr val="FFFFFF"/>
          </a:solidFill>
          <a:ln w="27432">
            <a:solidFill>
              <a:srgbClr val="000000"/>
            </a:solidFill>
            <a:prstDash val="solid"/>
          </a:ln>
        </p:spPr>
      </p:sp>
      <p:sp>
        <p:nvSpPr>
          <p:cNvPr id="4" name="Text 1"/>
          <p:cNvSpPr/>
          <p:nvPr/>
        </p:nvSpPr>
        <p:spPr>
          <a:xfrm>
            <a:off x="642938" y="342900"/>
            <a:ext cx="240331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플레이 구성 요소</a:t>
            </a:r>
            <a:endParaRPr lang="en-US" sz="1808" dirty="0"/>
          </a:p>
        </p:txBody>
      </p:sp>
      <p:sp>
        <p:nvSpPr>
          <p:cNvPr id="5" name="Shape 2"/>
          <p:cNvSpPr/>
          <p:nvPr/>
        </p:nvSpPr>
        <p:spPr>
          <a:xfrm>
            <a:off x="428625" y="987623"/>
            <a:ext cx="1964531" cy="1377293"/>
          </a:xfrm>
          <a:prstGeom prst="rect">
            <a:avLst/>
          </a:prstGeom>
          <a:solidFill>
            <a:srgbClr val="00CED1">
              <a:alpha val="10000"/>
            </a:srgbClr>
          </a:solidFill>
          <a:ln w="27432">
            <a:solidFill>
              <a:srgbClr val="00CED1"/>
            </a:solidFill>
            <a:prstDash val="solid"/>
          </a:ln>
        </p:spPr>
      </p:sp>
      <p:pic>
        <p:nvPicPr>
          <p:cNvPr id="6" name="Image 1" descr="preencoded.png">    </p:cNvPr>
          <p:cNvPicPr>
            <a:picLocks noChangeAspect="1"/>
          </p:cNvPicPr>
          <p:nvPr/>
        </p:nvPicPr>
        <p:blipFill>
          <a:blip r:embed="rId2"/>
          <a:stretch>
            <a:fillRect/>
          </a:stretch>
        </p:blipFill>
        <p:spPr>
          <a:xfrm>
            <a:off x="571500" y="1130498"/>
            <a:ext cx="1678781" cy="285750"/>
          </a:xfrm>
          <a:prstGeom prst="rect">
            <a:avLst/>
          </a:prstGeom>
        </p:spPr>
      </p:pic>
      <p:sp>
        <p:nvSpPr>
          <p:cNvPr id="7" name="Text 3"/>
          <p:cNvSpPr/>
          <p:nvPr/>
        </p:nvSpPr>
        <p:spPr>
          <a:xfrm>
            <a:off x="571500" y="1523405"/>
            <a:ext cx="1678781" cy="250031"/>
          </a:xfrm>
          <a:prstGeom prst="rect">
            <a:avLst/>
          </a:prstGeom>
          <a:noFill/>
          <a:ln/>
        </p:spPr>
        <p:txBody>
          <a:bodyPr wrap="none" lIns="0" tIns="0" rIns="0" bIns="0" rtlCol="0" anchor="t">
            <a:spAutoFit/>
          </a:bodyPr>
          <a:lstStyle/>
          <a:p>
            <a:pPr algn="ctr" indent="0" marL="0">
              <a:lnSpc>
                <a:spcPts val="1600"/>
              </a:lnSpc>
              <a:buNone/>
            </a:pPr>
            <a:r>
              <a:rPr lang="en-US" sz="1193" b="1" dirty="0">
                <a:solidFill>
                  <a:srgbClr val="FFD700"/>
                </a:solidFill>
              </a:rPr>
              <a:t>상호작용</a:t>
            </a:r>
            <a:endParaRPr lang="en-US" sz="1193" dirty="0"/>
          </a:p>
        </p:txBody>
      </p:sp>
      <p:sp>
        <p:nvSpPr>
          <p:cNvPr id="8" name="Text 4"/>
          <p:cNvSpPr/>
          <p:nvPr/>
        </p:nvSpPr>
        <p:spPr>
          <a:xfrm>
            <a:off x="571500" y="1844873"/>
            <a:ext cx="1678781" cy="320018"/>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NPC와의 양방향 대화.</a:t>
            </a:r>
            <a:pPr algn="ctr" indent="0" marL="0">
              <a:lnSpc>
                <a:spcPts val="1300"/>
              </a:lnSpc>
              <a:buNone/>
            </a:pPr>
            <a:r>
              <a:rPr lang="en-US" sz="834" dirty="0">
                <a:solidFill>
                  <a:srgbClr val="E0E0E0"/>
                </a:solidFill>
              </a:rPr>
              <a:t>
</a:t>
            </a:r>
            <a:pPr algn="ctr" indent="0" marL="0">
              <a:lnSpc>
                <a:spcPts val="1300"/>
              </a:lnSpc>
              <a:buNone/>
            </a:pPr>
            <a:r>
              <a:rPr lang="en-US" sz="834" dirty="0">
                <a:solidFill>
                  <a:srgbClr val="E0E0E0"/>
                </a:solidFill>
              </a:rPr>
              <a:t>선택에 따른 스토리 변화.</a:t>
            </a:r>
            <a:endParaRPr lang="en-US" sz="834" dirty="0"/>
          </a:p>
        </p:txBody>
      </p:sp>
      <p:sp>
        <p:nvSpPr>
          <p:cNvPr id="9" name="Shape 5"/>
          <p:cNvSpPr/>
          <p:nvPr/>
        </p:nvSpPr>
        <p:spPr>
          <a:xfrm>
            <a:off x="2536031" y="987623"/>
            <a:ext cx="1964531" cy="1377293"/>
          </a:xfrm>
          <a:prstGeom prst="rect">
            <a:avLst/>
          </a:prstGeom>
          <a:solidFill>
            <a:srgbClr val="00CED1">
              <a:alpha val="10000"/>
            </a:srgbClr>
          </a:solidFill>
          <a:ln w="27432">
            <a:solidFill>
              <a:srgbClr val="00CED1"/>
            </a:solidFill>
            <a:prstDash val="solid"/>
          </a:ln>
        </p:spPr>
      </p:sp>
      <p:pic>
        <p:nvPicPr>
          <p:cNvPr id="10" name="Image 2" descr="preencoded.png">    </p:cNvPr>
          <p:cNvPicPr>
            <a:picLocks noChangeAspect="1"/>
          </p:cNvPicPr>
          <p:nvPr/>
        </p:nvPicPr>
        <p:blipFill>
          <a:blip r:embed="rId3"/>
          <a:stretch>
            <a:fillRect/>
          </a:stretch>
        </p:blipFill>
        <p:spPr>
          <a:xfrm>
            <a:off x="2678906" y="1130498"/>
            <a:ext cx="1678781" cy="285750"/>
          </a:xfrm>
          <a:prstGeom prst="rect">
            <a:avLst/>
          </a:prstGeom>
        </p:spPr>
      </p:pic>
      <p:sp>
        <p:nvSpPr>
          <p:cNvPr id="11" name="Text 6"/>
          <p:cNvSpPr/>
          <p:nvPr/>
        </p:nvSpPr>
        <p:spPr>
          <a:xfrm>
            <a:off x="2678906" y="1523405"/>
            <a:ext cx="1678781" cy="250031"/>
          </a:xfrm>
          <a:prstGeom prst="rect">
            <a:avLst/>
          </a:prstGeom>
          <a:noFill/>
          <a:ln/>
        </p:spPr>
        <p:txBody>
          <a:bodyPr wrap="none" lIns="0" tIns="0" rIns="0" bIns="0" rtlCol="0" anchor="t">
            <a:spAutoFit/>
          </a:bodyPr>
          <a:lstStyle/>
          <a:p>
            <a:pPr algn="ctr" indent="0" marL="0">
              <a:lnSpc>
                <a:spcPts val="1600"/>
              </a:lnSpc>
              <a:buNone/>
            </a:pPr>
            <a:r>
              <a:rPr lang="en-US" sz="1193" b="1" dirty="0">
                <a:solidFill>
                  <a:srgbClr val="FFD700"/>
                </a:solidFill>
              </a:rPr>
              <a:t>전투</a:t>
            </a:r>
            <a:endParaRPr lang="en-US" sz="1193" dirty="0"/>
          </a:p>
        </p:txBody>
      </p:sp>
      <p:sp>
        <p:nvSpPr>
          <p:cNvPr id="12" name="Text 7"/>
          <p:cNvSpPr/>
          <p:nvPr/>
        </p:nvSpPr>
        <p:spPr>
          <a:xfrm>
            <a:off x="2678906" y="1844873"/>
            <a:ext cx="1678781" cy="320018"/>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공격 및 패턴 대응.</a:t>
            </a:r>
            <a:pPr algn="ctr" indent="0" marL="0">
              <a:lnSpc>
                <a:spcPts val="1300"/>
              </a:lnSpc>
              <a:buNone/>
            </a:pPr>
            <a:r>
              <a:rPr lang="en-US" sz="834" dirty="0">
                <a:solidFill>
                  <a:srgbClr val="E0E0E0"/>
                </a:solidFill>
              </a:rPr>
              <a:t>
</a:t>
            </a:r>
            <a:pPr algn="ctr" indent="0" marL="0">
              <a:lnSpc>
                <a:spcPts val="1300"/>
              </a:lnSpc>
              <a:buNone/>
            </a:pPr>
            <a:r>
              <a:rPr lang="en-US" sz="834" dirty="0">
                <a:solidFill>
                  <a:srgbClr val="E0E0E0"/>
                </a:solidFill>
              </a:rPr>
              <a:t>긴장감 넘치는 보스전.</a:t>
            </a:r>
            <a:endParaRPr lang="en-US" sz="834" dirty="0"/>
          </a:p>
        </p:txBody>
      </p:sp>
      <p:sp>
        <p:nvSpPr>
          <p:cNvPr id="13" name="Shape 8"/>
          <p:cNvSpPr/>
          <p:nvPr/>
        </p:nvSpPr>
        <p:spPr>
          <a:xfrm>
            <a:off x="4643438" y="987623"/>
            <a:ext cx="1964531" cy="1377293"/>
          </a:xfrm>
          <a:prstGeom prst="rect">
            <a:avLst/>
          </a:prstGeom>
          <a:solidFill>
            <a:srgbClr val="00CED1">
              <a:alpha val="10000"/>
            </a:srgbClr>
          </a:solidFill>
          <a:ln w="27432">
            <a:solidFill>
              <a:srgbClr val="00CED1"/>
            </a:solidFill>
            <a:prstDash val="solid"/>
          </a:ln>
        </p:spPr>
      </p:sp>
      <p:pic>
        <p:nvPicPr>
          <p:cNvPr id="14" name="Image 3" descr="preencoded.png">    </p:cNvPr>
          <p:cNvPicPr>
            <a:picLocks noChangeAspect="1"/>
          </p:cNvPicPr>
          <p:nvPr/>
        </p:nvPicPr>
        <p:blipFill>
          <a:blip r:embed="rId4"/>
          <a:stretch>
            <a:fillRect/>
          </a:stretch>
        </p:blipFill>
        <p:spPr>
          <a:xfrm>
            <a:off x="4786313" y="1130498"/>
            <a:ext cx="1678781" cy="285750"/>
          </a:xfrm>
          <a:prstGeom prst="rect">
            <a:avLst/>
          </a:prstGeom>
        </p:spPr>
      </p:pic>
      <p:sp>
        <p:nvSpPr>
          <p:cNvPr id="15" name="Text 9"/>
          <p:cNvSpPr/>
          <p:nvPr/>
        </p:nvSpPr>
        <p:spPr>
          <a:xfrm>
            <a:off x="4786313" y="1523405"/>
            <a:ext cx="1678781" cy="250031"/>
          </a:xfrm>
          <a:prstGeom prst="rect">
            <a:avLst/>
          </a:prstGeom>
          <a:noFill/>
          <a:ln/>
        </p:spPr>
        <p:txBody>
          <a:bodyPr wrap="none" lIns="0" tIns="0" rIns="0" bIns="0" rtlCol="0" anchor="t">
            <a:spAutoFit/>
          </a:bodyPr>
          <a:lstStyle/>
          <a:p>
            <a:pPr algn="ctr" indent="0" marL="0">
              <a:lnSpc>
                <a:spcPts val="1600"/>
              </a:lnSpc>
              <a:buNone/>
            </a:pPr>
            <a:r>
              <a:rPr lang="en-US" sz="1193" b="1" dirty="0">
                <a:solidFill>
                  <a:srgbClr val="FFD700"/>
                </a:solidFill>
              </a:rPr>
              <a:t>퍼즐</a:t>
            </a:r>
            <a:endParaRPr lang="en-US" sz="1193" dirty="0"/>
          </a:p>
        </p:txBody>
      </p:sp>
      <p:sp>
        <p:nvSpPr>
          <p:cNvPr id="16" name="Text 10"/>
          <p:cNvSpPr/>
          <p:nvPr/>
        </p:nvSpPr>
        <p:spPr>
          <a:xfrm>
            <a:off x="4786313" y="1844873"/>
            <a:ext cx="1678781" cy="320018"/>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관찰과 순서 맞추기.</a:t>
            </a:r>
            <a:pPr algn="ctr" indent="0" marL="0">
              <a:lnSpc>
                <a:spcPts val="1300"/>
              </a:lnSpc>
              <a:buNone/>
            </a:pPr>
            <a:r>
              <a:rPr lang="en-US" sz="834" dirty="0">
                <a:solidFill>
                  <a:srgbClr val="E0E0E0"/>
                </a:solidFill>
              </a:rPr>
              <a:t>
</a:t>
            </a:r>
            <a:pPr algn="ctr" indent="0" marL="0">
              <a:lnSpc>
                <a:spcPts val="1300"/>
              </a:lnSpc>
              <a:buNone/>
            </a:pPr>
            <a:r>
              <a:rPr lang="en-US" sz="834" dirty="0">
                <a:solidFill>
                  <a:srgbClr val="E0E0E0"/>
                </a:solidFill>
              </a:rPr>
              <a:t>조건 충족을 통한 진행.</a:t>
            </a:r>
            <a:endParaRPr lang="en-US" sz="834" dirty="0"/>
          </a:p>
        </p:txBody>
      </p:sp>
      <p:sp>
        <p:nvSpPr>
          <p:cNvPr id="17" name="Shape 11"/>
          <p:cNvSpPr/>
          <p:nvPr/>
        </p:nvSpPr>
        <p:spPr>
          <a:xfrm>
            <a:off x="6750844" y="987623"/>
            <a:ext cx="1964531" cy="1377293"/>
          </a:xfrm>
          <a:prstGeom prst="rect">
            <a:avLst/>
          </a:prstGeom>
          <a:solidFill>
            <a:srgbClr val="00CED1">
              <a:alpha val="10000"/>
            </a:srgbClr>
          </a:solidFill>
          <a:ln w="27432">
            <a:solidFill>
              <a:srgbClr val="00CED1"/>
            </a:solidFill>
            <a:prstDash val="solid"/>
          </a:ln>
        </p:spPr>
      </p:sp>
      <p:pic>
        <p:nvPicPr>
          <p:cNvPr id="18" name="Image 4" descr="preencoded.png">    </p:cNvPr>
          <p:cNvPicPr>
            <a:picLocks noChangeAspect="1"/>
          </p:cNvPicPr>
          <p:nvPr/>
        </p:nvPicPr>
        <p:blipFill>
          <a:blip r:embed="rId5"/>
          <a:stretch>
            <a:fillRect/>
          </a:stretch>
        </p:blipFill>
        <p:spPr>
          <a:xfrm>
            <a:off x="6893719" y="1130498"/>
            <a:ext cx="1678781" cy="285750"/>
          </a:xfrm>
          <a:prstGeom prst="rect">
            <a:avLst/>
          </a:prstGeom>
        </p:spPr>
      </p:pic>
      <p:sp>
        <p:nvSpPr>
          <p:cNvPr id="19" name="Text 12"/>
          <p:cNvSpPr/>
          <p:nvPr/>
        </p:nvSpPr>
        <p:spPr>
          <a:xfrm>
            <a:off x="6893719" y="1523405"/>
            <a:ext cx="1678781" cy="250031"/>
          </a:xfrm>
          <a:prstGeom prst="rect">
            <a:avLst/>
          </a:prstGeom>
          <a:noFill/>
          <a:ln/>
        </p:spPr>
        <p:txBody>
          <a:bodyPr wrap="none" lIns="0" tIns="0" rIns="0" bIns="0" rtlCol="0" anchor="t">
            <a:spAutoFit/>
          </a:bodyPr>
          <a:lstStyle/>
          <a:p>
            <a:pPr algn="ctr" indent="0" marL="0">
              <a:lnSpc>
                <a:spcPts val="1600"/>
              </a:lnSpc>
              <a:buNone/>
            </a:pPr>
            <a:r>
              <a:rPr lang="en-US" sz="1193" b="1" dirty="0">
                <a:solidFill>
                  <a:srgbClr val="FFD700"/>
                </a:solidFill>
              </a:rPr>
              <a:t>탐색</a:t>
            </a:r>
            <a:endParaRPr lang="en-US" sz="1193" dirty="0"/>
          </a:p>
        </p:txBody>
      </p:sp>
      <p:sp>
        <p:nvSpPr>
          <p:cNvPr id="20" name="Text 13"/>
          <p:cNvSpPr/>
          <p:nvPr/>
        </p:nvSpPr>
        <p:spPr>
          <a:xfrm>
            <a:off x="6893719" y="1844873"/>
            <a:ext cx="1678781" cy="320018"/>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이동 및 숨겨진 요소 발견.</a:t>
            </a:r>
            <a:pPr algn="ctr" indent="0" marL="0">
              <a:lnSpc>
                <a:spcPts val="1300"/>
              </a:lnSpc>
              <a:buNone/>
            </a:pPr>
            <a:r>
              <a:rPr lang="en-US" sz="834" dirty="0">
                <a:solidFill>
                  <a:srgbClr val="E0E0E0"/>
                </a:solidFill>
              </a:rPr>
              <a:t>
</a:t>
            </a:r>
            <a:pPr algn="ctr" indent="0" marL="0">
              <a:lnSpc>
                <a:spcPts val="1300"/>
              </a:lnSpc>
              <a:buNone/>
            </a:pPr>
            <a:r>
              <a:rPr lang="en-US" sz="834" dirty="0">
                <a:solidFill>
                  <a:srgbClr val="E0E0E0"/>
                </a:solidFill>
              </a:rPr>
              <a:t>세계관 정보 습득.</a:t>
            </a:r>
            <a:endParaRPr lang="en-US" sz="834" dirty="0"/>
          </a:p>
        </p:txBody>
      </p:sp>
      <p:sp>
        <p:nvSpPr>
          <p:cNvPr id="21" name="Shape 14"/>
          <p:cNvSpPr/>
          <p:nvPr/>
        </p:nvSpPr>
        <p:spPr>
          <a:xfrm>
            <a:off x="428625" y="2593516"/>
            <a:ext cx="8286750" cy="1818084"/>
          </a:xfrm>
          <a:prstGeom prst="rect">
            <a:avLst/>
          </a:prstGeom>
          <a:solidFill>
            <a:srgbClr val="FFFFFF">
              <a:alpha val="5000"/>
            </a:srgbClr>
          </a:solidFill>
          <a:ln w="27432">
            <a:solidFill>
              <a:srgbClr val="FFD700"/>
            </a:solidFill>
            <a:prstDash val="dash"/>
          </a:ln>
        </p:spPr>
      </p:sp>
      <p:sp>
        <p:nvSpPr>
          <p:cNvPr id="22" name="Text 15"/>
          <p:cNvSpPr/>
          <p:nvPr/>
        </p:nvSpPr>
        <p:spPr>
          <a:xfrm>
            <a:off x="607219" y="2772110"/>
            <a:ext cx="7929563" cy="289322"/>
          </a:xfrm>
          <a:prstGeom prst="rect">
            <a:avLst/>
          </a:prstGeom>
          <a:noFill/>
          <a:ln/>
        </p:spPr>
        <p:txBody>
          <a:bodyPr wrap="none" lIns="0" tIns="0" rIns="0" bIns="0" rtlCol="0" anchor="t">
            <a:spAutoFit/>
          </a:bodyPr>
          <a:lstStyle/>
          <a:p>
            <a:pPr algn="ctr" indent="0" marL="0">
              <a:lnSpc>
                <a:spcPts val="1900"/>
              </a:lnSpc>
              <a:buNone/>
            </a:pPr>
            <a:r>
              <a:rPr lang="en-US" sz="1397" b="1" dirty="0">
                <a:solidFill>
                  <a:srgbClr val="FFD700"/>
                </a:solidFill>
              </a:rPr>
              <a:t>조작 키 구성 (Control Mapping)</a:t>
            </a:r>
            <a:endParaRPr lang="en-US" sz="1397" dirty="0"/>
          </a:p>
        </p:txBody>
      </p:sp>
      <p:sp>
        <p:nvSpPr>
          <p:cNvPr id="23" name="Shape 16"/>
          <p:cNvSpPr/>
          <p:nvPr/>
        </p:nvSpPr>
        <p:spPr>
          <a:xfrm>
            <a:off x="607219" y="3204307"/>
            <a:ext cx="472632" cy="414338"/>
          </a:xfrm>
          <a:prstGeom prst="rect">
            <a:avLst/>
          </a:prstGeom>
          <a:solidFill>
            <a:srgbClr val="FFFFFF"/>
          </a:solidFill>
          <a:ln w="27432">
            <a:solidFill>
              <a:srgbClr val="000000"/>
            </a:solidFill>
            <a:prstDash val="solid"/>
          </a:ln>
        </p:spPr>
      </p:sp>
      <p:sp>
        <p:nvSpPr>
          <p:cNvPr id="24" name="Text 17"/>
          <p:cNvSpPr/>
          <p:nvPr/>
        </p:nvSpPr>
        <p:spPr>
          <a:xfrm>
            <a:off x="607219" y="3204307"/>
            <a:ext cx="472632"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WASD</a:t>
            </a:r>
            <a:endParaRPr lang="en-US" sz="987" dirty="0"/>
          </a:p>
        </p:txBody>
      </p:sp>
      <p:sp>
        <p:nvSpPr>
          <p:cNvPr id="25" name="Text 18"/>
          <p:cNvSpPr/>
          <p:nvPr/>
        </p:nvSpPr>
        <p:spPr>
          <a:xfrm>
            <a:off x="1129857" y="3307891"/>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이동</a:t>
            </a:r>
            <a:endParaRPr lang="en-US" sz="1050" dirty="0"/>
          </a:p>
        </p:txBody>
      </p:sp>
      <p:sp>
        <p:nvSpPr>
          <p:cNvPr id="26" name="Shape 19"/>
          <p:cNvSpPr/>
          <p:nvPr/>
        </p:nvSpPr>
        <p:spPr>
          <a:xfrm>
            <a:off x="2625328" y="3204307"/>
            <a:ext cx="414338" cy="414338"/>
          </a:xfrm>
          <a:prstGeom prst="rect">
            <a:avLst/>
          </a:prstGeom>
          <a:solidFill>
            <a:srgbClr val="FFFFFF"/>
          </a:solidFill>
          <a:ln w="27432">
            <a:solidFill>
              <a:srgbClr val="000000"/>
            </a:solidFill>
            <a:prstDash val="solid"/>
          </a:ln>
        </p:spPr>
      </p:sp>
      <p:sp>
        <p:nvSpPr>
          <p:cNvPr id="27" name="Text 20"/>
          <p:cNvSpPr/>
          <p:nvPr/>
        </p:nvSpPr>
        <p:spPr>
          <a:xfrm>
            <a:off x="2625328" y="3204307"/>
            <a:ext cx="414338"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E</a:t>
            </a:r>
            <a:endParaRPr lang="en-US" sz="987" dirty="0"/>
          </a:p>
        </p:txBody>
      </p:sp>
      <p:sp>
        <p:nvSpPr>
          <p:cNvPr id="28" name="Text 21"/>
          <p:cNvSpPr/>
          <p:nvPr/>
        </p:nvSpPr>
        <p:spPr>
          <a:xfrm>
            <a:off x="3089672" y="3307891"/>
            <a:ext cx="525791"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상호작용</a:t>
            </a:r>
            <a:endParaRPr lang="en-US" sz="1050" dirty="0"/>
          </a:p>
        </p:txBody>
      </p:sp>
      <p:sp>
        <p:nvSpPr>
          <p:cNvPr id="29" name="Shape 22"/>
          <p:cNvSpPr/>
          <p:nvPr/>
        </p:nvSpPr>
        <p:spPr>
          <a:xfrm>
            <a:off x="4643438" y="3204307"/>
            <a:ext cx="414338" cy="414338"/>
          </a:xfrm>
          <a:prstGeom prst="rect">
            <a:avLst/>
          </a:prstGeom>
          <a:solidFill>
            <a:srgbClr val="FFFFFF"/>
          </a:solidFill>
          <a:ln w="27432">
            <a:solidFill>
              <a:srgbClr val="000000"/>
            </a:solidFill>
            <a:prstDash val="solid"/>
          </a:ln>
        </p:spPr>
      </p:sp>
      <p:sp>
        <p:nvSpPr>
          <p:cNvPr id="30" name="Text 23"/>
          <p:cNvSpPr/>
          <p:nvPr/>
        </p:nvSpPr>
        <p:spPr>
          <a:xfrm>
            <a:off x="4643438" y="3204307"/>
            <a:ext cx="414338"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F</a:t>
            </a:r>
            <a:endParaRPr lang="en-US" sz="987" dirty="0"/>
          </a:p>
        </p:txBody>
      </p:sp>
      <p:sp>
        <p:nvSpPr>
          <p:cNvPr id="31" name="Text 24"/>
          <p:cNvSpPr/>
          <p:nvPr/>
        </p:nvSpPr>
        <p:spPr>
          <a:xfrm>
            <a:off x="5107781" y="3307891"/>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조사</a:t>
            </a:r>
            <a:endParaRPr lang="en-US" sz="1050" dirty="0"/>
          </a:p>
        </p:txBody>
      </p:sp>
      <p:sp>
        <p:nvSpPr>
          <p:cNvPr id="32" name="Shape 25"/>
          <p:cNvSpPr/>
          <p:nvPr/>
        </p:nvSpPr>
        <p:spPr>
          <a:xfrm>
            <a:off x="6661547" y="3204307"/>
            <a:ext cx="414338" cy="414338"/>
          </a:xfrm>
          <a:prstGeom prst="rect">
            <a:avLst/>
          </a:prstGeom>
          <a:solidFill>
            <a:srgbClr val="FFFFFF"/>
          </a:solidFill>
          <a:ln w="27432">
            <a:solidFill>
              <a:srgbClr val="000000"/>
            </a:solidFill>
            <a:prstDash val="solid"/>
          </a:ln>
        </p:spPr>
      </p:sp>
      <p:sp>
        <p:nvSpPr>
          <p:cNvPr id="33" name="Text 26"/>
          <p:cNvSpPr/>
          <p:nvPr/>
        </p:nvSpPr>
        <p:spPr>
          <a:xfrm>
            <a:off x="6661547" y="3204307"/>
            <a:ext cx="414338"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I</a:t>
            </a:r>
            <a:endParaRPr lang="en-US" sz="987" dirty="0"/>
          </a:p>
        </p:txBody>
      </p:sp>
      <p:sp>
        <p:nvSpPr>
          <p:cNvPr id="34" name="Text 27"/>
          <p:cNvSpPr/>
          <p:nvPr/>
        </p:nvSpPr>
        <p:spPr>
          <a:xfrm>
            <a:off x="7125891" y="3279316"/>
            <a:ext cx="525791"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인벤토리</a:t>
            </a:r>
            <a:endParaRPr lang="en-US" sz="1050" dirty="0"/>
          </a:p>
        </p:txBody>
      </p:sp>
      <p:sp>
        <p:nvSpPr>
          <p:cNvPr id="35" name="Shape 28"/>
          <p:cNvSpPr/>
          <p:nvPr/>
        </p:nvSpPr>
        <p:spPr>
          <a:xfrm>
            <a:off x="607219" y="3704369"/>
            <a:ext cx="450503" cy="414338"/>
          </a:xfrm>
          <a:prstGeom prst="rect">
            <a:avLst/>
          </a:prstGeom>
          <a:solidFill>
            <a:srgbClr val="FFFFFF"/>
          </a:solidFill>
          <a:ln w="27432">
            <a:solidFill>
              <a:srgbClr val="000000"/>
            </a:solidFill>
            <a:prstDash val="solid"/>
          </a:ln>
        </p:spPr>
      </p:sp>
      <p:sp>
        <p:nvSpPr>
          <p:cNvPr id="36" name="Text 29"/>
          <p:cNvSpPr/>
          <p:nvPr/>
        </p:nvSpPr>
        <p:spPr>
          <a:xfrm>
            <a:off x="607219" y="3704369"/>
            <a:ext cx="450503"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L-CLK</a:t>
            </a:r>
            <a:endParaRPr lang="en-US" sz="987" dirty="0"/>
          </a:p>
        </p:txBody>
      </p:sp>
      <p:sp>
        <p:nvSpPr>
          <p:cNvPr id="37" name="Text 30"/>
          <p:cNvSpPr/>
          <p:nvPr/>
        </p:nvSpPr>
        <p:spPr>
          <a:xfrm>
            <a:off x="1107728" y="3807954"/>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전투</a:t>
            </a:r>
            <a:endParaRPr lang="en-US" sz="1050" dirty="0"/>
          </a:p>
        </p:txBody>
      </p:sp>
      <p:sp>
        <p:nvSpPr>
          <p:cNvPr id="38" name="Shape 31"/>
          <p:cNvSpPr/>
          <p:nvPr/>
        </p:nvSpPr>
        <p:spPr>
          <a:xfrm>
            <a:off x="2625328" y="3704369"/>
            <a:ext cx="485217" cy="414338"/>
          </a:xfrm>
          <a:prstGeom prst="rect">
            <a:avLst/>
          </a:prstGeom>
          <a:solidFill>
            <a:srgbClr val="FFFFFF"/>
          </a:solidFill>
          <a:ln w="27432">
            <a:solidFill>
              <a:srgbClr val="000000"/>
            </a:solidFill>
            <a:prstDash val="solid"/>
          </a:ln>
        </p:spPr>
      </p:sp>
      <p:sp>
        <p:nvSpPr>
          <p:cNvPr id="39" name="Text 32"/>
          <p:cNvSpPr/>
          <p:nvPr/>
        </p:nvSpPr>
        <p:spPr>
          <a:xfrm>
            <a:off x="2625328" y="3704369"/>
            <a:ext cx="485217"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SPACE</a:t>
            </a:r>
            <a:endParaRPr lang="en-US" sz="987" dirty="0"/>
          </a:p>
        </p:txBody>
      </p:sp>
      <p:sp>
        <p:nvSpPr>
          <p:cNvPr id="40" name="Text 33"/>
          <p:cNvSpPr/>
          <p:nvPr/>
        </p:nvSpPr>
        <p:spPr>
          <a:xfrm>
            <a:off x="3160551" y="3807954"/>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점프</a:t>
            </a:r>
            <a:endParaRPr lang="en-US" sz="1050" dirty="0"/>
          </a:p>
        </p:txBody>
      </p:sp>
      <p:sp>
        <p:nvSpPr>
          <p:cNvPr id="41" name="Shape 34"/>
          <p:cNvSpPr/>
          <p:nvPr/>
        </p:nvSpPr>
        <p:spPr>
          <a:xfrm>
            <a:off x="4643438" y="3704369"/>
            <a:ext cx="461916" cy="414338"/>
          </a:xfrm>
          <a:prstGeom prst="rect">
            <a:avLst/>
          </a:prstGeom>
          <a:solidFill>
            <a:srgbClr val="FFFFFF"/>
          </a:solidFill>
          <a:ln w="27432">
            <a:solidFill>
              <a:srgbClr val="000000"/>
            </a:solidFill>
            <a:prstDash val="solid"/>
          </a:ln>
        </p:spPr>
      </p:sp>
      <p:sp>
        <p:nvSpPr>
          <p:cNvPr id="42" name="Text 35"/>
          <p:cNvSpPr/>
          <p:nvPr/>
        </p:nvSpPr>
        <p:spPr>
          <a:xfrm>
            <a:off x="4643438" y="3704369"/>
            <a:ext cx="461916"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SHIFT</a:t>
            </a:r>
            <a:endParaRPr lang="en-US" sz="987" dirty="0"/>
          </a:p>
        </p:txBody>
      </p:sp>
      <p:sp>
        <p:nvSpPr>
          <p:cNvPr id="43" name="Text 36"/>
          <p:cNvSpPr/>
          <p:nvPr/>
        </p:nvSpPr>
        <p:spPr>
          <a:xfrm>
            <a:off x="5155360" y="3807954"/>
            <a:ext cx="394357"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달리기</a:t>
            </a:r>
            <a:endParaRPr lang="en-US" sz="1050" dirty="0"/>
          </a:p>
        </p:txBody>
      </p:sp>
      <p:sp>
        <p:nvSpPr>
          <p:cNvPr id="44" name="Shape 37"/>
          <p:cNvSpPr/>
          <p:nvPr/>
        </p:nvSpPr>
        <p:spPr>
          <a:xfrm>
            <a:off x="6661547" y="3704369"/>
            <a:ext cx="414338" cy="414338"/>
          </a:xfrm>
          <a:prstGeom prst="rect">
            <a:avLst/>
          </a:prstGeom>
          <a:solidFill>
            <a:srgbClr val="FFFFFF"/>
          </a:solidFill>
          <a:ln w="27432">
            <a:solidFill>
              <a:srgbClr val="000000"/>
            </a:solidFill>
            <a:prstDash val="solid"/>
          </a:ln>
        </p:spPr>
      </p:sp>
      <p:sp>
        <p:nvSpPr>
          <p:cNvPr id="45" name="Text 38"/>
          <p:cNvSpPr/>
          <p:nvPr/>
        </p:nvSpPr>
        <p:spPr>
          <a:xfrm>
            <a:off x="6661547" y="3704369"/>
            <a:ext cx="414338" cy="414338"/>
          </a:xfrm>
          <a:prstGeom prst="rect">
            <a:avLst/>
          </a:prstGeom>
          <a:noFill/>
          <a:ln/>
        </p:spPr>
        <p:txBody>
          <a:bodyPr wrap="square" lIns="0" tIns="0" rIns="0" bIns="0" rtlCol="0" anchor="ctr">
            <a:spAutoFit/>
          </a:bodyPr>
          <a:lstStyle/>
          <a:p>
            <a:pPr algn="ctr" indent="0" marL="0">
              <a:lnSpc>
                <a:spcPts val="1400"/>
              </a:lnSpc>
              <a:buNone/>
            </a:pPr>
            <a:r>
              <a:rPr lang="en-US" sz="987" b="1" dirty="0">
                <a:solidFill>
                  <a:srgbClr val="1A0D2E"/>
                </a:solidFill>
              </a:rPr>
              <a:t>ESC</a:t>
            </a:r>
            <a:endParaRPr lang="en-US" sz="987" dirty="0"/>
          </a:p>
        </p:txBody>
      </p:sp>
      <p:sp>
        <p:nvSpPr>
          <p:cNvPr id="46" name="Text 39"/>
          <p:cNvSpPr/>
          <p:nvPr/>
        </p:nvSpPr>
        <p:spPr>
          <a:xfrm>
            <a:off x="7125891" y="3779379"/>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FFFF"/>
                </a:solidFill>
              </a:rPr>
              <a:t>메뉴</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게임 화면</a:t>
            </a:r>
            <a:endParaRPr lang="en-US" sz="1808" dirty="0"/>
          </a:p>
        </p:txBody>
      </p:sp>
      <p:sp>
        <p:nvSpPr>
          <p:cNvPr id="5" name="Shape 2"/>
          <p:cNvSpPr/>
          <p:nvPr/>
        </p:nvSpPr>
        <p:spPr>
          <a:xfrm>
            <a:off x="428625" y="987623"/>
            <a:ext cx="6215063" cy="3571875"/>
          </a:xfrm>
          <a:prstGeom prst="rect">
            <a:avLst/>
          </a:prstGeom>
          <a:solidFill>
            <a:srgbClr val="0A0514"/>
          </a:solidFill>
          <a:ln w="73152">
            <a:solidFill>
              <a:srgbClr val="333333"/>
            </a:solidFill>
            <a:prstDash val="solid"/>
          </a:ln>
        </p:spPr>
      </p:sp>
      <p:sp>
        <p:nvSpPr>
          <p:cNvPr id="6" name="Shape 3"/>
          <p:cNvSpPr/>
          <p:nvPr/>
        </p:nvSpPr>
        <p:spPr>
          <a:xfrm>
            <a:off x="571500" y="1130498"/>
            <a:ext cx="1457325" cy="171450"/>
          </a:xfrm>
          <a:prstGeom prst="rect">
            <a:avLst/>
          </a:prstGeom>
          <a:solidFill>
            <a:srgbClr val="444444"/>
          </a:solidFill>
          <a:ln w="18288">
            <a:solidFill>
              <a:srgbClr val="FFFFFF"/>
            </a:solidFill>
            <a:prstDash val="solid"/>
          </a:ln>
        </p:spPr>
      </p:sp>
      <p:sp>
        <p:nvSpPr>
          <p:cNvPr id="7" name="Shape 4"/>
          <p:cNvSpPr/>
          <p:nvPr/>
        </p:nvSpPr>
        <p:spPr>
          <a:xfrm>
            <a:off x="571500" y="1344811"/>
            <a:ext cx="1100138" cy="114300"/>
          </a:xfrm>
          <a:prstGeom prst="rect">
            <a:avLst/>
          </a:prstGeom>
          <a:solidFill>
            <a:srgbClr val="444444"/>
          </a:solidFill>
          <a:ln w="18288">
            <a:solidFill>
              <a:srgbClr val="00CED1"/>
            </a:solidFill>
            <a:prstDash val="solid"/>
          </a:ln>
        </p:spPr>
      </p:sp>
      <p:pic>
        <p:nvPicPr>
          <p:cNvPr id="8" name="Image 1" descr="preencoded.png">    </p:cNvPr>
          <p:cNvPicPr>
            <a:picLocks noChangeAspect="1"/>
          </p:cNvPicPr>
          <p:nvPr/>
        </p:nvPicPr>
        <p:blipFill>
          <a:blip r:embed="rId2"/>
          <a:stretch>
            <a:fillRect/>
          </a:stretch>
        </p:blipFill>
        <p:spPr>
          <a:xfrm>
            <a:off x="3250406" y="3057525"/>
            <a:ext cx="428625" cy="428625"/>
          </a:xfrm>
          <a:prstGeom prst="rect">
            <a:avLst/>
          </a:prstGeom>
        </p:spPr>
      </p:pic>
      <p:sp>
        <p:nvSpPr>
          <p:cNvPr id="9" name="Shape 5"/>
          <p:cNvSpPr/>
          <p:nvPr/>
        </p:nvSpPr>
        <p:spPr>
          <a:xfrm>
            <a:off x="571500" y="3545086"/>
            <a:ext cx="5786438" cy="728663"/>
          </a:xfrm>
          <a:prstGeom prst="rect">
            <a:avLst/>
          </a:prstGeom>
          <a:solidFill>
            <a:srgbClr val="000000">
              <a:alpha val="80000"/>
            </a:srgbClr>
          </a:solidFill>
          <a:ln w="27432">
            <a:solidFill>
              <a:srgbClr val="FFFFFF"/>
            </a:solidFill>
            <a:prstDash val="solid"/>
          </a:ln>
        </p:spPr>
      </p:sp>
      <p:sp>
        <p:nvSpPr>
          <p:cNvPr id="10" name="Shape 6"/>
          <p:cNvSpPr/>
          <p:nvPr/>
        </p:nvSpPr>
        <p:spPr>
          <a:xfrm>
            <a:off x="678656" y="3709392"/>
            <a:ext cx="457200" cy="457200"/>
          </a:xfrm>
          <a:prstGeom prst="rect">
            <a:avLst/>
          </a:prstGeom>
          <a:solidFill>
            <a:srgbClr val="333333"/>
          </a:solidFill>
          <a:ln w="18288">
            <a:solidFill>
              <a:srgbClr val="FFD700"/>
            </a:solidFill>
            <a:prstDash val="solid"/>
          </a:ln>
        </p:spPr>
      </p:sp>
      <p:pic>
        <p:nvPicPr>
          <p:cNvPr id="11" name="Image 2" descr="preencoded.png">    </p:cNvPr>
          <p:cNvPicPr>
            <a:picLocks noChangeAspect="1"/>
          </p:cNvPicPr>
          <p:nvPr/>
        </p:nvPicPr>
        <p:blipFill>
          <a:blip r:embed="rId3"/>
          <a:stretch>
            <a:fillRect/>
          </a:stretch>
        </p:blipFill>
        <p:spPr>
          <a:xfrm>
            <a:off x="799207" y="3845123"/>
            <a:ext cx="187523" cy="214313"/>
          </a:xfrm>
          <a:prstGeom prst="rect">
            <a:avLst/>
          </a:prstGeom>
        </p:spPr>
      </p:pic>
      <p:sp>
        <p:nvSpPr>
          <p:cNvPr id="12" name="Text 7"/>
          <p:cNvSpPr/>
          <p:nvPr/>
        </p:nvSpPr>
        <p:spPr>
          <a:xfrm>
            <a:off x="1214438" y="3737967"/>
            <a:ext cx="3497033" cy="428625"/>
          </a:xfrm>
          <a:prstGeom prst="rect">
            <a:avLst/>
          </a:prstGeom>
          <a:noFill/>
          <a:ln/>
        </p:spPr>
        <p:txBody>
          <a:bodyPr wrap="square" lIns="0" tIns="0" rIns="0" bIns="0" rtlCol="0" anchor="t">
            <a:spAutoFit/>
          </a:bodyPr>
          <a:lstStyle/>
          <a:p>
            <a:pPr algn="l" indent="0" marL="0">
              <a:lnSpc>
                <a:spcPts val="1600"/>
              </a:lnSpc>
              <a:buNone/>
            </a:pPr>
            <a:r>
              <a:rPr lang="en-US" sz="1050" dirty="0">
                <a:solidFill>
                  <a:srgbClr val="FFD700"/>
                </a:solidFill>
              </a:rPr>
              <a:t>마을 사람 A:</a:t>
            </a:r>
            <a:pPr algn="l" indent="0" marL="0">
              <a:lnSpc>
                <a:spcPts val="1600"/>
              </a:lnSpc>
              <a:buNone/>
            </a:pPr>
            <a:r>
              <a:rPr lang="en-US" sz="1050" dirty="0">
                <a:solidFill>
                  <a:srgbClr val="FFFFFF"/>
                </a:solidFill>
              </a:rPr>
              <a:t>
</a:t>
            </a:r>
            <a:pPr algn="l" indent="0" marL="0">
              <a:lnSpc>
                <a:spcPts val="1600"/>
              </a:lnSpc>
              <a:buNone/>
            </a:pPr>
            <a:r>
              <a:rPr lang="en-US" sz="1050" dirty="0">
                <a:solidFill>
                  <a:srgbClr val="FFFFFF"/>
                </a:solidFill>
              </a:rPr>
              <a:t> "부탁할게... 네가 아니면 이 일을 해줄 사람이 없어. 고마워."</a:t>
            </a:r>
            <a:endParaRPr lang="en-US" sz="1050" dirty="0"/>
          </a:p>
        </p:txBody>
      </p:sp>
      <p:sp>
        <p:nvSpPr>
          <p:cNvPr id="13" name="Shape 8"/>
          <p:cNvSpPr/>
          <p:nvPr/>
        </p:nvSpPr>
        <p:spPr>
          <a:xfrm>
            <a:off x="6786563" y="987623"/>
            <a:ext cx="1928813" cy="1076920"/>
          </a:xfrm>
          <a:prstGeom prst="rect">
            <a:avLst/>
          </a:prstGeom>
          <a:solidFill>
            <a:srgbClr val="FFD700">
              <a:alpha val="10000"/>
            </a:srgbClr>
          </a:solidFill>
          <a:ln/>
        </p:spPr>
      </p:sp>
      <p:sp>
        <p:nvSpPr>
          <p:cNvPr id="14" name="Shape 9"/>
          <p:cNvSpPr/>
          <p:nvPr/>
        </p:nvSpPr>
        <p:spPr>
          <a:xfrm>
            <a:off x="6786563" y="987623"/>
            <a:ext cx="42863" cy="1076920"/>
          </a:xfrm>
          <a:prstGeom prst="rect">
            <a:avLst/>
          </a:prstGeom>
          <a:solidFill>
            <a:srgbClr val="FFD700"/>
          </a:solidFill>
          <a:ln/>
        </p:spPr>
      </p:sp>
      <p:sp>
        <p:nvSpPr>
          <p:cNvPr id="15" name="Text 10"/>
          <p:cNvSpPr/>
          <p:nvPr/>
        </p:nvSpPr>
        <p:spPr>
          <a:xfrm>
            <a:off x="6893719" y="1094780"/>
            <a:ext cx="1714500"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비주얼 테마</a:t>
            </a:r>
            <a:endParaRPr lang="en-US" sz="1090" dirty="0"/>
          </a:p>
        </p:txBody>
      </p:sp>
      <p:sp>
        <p:nvSpPr>
          <p:cNvPr id="16" name="Text 11"/>
          <p:cNvSpPr/>
          <p:nvPr/>
        </p:nvSpPr>
        <p:spPr>
          <a:xfrm>
            <a:off x="6893719" y="1378744"/>
            <a:ext cx="1714500" cy="578644"/>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E0E0E0"/>
                </a:solidFill>
              </a:rPr>
              <a:t>픽셀 아트로 구현된 감성적인 포스트 아포칼립스 세계관. 어둠과 빛의 대비를 강조합니다.</a:t>
            </a:r>
            <a:endParaRPr lang="en-US" sz="942" dirty="0"/>
          </a:p>
        </p:txBody>
      </p:sp>
      <p:sp>
        <p:nvSpPr>
          <p:cNvPr id="17" name="Shape 12"/>
          <p:cNvSpPr/>
          <p:nvPr/>
        </p:nvSpPr>
        <p:spPr>
          <a:xfrm>
            <a:off x="6786563" y="2207419"/>
            <a:ext cx="1928813" cy="1076920"/>
          </a:xfrm>
          <a:prstGeom prst="rect">
            <a:avLst/>
          </a:prstGeom>
          <a:solidFill>
            <a:srgbClr val="FFD700">
              <a:alpha val="10000"/>
            </a:srgbClr>
          </a:solidFill>
          <a:ln/>
        </p:spPr>
      </p:sp>
      <p:sp>
        <p:nvSpPr>
          <p:cNvPr id="18" name="Shape 13"/>
          <p:cNvSpPr/>
          <p:nvPr/>
        </p:nvSpPr>
        <p:spPr>
          <a:xfrm>
            <a:off x="6786563" y="2207419"/>
            <a:ext cx="42863" cy="1076920"/>
          </a:xfrm>
          <a:prstGeom prst="rect">
            <a:avLst/>
          </a:prstGeom>
          <a:solidFill>
            <a:srgbClr val="FFD700"/>
          </a:solidFill>
          <a:ln/>
        </p:spPr>
      </p:sp>
      <p:sp>
        <p:nvSpPr>
          <p:cNvPr id="19" name="Text 14"/>
          <p:cNvSpPr/>
          <p:nvPr/>
        </p:nvSpPr>
        <p:spPr>
          <a:xfrm>
            <a:off x="6893719" y="2314575"/>
            <a:ext cx="1714500"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스포트라이트 연출</a:t>
            </a:r>
            <a:endParaRPr lang="en-US" sz="1090" dirty="0"/>
          </a:p>
        </p:txBody>
      </p:sp>
      <p:sp>
        <p:nvSpPr>
          <p:cNvPr id="20" name="Text 15"/>
          <p:cNvSpPr/>
          <p:nvPr/>
        </p:nvSpPr>
        <p:spPr>
          <a:xfrm>
            <a:off x="6893719" y="2598539"/>
            <a:ext cx="1714500" cy="578644"/>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E0E0E0"/>
                </a:solidFill>
              </a:rPr>
              <a:t>주인공에게 집중되는 시선과 기대를 시각적으로 표현. 심리적 압박감을 극대화합니다.</a:t>
            </a:r>
            <a:endParaRPr lang="en-US" sz="942" dirty="0"/>
          </a:p>
        </p:txBody>
      </p:sp>
      <p:sp>
        <p:nvSpPr>
          <p:cNvPr id="21" name="Shape 16"/>
          <p:cNvSpPr/>
          <p:nvPr/>
        </p:nvSpPr>
        <p:spPr>
          <a:xfrm>
            <a:off x="6786563" y="3427214"/>
            <a:ext cx="1928813" cy="1076920"/>
          </a:xfrm>
          <a:prstGeom prst="rect">
            <a:avLst/>
          </a:prstGeom>
          <a:solidFill>
            <a:srgbClr val="FFD700">
              <a:alpha val="10000"/>
            </a:srgbClr>
          </a:solidFill>
          <a:ln/>
        </p:spPr>
      </p:sp>
      <p:sp>
        <p:nvSpPr>
          <p:cNvPr id="22" name="Shape 17"/>
          <p:cNvSpPr/>
          <p:nvPr/>
        </p:nvSpPr>
        <p:spPr>
          <a:xfrm>
            <a:off x="6786563" y="3427214"/>
            <a:ext cx="42863" cy="1076920"/>
          </a:xfrm>
          <a:prstGeom prst="rect">
            <a:avLst/>
          </a:prstGeom>
          <a:solidFill>
            <a:srgbClr val="FFD700"/>
          </a:solidFill>
          <a:ln/>
        </p:spPr>
      </p:sp>
      <p:sp>
        <p:nvSpPr>
          <p:cNvPr id="23" name="Text 18"/>
          <p:cNvSpPr/>
          <p:nvPr/>
        </p:nvSpPr>
        <p:spPr>
          <a:xfrm>
            <a:off x="6893719" y="3534370"/>
            <a:ext cx="1714500"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내러티브 UI</a:t>
            </a:r>
            <a:endParaRPr lang="en-US" sz="1090" dirty="0"/>
          </a:p>
        </p:txBody>
      </p:sp>
      <p:sp>
        <p:nvSpPr>
          <p:cNvPr id="24" name="Text 19"/>
          <p:cNvSpPr/>
          <p:nvPr/>
        </p:nvSpPr>
        <p:spPr>
          <a:xfrm>
            <a:off x="6893719" y="3818334"/>
            <a:ext cx="1714500" cy="578644"/>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E0E0E0"/>
                </a:solidFill>
              </a:rPr>
              <a:t>고전 RPG 스타일의 대화창을 통해 인물 간의 갈등과 부탁을 효과적으로 전달합니다.</a:t>
            </a:r>
            <a:endParaRPr lang="en-US" sz="942"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427464"/>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악당 소개</a:t>
            </a:r>
            <a:endParaRPr lang="en-US" sz="1808" dirty="0"/>
          </a:p>
        </p:txBody>
      </p:sp>
      <p:sp>
        <p:nvSpPr>
          <p:cNvPr id="5" name="Shape 2"/>
          <p:cNvSpPr/>
          <p:nvPr/>
        </p:nvSpPr>
        <p:spPr>
          <a:xfrm>
            <a:off x="907256" y="1059061"/>
            <a:ext cx="2257425" cy="2971800"/>
          </a:xfrm>
          <a:prstGeom prst="rect">
            <a:avLst/>
          </a:prstGeom>
          <a:solidFill>
            <a:srgbClr val="FF69B4">
              <a:alpha val="5000"/>
            </a:srgbClr>
          </a:solidFill>
          <a:ln w="54864">
            <a:solidFill>
              <a:srgbClr val="FF69B4"/>
            </a:solidFill>
            <a:prstDash val="solid"/>
          </a:ln>
        </p:spPr>
      </p:sp>
      <p:pic>
        <p:nvPicPr>
          <p:cNvPr id="6" name="Image 1" descr="preencoded.png">    </p:cNvPr>
          <p:cNvPicPr>
            <a:picLocks noChangeAspect="1"/>
          </p:cNvPicPr>
          <p:nvPr/>
        </p:nvPicPr>
        <p:blipFill>
          <a:blip r:embed="rId2"/>
          <a:stretch>
            <a:fillRect/>
          </a:stretch>
        </p:blipFill>
        <p:spPr>
          <a:xfrm>
            <a:off x="1232297" y="1773436"/>
            <a:ext cx="1607344" cy="1428750"/>
          </a:xfrm>
          <a:prstGeom prst="rect">
            <a:avLst/>
          </a:prstGeom>
        </p:spPr>
      </p:pic>
      <p:sp>
        <p:nvSpPr>
          <p:cNvPr id="7" name="Shape 3"/>
          <p:cNvSpPr/>
          <p:nvPr/>
        </p:nvSpPr>
        <p:spPr>
          <a:xfrm>
            <a:off x="1549050" y="3916561"/>
            <a:ext cx="973838" cy="460772"/>
          </a:xfrm>
          <a:prstGeom prst="rect">
            <a:avLst/>
          </a:prstGeom>
          <a:solidFill>
            <a:srgbClr val="FF69B4"/>
          </a:solidFill>
          <a:ln w="27432">
            <a:solidFill>
              <a:srgbClr val="000000"/>
            </a:solidFill>
            <a:prstDash val="solid"/>
          </a:ln>
        </p:spPr>
      </p:sp>
      <p:sp>
        <p:nvSpPr>
          <p:cNvPr id="8" name="Text 4"/>
          <p:cNvSpPr/>
          <p:nvPr/>
        </p:nvSpPr>
        <p:spPr>
          <a:xfrm>
            <a:off x="1549050" y="3916561"/>
            <a:ext cx="973838" cy="460772"/>
          </a:xfrm>
          <a:prstGeom prst="rect">
            <a:avLst/>
          </a:prstGeom>
          <a:noFill/>
          <a:ln/>
        </p:spPr>
        <p:txBody>
          <a:bodyPr wrap="square" lIns="170053" tIns="42545" rIns="170053" bIns="42545" rtlCol="0" anchor="t">
            <a:spAutoFit/>
          </a:bodyPr>
          <a:lstStyle/>
          <a:p>
            <a:pPr algn="l" indent="0" marL="0">
              <a:lnSpc>
                <a:spcPts val="2200"/>
              </a:lnSpc>
              <a:buNone/>
            </a:pPr>
            <a:r>
              <a:rPr lang="en-US" sz="1704" dirty="0">
                <a:solidFill>
                  <a:srgbClr val="FFFFFF"/>
                </a:solidFill>
              </a:rPr>
              <a:t>강성과</a:t>
            </a:r>
            <a:endParaRPr lang="en-US" sz="1704" dirty="0"/>
          </a:p>
        </p:txBody>
      </p:sp>
      <p:sp>
        <p:nvSpPr>
          <p:cNvPr id="9" name="Shape 5"/>
          <p:cNvSpPr/>
          <p:nvPr/>
        </p:nvSpPr>
        <p:spPr>
          <a:xfrm>
            <a:off x="428625" y="4463058"/>
            <a:ext cx="1571625" cy="332184"/>
          </a:xfrm>
          <a:prstGeom prst="rect">
            <a:avLst/>
          </a:prstGeom>
          <a:solidFill>
            <a:srgbClr val="FF69B4">
              <a:alpha val="10000"/>
            </a:srgbClr>
          </a:solidFill>
          <a:ln w="18288">
            <a:solidFill>
              <a:srgbClr val="FF69B4"/>
            </a:solidFill>
            <a:prstDash val="solid"/>
          </a:ln>
        </p:spPr>
      </p:sp>
      <p:pic>
        <p:nvPicPr>
          <p:cNvPr id="10" name="Image 2" descr="preencoded.png">    </p:cNvPr>
          <p:cNvPicPr>
            <a:picLocks noChangeAspect="1"/>
          </p:cNvPicPr>
          <p:nvPr/>
        </p:nvPicPr>
        <p:blipFill>
          <a:blip r:embed="rId3"/>
          <a:stretch>
            <a:fillRect/>
          </a:stretch>
        </p:blipFill>
        <p:spPr>
          <a:xfrm>
            <a:off x="485775" y="4564856"/>
            <a:ext cx="112514" cy="128588"/>
          </a:xfrm>
          <a:prstGeom prst="rect">
            <a:avLst/>
          </a:prstGeom>
        </p:spPr>
      </p:pic>
      <p:sp>
        <p:nvSpPr>
          <p:cNvPr id="11" name="Text 6"/>
          <p:cNvSpPr/>
          <p:nvPr/>
        </p:nvSpPr>
        <p:spPr>
          <a:xfrm>
            <a:off x="655439" y="4534495"/>
            <a:ext cx="624939"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연구 책임자</a:t>
            </a:r>
            <a:endParaRPr lang="en-US" sz="942" dirty="0"/>
          </a:p>
        </p:txBody>
      </p:sp>
      <p:sp>
        <p:nvSpPr>
          <p:cNvPr id="12" name="Shape 7"/>
          <p:cNvSpPr/>
          <p:nvPr/>
        </p:nvSpPr>
        <p:spPr>
          <a:xfrm>
            <a:off x="2071688" y="4463058"/>
            <a:ext cx="1571625" cy="332184"/>
          </a:xfrm>
          <a:prstGeom prst="rect">
            <a:avLst/>
          </a:prstGeom>
          <a:solidFill>
            <a:srgbClr val="FF69B4">
              <a:alpha val="10000"/>
            </a:srgbClr>
          </a:solidFill>
          <a:ln w="18288">
            <a:solidFill>
              <a:srgbClr val="FF69B4"/>
            </a:solidFill>
            <a:prstDash val="solid"/>
          </a:ln>
        </p:spPr>
      </p:sp>
      <p:pic>
        <p:nvPicPr>
          <p:cNvPr id="13" name="Image 3" descr="preencoded.png">    </p:cNvPr>
          <p:cNvPicPr>
            <a:picLocks noChangeAspect="1"/>
          </p:cNvPicPr>
          <p:nvPr/>
        </p:nvPicPr>
        <p:blipFill>
          <a:blip r:embed="rId4"/>
          <a:stretch>
            <a:fillRect/>
          </a:stretch>
        </p:blipFill>
        <p:spPr>
          <a:xfrm>
            <a:off x="2128838" y="4550569"/>
            <a:ext cx="144661" cy="128588"/>
          </a:xfrm>
          <a:prstGeom prst="rect">
            <a:avLst/>
          </a:prstGeom>
        </p:spPr>
      </p:pic>
      <p:sp>
        <p:nvSpPr>
          <p:cNvPr id="14" name="Text 8"/>
          <p:cNvSpPr/>
          <p:nvPr/>
        </p:nvSpPr>
        <p:spPr>
          <a:xfrm>
            <a:off x="2330648" y="4520208"/>
            <a:ext cx="624939"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냉철한 판단</a:t>
            </a:r>
            <a:endParaRPr lang="en-US" sz="942" dirty="0"/>
          </a:p>
        </p:txBody>
      </p:sp>
      <p:sp>
        <p:nvSpPr>
          <p:cNvPr id="15" name="Shape 9"/>
          <p:cNvSpPr/>
          <p:nvPr/>
        </p:nvSpPr>
        <p:spPr>
          <a:xfrm>
            <a:off x="428625" y="4838105"/>
            <a:ext cx="1571625" cy="332184"/>
          </a:xfrm>
          <a:prstGeom prst="rect">
            <a:avLst/>
          </a:prstGeom>
          <a:solidFill>
            <a:srgbClr val="FF69B4">
              <a:alpha val="10000"/>
            </a:srgbClr>
          </a:solidFill>
          <a:ln w="18288">
            <a:solidFill>
              <a:srgbClr val="FF69B4"/>
            </a:solidFill>
            <a:prstDash val="solid"/>
          </a:ln>
        </p:spPr>
      </p:sp>
      <p:pic>
        <p:nvPicPr>
          <p:cNvPr id="16" name="Image 4" descr="preencoded.png">    </p:cNvPr>
          <p:cNvPicPr>
            <a:picLocks noChangeAspect="1"/>
          </p:cNvPicPr>
          <p:nvPr/>
        </p:nvPicPr>
        <p:blipFill>
          <a:blip r:embed="rId5"/>
          <a:stretch>
            <a:fillRect/>
          </a:stretch>
        </p:blipFill>
        <p:spPr>
          <a:xfrm>
            <a:off x="485775" y="4939903"/>
            <a:ext cx="128588" cy="128588"/>
          </a:xfrm>
          <a:prstGeom prst="rect">
            <a:avLst/>
          </a:prstGeom>
        </p:spPr>
      </p:pic>
      <p:sp>
        <p:nvSpPr>
          <p:cNvPr id="17" name="Text 10"/>
          <p:cNvSpPr/>
          <p:nvPr/>
        </p:nvSpPr>
        <p:spPr>
          <a:xfrm>
            <a:off x="671513" y="4909542"/>
            <a:ext cx="624939"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실험적 신념</a:t>
            </a:r>
            <a:endParaRPr lang="en-US" sz="942" dirty="0"/>
          </a:p>
        </p:txBody>
      </p:sp>
      <p:sp>
        <p:nvSpPr>
          <p:cNvPr id="18" name="Shape 11"/>
          <p:cNvSpPr/>
          <p:nvPr/>
        </p:nvSpPr>
        <p:spPr>
          <a:xfrm>
            <a:off x="2071688" y="4838105"/>
            <a:ext cx="1571625" cy="332184"/>
          </a:xfrm>
          <a:prstGeom prst="rect">
            <a:avLst/>
          </a:prstGeom>
          <a:solidFill>
            <a:srgbClr val="FF69B4">
              <a:alpha val="10000"/>
            </a:srgbClr>
          </a:solidFill>
          <a:ln w="18288">
            <a:solidFill>
              <a:srgbClr val="FF69B4"/>
            </a:solidFill>
            <a:prstDash val="solid"/>
          </a:ln>
        </p:spPr>
      </p:sp>
      <p:pic>
        <p:nvPicPr>
          <p:cNvPr id="19" name="Image 5" descr="preencoded.png">    </p:cNvPr>
          <p:cNvPicPr>
            <a:picLocks noChangeAspect="1"/>
          </p:cNvPicPr>
          <p:nvPr/>
        </p:nvPicPr>
        <p:blipFill>
          <a:blip r:embed="rId6"/>
          <a:stretch>
            <a:fillRect/>
          </a:stretch>
        </p:blipFill>
        <p:spPr>
          <a:xfrm>
            <a:off x="2128838" y="4925616"/>
            <a:ext cx="112514" cy="128588"/>
          </a:xfrm>
          <a:prstGeom prst="rect">
            <a:avLst/>
          </a:prstGeom>
        </p:spPr>
      </p:pic>
      <p:sp>
        <p:nvSpPr>
          <p:cNvPr id="20" name="Text 12"/>
          <p:cNvSpPr/>
          <p:nvPr/>
        </p:nvSpPr>
        <p:spPr>
          <a:xfrm>
            <a:off x="2298502" y="4895255"/>
            <a:ext cx="624939"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FFFF"/>
                </a:solidFill>
              </a:rPr>
              <a:t>에코스 변이</a:t>
            </a:r>
            <a:endParaRPr lang="en-US" sz="942" dirty="0"/>
          </a:p>
        </p:txBody>
      </p:sp>
      <p:sp>
        <p:nvSpPr>
          <p:cNvPr id="21" name="Shape 13"/>
          <p:cNvSpPr/>
          <p:nvPr/>
        </p:nvSpPr>
        <p:spPr>
          <a:xfrm>
            <a:off x="3929063" y="1059061"/>
            <a:ext cx="4786313" cy="1660922"/>
          </a:xfrm>
          <a:prstGeom prst="rect">
            <a:avLst/>
          </a:prstGeom>
          <a:solidFill>
            <a:srgbClr val="FFFFFF"/>
          </a:solidFill>
          <a:ln w="45720">
            <a:solidFill>
              <a:srgbClr val="000000"/>
            </a:solidFill>
            <a:prstDash val="solid"/>
          </a:ln>
        </p:spPr>
      </p:sp>
      <p:sp>
        <p:nvSpPr>
          <p:cNvPr id="22" name="Text 14"/>
          <p:cNvSpPr/>
          <p:nvPr/>
        </p:nvSpPr>
        <p:spPr>
          <a:xfrm>
            <a:off x="4071938" y="1201936"/>
            <a:ext cx="4500563" cy="303609"/>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1A0D2E"/>
                </a:solidFill>
              </a:rPr>
              <a:t>캐릭터 배경</a:t>
            </a:r>
            <a:endParaRPr lang="en-US" sz="1397" dirty="0"/>
          </a:p>
        </p:txBody>
      </p:sp>
      <p:sp>
        <p:nvSpPr>
          <p:cNvPr id="23" name="Text 15"/>
          <p:cNvSpPr/>
          <p:nvPr/>
        </p:nvSpPr>
        <p:spPr>
          <a:xfrm>
            <a:off x="4071938" y="1576983"/>
            <a:ext cx="4500563" cy="9144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1A0D2E"/>
                </a:solidFill>
              </a:rPr>
              <a:t>은하 병원 산하 감염병 연구를 총괄하던 책임자입니다. 인류 과잉과 환경 파괴를 문제로 인식하며, 인간의 수를 줄여야 지구가 유지될 수 있다고 믿어 왔습니다. 이를 위해 바이러스를 설계했고, 확산 이후에도 이를 실패가 아닌 필연적인 과정으로 받아들입니다.</a:t>
            </a:r>
            <a:endParaRPr lang="en-US" sz="1050" dirty="0"/>
          </a:p>
        </p:txBody>
      </p:sp>
      <p:sp>
        <p:nvSpPr>
          <p:cNvPr id="24" name="Shape 16"/>
          <p:cNvSpPr/>
          <p:nvPr/>
        </p:nvSpPr>
        <p:spPr>
          <a:xfrm>
            <a:off x="3929063" y="2812852"/>
            <a:ext cx="4786313" cy="1432322"/>
          </a:xfrm>
          <a:prstGeom prst="rect">
            <a:avLst/>
          </a:prstGeom>
          <a:solidFill>
            <a:srgbClr val="FFFFFF"/>
          </a:solidFill>
          <a:ln w="45720">
            <a:solidFill>
              <a:srgbClr val="000000"/>
            </a:solidFill>
            <a:prstDash val="solid"/>
          </a:ln>
        </p:spPr>
      </p:sp>
      <p:sp>
        <p:nvSpPr>
          <p:cNvPr id="25" name="Text 17"/>
          <p:cNvSpPr/>
          <p:nvPr/>
        </p:nvSpPr>
        <p:spPr>
          <a:xfrm>
            <a:off x="4071938" y="2955727"/>
            <a:ext cx="4500563" cy="303609"/>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1A0D2E"/>
                </a:solidFill>
              </a:rPr>
              <a:t>서사적 위치</a:t>
            </a:r>
            <a:endParaRPr lang="en-US" sz="1397" dirty="0"/>
          </a:p>
        </p:txBody>
      </p:sp>
      <p:sp>
        <p:nvSpPr>
          <p:cNvPr id="26" name="Text 18"/>
          <p:cNvSpPr/>
          <p:nvPr/>
        </p:nvSpPr>
        <p:spPr>
          <a:xfrm>
            <a:off x="4071938" y="3330773"/>
            <a:ext cx="4500563" cy="685800"/>
          </a:xfrm>
          <a:prstGeom prst="rect">
            <a:avLst/>
          </a:prstGeom>
          <a:noFill/>
          <a:ln/>
        </p:spPr>
        <p:txBody>
          <a:bodyPr wrap="square" lIns="0" tIns="0" rIns="0" bIns="0" rtlCol="0" anchor="t">
            <a:spAutoFit/>
          </a:bodyPr>
          <a:lstStyle/>
          <a:p>
            <a:pPr algn="l" indent="0" marL="0">
              <a:lnSpc>
                <a:spcPts val="1800"/>
              </a:lnSpc>
              <a:buNone/>
            </a:pPr>
            <a:r>
              <a:rPr lang="en-US" sz="1050" dirty="0">
                <a:solidFill>
                  <a:srgbClr val="1A0D2E"/>
                </a:solidFill>
              </a:rPr>
              <a:t>바이러스 사태의 기획자이자 가속자입니다. 끝내 스스로를 실험 대상으로 삼아 환경에 즉각 반응하는 존재 '에코스'로 변이하며, 주인공에게 '누가 이 세계에 남을 자격이 있는가'를 강요하는 판정 장치로 군림합니다.</a:t>
            </a:r>
            <a:endParaRPr lang="en-US" sz="1050" dirty="0"/>
          </a:p>
        </p:txBody>
      </p:sp>
      <p:sp>
        <p:nvSpPr>
          <p:cNvPr id="27" name="Shape 19"/>
          <p:cNvSpPr/>
          <p:nvPr/>
        </p:nvSpPr>
        <p:spPr>
          <a:xfrm>
            <a:off x="3929063" y="4338042"/>
            <a:ext cx="974564" cy="289322"/>
          </a:xfrm>
          <a:prstGeom prst="rect">
            <a:avLst/>
          </a:prstGeom>
          <a:solidFill>
            <a:srgbClr val="1A0D2E"/>
          </a:solidFill>
          <a:ln w="18288">
            <a:solidFill>
              <a:srgbClr val="FF69B4"/>
            </a:solidFill>
            <a:prstDash val="solid"/>
          </a:ln>
        </p:spPr>
      </p:sp>
      <p:sp>
        <p:nvSpPr>
          <p:cNvPr id="28" name="Text 20"/>
          <p:cNvSpPr/>
          <p:nvPr/>
        </p:nvSpPr>
        <p:spPr>
          <a:xfrm>
            <a:off x="3929063" y="4338042"/>
            <a:ext cx="97456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69B4"/>
                </a:solidFill>
              </a:rPr>
              <a:t>#신념의_집착</a:t>
            </a:r>
            <a:endParaRPr lang="en-US" sz="942" dirty="0"/>
          </a:p>
        </p:txBody>
      </p:sp>
      <p:sp>
        <p:nvSpPr>
          <p:cNvPr id="29" name="Shape 21"/>
          <p:cNvSpPr/>
          <p:nvPr/>
        </p:nvSpPr>
        <p:spPr>
          <a:xfrm>
            <a:off x="4946489" y="4338042"/>
            <a:ext cx="856273" cy="289322"/>
          </a:xfrm>
          <a:prstGeom prst="rect">
            <a:avLst/>
          </a:prstGeom>
          <a:solidFill>
            <a:srgbClr val="1A0D2E"/>
          </a:solidFill>
          <a:ln w="18288">
            <a:solidFill>
              <a:srgbClr val="FF69B4"/>
            </a:solidFill>
            <a:prstDash val="solid"/>
          </a:ln>
        </p:spPr>
      </p:sp>
      <p:sp>
        <p:nvSpPr>
          <p:cNvPr id="30" name="Text 22"/>
          <p:cNvSpPr/>
          <p:nvPr/>
        </p:nvSpPr>
        <p:spPr>
          <a:xfrm>
            <a:off x="4946489" y="4338042"/>
            <a:ext cx="856273"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69B4"/>
                </a:solidFill>
              </a:rPr>
              <a:t>#윤리_배제</a:t>
            </a:r>
            <a:endParaRPr lang="en-US" sz="942" dirty="0"/>
          </a:p>
        </p:txBody>
      </p:sp>
      <p:sp>
        <p:nvSpPr>
          <p:cNvPr id="31" name="Shape 23"/>
          <p:cNvSpPr/>
          <p:nvPr/>
        </p:nvSpPr>
        <p:spPr>
          <a:xfrm>
            <a:off x="5845625" y="4338042"/>
            <a:ext cx="1092854" cy="289322"/>
          </a:xfrm>
          <a:prstGeom prst="rect">
            <a:avLst/>
          </a:prstGeom>
          <a:solidFill>
            <a:srgbClr val="1A0D2E"/>
          </a:solidFill>
          <a:ln w="18288">
            <a:solidFill>
              <a:srgbClr val="FF69B4"/>
            </a:solidFill>
            <a:prstDash val="solid"/>
          </a:ln>
        </p:spPr>
      </p:sp>
      <p:sp>
        <p:nvSpPr>
          <p:cNvPr id="32" name="Text 24"/>
          <p:cNvSpPr/>
          <p:nvPr/>
        </p:nvSpPr>
        <p:spPr>
          <a:xfrm>
            <a:off x="5845625" y="4338042"/>
            <a:ext cx="109285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69B4"/>
                </a:solidFill>
              </a:rPr>
              <a:t>#시스템의_화신</a:t>
            </a:r>
            <a:endParaRPr lang="en-US" sz="942" dirty="0"/>
          </a:p>
        </p:txBody>
      </p:sp>
      <p:sp>
        <p:nvSpPr>
          <p:cNvPr id="33" name="Shape 25"/>
          <p:cNvSpPr/>
          <p:nvPr/>
        </p:nvSpPr>
        <p:spPr>
          <a:xfrm>
            <a:off x="6981341" y="4338042"/>
            <a:ext cx="974564" cy="289322"/>
          </a:xfrm>
          <a:prstGeom prst="rect">
            <a:avLst/>
          </a:prstGeom>
          <a:solidFill>
            <a:srgbClr val="1A0D2E"/>
          </a:solidFill>
          <a:ln w="18288">
            <a:solidFill>
              <a:srgbClr val="FF69B4"/>
            </a:solidFill>
            <a:prstDash val="solid"/>
          </a:ln>
        </p:spPr>
      </p:sp>
      <p:sp>
        <p:nvSpPr>
          <p:cNvPr id="34" name="Text 26"/>
          <p:cNvSpPr/>
          <p:nvPr/>
        </p:nvSpPr>
        <p:spPr>
          <a:xfrm>
            <a:off x="6981341" y="4338042"/>
            <a:ext cx="974564" cy="289322"/>
          </a:xfrm>
          <a:prstGeom prst="rect">
            <a:avLst/>
          </a:prstGeom>
          <a:noFill/>
          <a:ln/>
        </p:spPr>
        <p:txBody>
          <a:bodyPr wrap="square" lIns="127508" tIns="42545" rIns="127508" bIns="42545" rtlCol="0" anchor="t">
            <a:spAutoFit/>
          </a:bodyPr>
          <a:lstStyle/>
          <a:p>
            <a:pPr algn="l" indent="0" marL="0">
              <a:lnSpc>
                <a:spcPts val="1200"/>
              </a:lnSpc>
              <a:buNone/>
            </a:pPr>
            <a:r>
              <a:rPr lang="en-US" sz="942" dirty="0">
                <a:solidFill>
                  <a:srgbClr val="FF69B4"/>
                </a:solidFill>
              </a:rPr>
              <a:t>#최종_판정자</a:t>
            </a:r>
            <a:endParaRPr lang="en-US" sz="942"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3063469" cy="544711"/>
          </a:xfrm>
          <a:prstGeom prst="rect">
            <a:avLst/>
          </a:prstGeom>
          <a:solidFill>
            <a:srgbClr val="FFFFFF"/>
          </a:solidFill>
          <a:ln w="27432">
            <a:solidFill>
              <a:srgbClr val="000000"/>
            </a:solidFill>
            <a:prstDash val="solid"/>
          </a:ln>
        </p:spPr>
      </p:sp>
      <p:sp>
        <p:nvSpPr>
          <p:cNvPr id="4" name="Text 1"/>
          <p:cNvSpPr/>
          <p:nvPr/>
        </p:nvSpPr>
        <p:spPr>
          <a:xfrm>
            <a:off x="642938" y="342900"/>
            <a:ext cx="257769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악당 상세 (에코스)</a:t>
            </a:r>
            <a:endParaRPr lang="en-US" sz="1808" dirty="0"/>
          </a:p>
        </p:txBody>
      </p:sp>
      <p:sp>
        <p:nvSpPr>
          <p:cNvPr id="5" name="Shape 2"/>
          <p:cNvSpPr/>
          <p:nvPr/>
        </p:nvSpPr>
        <p:spPr>
          <a:xfrm>
            <a:off x="428625" y="987623"/>
            <a:ext cx="2857500" cy="1791295"/>
          </a:xfrm>
          <a:prstGeom prst="rect">
            <a:avLst/>
          </a:prstGeom>
          <a:solidFill>
            <a:srgbClr val="FF69B4">
              <a:alpha val="10000"/>
            </a:srgbClr>
          </a:solidFill>
          <a:ln w="27432">
            <a:solidFill>
              <a:srgbClr val="FF69B4"/>
            </a:solidFill>
            <a:prstDash val="solid"/>
          </a:ln>
        </p:spPr>
      </p:sp>
      <p:sp>
        <p:nvSpPr>
          <p:cNvPr id="6" name="Text 3"/>
          <p:cNvSpPr/>
          <p:nvPr/>
        </p:nvSpPr>
        <p:spPr>
          <a:xfrm>
            <a:off x="571500" y="1130498"/>
            <a:ext cx="2571750" cy="264319"/>
          </a:xfrm>
          <a:prstGeom prst="rect">
            <a:avLst/>
          </a:prstGeom>
          <a:noFill/>
          <a:ln/>
        </p:spPr>
        <p:txBody>
          <a:bodyPr wrap="none" lIns="0" tIns="0" rIns="0" bIns="0" rtlCol="0" anchor="t">
            <a:spAutoFit/>
          </a:bodyPr>
          <a:lstStyle/>
          <a:p>
            <a:pPr algn="l" indent="0" marL="0">
              <a:lnSpc>
                <a:spcPts val="1600"/>
              </a:lnSpc>
              <a:buNone/>
            </a:pPr>
            <a:r>
              <a:rPr lang="en-US" sz="1193" b="1" dirty="0">
                <a:solidFill>
                  <a:srgbClr val="FF69B4"/>
                </a:solidFill>
              </a:rPr>
              <a:t>1차 변이: 좀비화</a:t>
            </a:r>
            <a:endParaRPr lang="en-US" sz="1193" dirty="0"/>
          </a:p>
        </p:txBody>
      </p:sp>
      <p:pic>
        <p:nvPicPr>
          <p:cNvPr id="7" name="Image 1" descr="preencoded.png">    </p:cNvPr>
          <p:cNvPicPr>
            <a:picLocks noChangeAspect="1"/>
          </p:cNvPicPr>
          <p:nvPr/>
        </p:nvPicPr>
        <p:blipFill>
          <a:blip r:embed="rId2"/>
          <a:stretch>
            <a:fillRect/>
          </a:stretch>
        </p:blipFill>
        <p:spPr>
          <a:xfrm>
            <a:off x="1589484" y="1584127"/>
            <a:ext cx="535781" cy="428625"/>
          </a:xfrm>
          <a:prstGeom prst="rect">
            <a:avLst/>
          </a:prstGeom>
        </p:spPr>
      </p:pic>
      <p:sp>
        <p:nvSpPr>
          <p:cNvPr id="8" name="Text 4"/>
          <p:cNvSpPr/>
          <p:nvPr/>
        </p:nvSpPr>
        <p:spPr>
          <a:xfrm>
            <a:off x="571500" y="2193131"/>
            <a:ext cx="2571750" cy="385763"/>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FFFFFF"/>
                </a:solidFill>
              </a:rPr>
              <a:t>연구 가운을 유지한 인간형 상태. 이성을 잃고 신념에만 집착하는 공격적인 좀비의 모습.</a:t>
            </a:r>
            <a:endParaRPr lang="en-US" sz="942" dirty="0"/>
          </a:p>
        </p:txBody>
      </p:sp>
      <p:sp>
        <p:nvSpPr>
          <p:cNvPr id="9" name="Shape 5"/>
          <p:cNvSpPr/>
          <p:nvPr/>
        </p:nvSpPr>
        <p:spPr>
          <a:xfrm>
            <a:off x="428625" y="2864644"/>
            <a:ext cx="2857500" cy="1791295"/>
          </a:xfrm>
          <a:prstGeom prst="rect">
            <a:avLst/>
          </a:prstGeom>
          <a:solidFill>
            <a:srgbClr val="FF69B4">
              <a:alpha val="10000"/>
            </a:srgbClr>
          </a:solidFill>
          <a:ln w="27432">
            <a:solidFill>
              <a:srgbClr val="FF69B4"/>
            </a:solidFill>
            <a:prstDash val="solid"/>
          </a:ln>
        </p:spPr>
      </p:sp>
      <p:sp>
        <p:nvSpPr>
          <p:cNvPr id="10" name="Text 6"/>
          <p:cNvSpPr/>
          <p:nvPr/>
        </p:nvSpPr>
        <p:spPr>
          <a:xfrm>
            <a:off x="571500" y="3007519"/>
            <a:ext cx="2571750" cy="264319"/>
          </a:xfrm>
          <a:prstGeom prst="rect">
            <a:avLst/>
          </a:prstGeom>
          <a:noFill/>
          <a:ln/>
        </p:spPr>
        <p:txBody>
          <a:bodyPr wrap="none" lIns="0" tIns="0" rIns="0" bIns="0" rtlCol="0" anchor="t">
            <a:spAutoFit/>
          </a:bodyPr>
          <a:lstStyle/>
          <a:p>
            <a:pPr algn="l" indent="0" marL="0">
              <a:lnSpc>
                <a:spcPts val="1600"/>
              </a:lnSpc>
              <a:buNone/>
            </a:pPr>
            <a:r>
              <a:rPr lang="en-US" sz="1193" b="1" dirty="0">
                <a:solidFill>
                  <a:srgbClr val="FF69B4"/>
                </a:solidFill>
              </a:rPr>
              <a:t>2차 변이: 해골화</a:t>
            </a:r>
            <a:endParaRPr lang="en-US" sz="1193" dirty="0"/>
          </a:p>
        </p:txBody>
      </p:sp>
      <p:pic>
        <p:nvPicPr>
          <p:cNvPr id="11" name="Image 2" descr="preencoded.png">    </p:cNvPr>
          <p:cNvPicPr>
            <a:picLocks noChangeAspect="1"/>
          </p:cNvPicPr>
          <p:nvPr/>
        </p:nvPicPr>
        <p:blipFill>
          <a:blip r:embed="rId3"/>
          <a:stretch>
            <a:fillRect/>
          </a:stretch>
        </p:blipFill>
        <p:spPr>
          <a:xfrm>
            <a:off x="1643063" y="3461147"/>
            <a:ext cx="428625" cy="428625"/>
          </a:xfrm>
          <a:prstGeom prst="rect">
            <a:avLst/>
          </a:prstGeom>
        </p:spPr>
      </p:pic>
      <p:sp>
        <p:nvSpPr>
          <p:cNvPr id="12" name="Text 7"/>
          <p:cNvSpPr/>
          <p:nvPr/>
        </p:nvSpPr>
        <p:spPr>
          <a:xfrm>
            <a:off x="571500" y="4070152"/>
            <a:ext cx="2571750" cy="385763"/>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FFFFFF"/>
                </a:solidFill>
              </a:rPr>
              <a:t>인간의 형태를 벗어나 해골과 코어, 신경 구조가 노출된 기괴한 존재. 세계의 '판정 장치'로 각성.</a:t>
            </a:r>
            <a:endParaRPr lang="en-US" sz="942" dirty="0"/>
          </a:p>
        </p:txBody>
      </p:sp>
      <p:sp>
        <p:nvSpPr>
          <p:cNvPr id="13" name="Shape 8"/>
          <p:cNvSpPr/>
          <p:nvPr/>
        </p:nvSpPr>
        <p:spPr>
          <a:xfrm>
            <a:off x="3500438" y="987623"/>
            <a:ext cx="5214938" cy="742950"/>
          </a:xfrm>
          <a:prstGeom prst="rect">
            <a:avLst/>
          </a:prstGeom>
          <a:solidFill>
            <a:srgbClr val="FFFFFF">
              <a:alpha val="5000"/>
            </a:srgbClr>
          </a:solidFill>
          <a:ln w="27432">
            <a:solidFill>
              <a:srgbClr val="FFD700"/>
            </a:solidFill>
            <a:prstDash val="solid"/>
          </a:ln>
        </p:spPr>
      </p:sp>
      <p:sp>
        <p:nvSpPr>
          <p:cNvPr id="14" name="Shape 9"/>
          <p:cNvSpPr/>
          <p:nvPr/>
        </p:nvSpPr>
        <p:spPr>
          <a:xfrm>
            <a:off x="3607594" y="1094780"/>
            <a:ext cx="471488" cy="471488"/>
          </a:xfrm>
          <a:prstGeom prst="rect">
            <a:avLst/>
          </a:prstGeom>
          <a:solidFill>
            <a:srgbClr val="FFD700"/>
          </a:solidFill>
          <a:ln w="18288">
            <a:solidFill>
              <a:srgbClr val="000000"/>
            </a:solidFill>
            <a:prstDash val="solid"/>
          </a:ln>
        </p:spPr>
      </p:sp>
      <p:pic>
        <p:nvPicPr>
          <p:cNvPr id="15" name="Image 3" descr="preencoded.png">    </p:cNvPr>
          <p:cNvPicPr>
            <a:picLocks noChangeAspect="1"/>
          </p:cNvPicPr>
          <p:nvPr/>
        </p:nvPicPr>
        <p:blipFill>
          <a:blip r:embed="rId4"/>
          <a:stretch>
            <a:fillRect/>
          </a:stretch>
        </p:blipFill>
        <p:spPr>
          <a:xfrm>
            <a:off x="3714750" y="1201936"/>
            <a:ext cx="214313" cy="214313"/>
          </a:xfrm>
          <a:prstGeom prst="rect">
            <a:avLst/>
          </a:prstGeom>
        </p:spPr>
      </p:pic>
      <p:sp>
        <p:nvSpPr>
          <p:cNvPr id="16" name="Text 10"/>
          <p:cNvSpPr/>
          <p:nvPr/>
        </p:nvSpPr>
        <p:spPr>
          <a:xfrm>
            <a:off x="4179094" y="1094780"/>
            <a:ext cx="3637006"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반사 (Reflection)</a:t>
            </a:r>
            <a:endParaRPr lang="en-US" sz="1090" dirty="0"/>
          </a:p>
        </p:txBody>
      </p:sp>
      <p:sp>
        <p:nvSpPr>
          <p:cNvPr id="17" name="Text 11"/>
          <p:cNvSpPr/>
          <p:nvPr/>
        </p:nvSpPr>
        <p:spPr>
          <a:xfrm>
            <a:off x="4179094" y="1357313"/>
            <a:ext cx="3637006" cy="176808"/>
          </a:xfrm>
          <a:prstGeom prst="rect">
            <a:avLst/>
          </a:prstGeom>
          <a:noFill/>
          <a:ln/>
        </p:spPr>
        <p:txBody>
          <a:bodyPr wrap="none" lIns="0" tIns="0" rIns="0" bIns="0" rtlCol="0" anchor="t">
            <a:spAutoFit/>
          </a:bodyPr>
          <a:lstStyle/>
          <a:p>
            <a:pPr algn="l" indent="0" marL="0">
              <a:lnSpc>
                <a:spcPts val="1100"/>
              </a:lnSpc>
              <a:buNone/>
            </a:pPr>
            <a:r>
              <a:rPr lang="en-US" sz="888" dirty="0">
                <a:solidFill>
                  <a:srgbClr val="E0E0E0"/>
                </a:solidFill>
              </a:rPr>
              <a:t>플레이어의 공격을 일부 감소시켜 되돌려 보내는 방어형 공격 스킬입니다.</a:t>
            </a:r>
            <a:endParaRPr lang="en-US" sz="888" dirty="0"/>
          </a:p>
        </p:txBody>
      </p:sp>
      <p:sp>
        <p:nvSpPr>
          <p:cNvPr id="18" name="Shape 12"/>
          <p:cNvSpPr/>
          <p:nvPr/>
        </p:nvSpPr>
        <p:spPr>
          <a:xfrm>
            <a:off x="3500438" y="1748433"/>
            <a:ext cx="5214938" cy="742950"/>
          </a:xfrm>
          <a:prstGeom prst="rect">
            <a:avLst/>
          </a:prstGeom>
          <a:solidFill>
            <a:srgbClr val="FFFFFF">
              <a:alpha val="5000"/>
            </a:srgbClr>
          </a:solidFill>
          <a:ln w="27432">
            <a:solidFill>
              <a:srgbClr val="FFD700"/>
            </a:solidFill>
            <a:prstDash val="solid"/>
          </a:ln>
        </p:spPr>
      </p:sp>
      <p:sp>
        <p:nvSpPr>
          <p:cNvPr id="19" name="Shape 13"/>
          <p:cNvSpPr/>
          <p:nvPr/>
        </p:nvSpPr>
        <p:spPr>
          <a:xfrm>
            <a:off x="3607594" y="1855589"/>
            <a:ext cx="471488" cy="471488"/>
          </a:xfrm>
          <a:prstGeom prst="rect">
            <a:avLst/>
          </a:prstGeom>
          <a:solidFill>
            <a:srgbClr val="FFD700"/>
          </a:solidFill>
          <a:ln w="18288">
            <a:solidFill>
              <a:srgbClr val="000000"/>
            </a:solidFill>
            <a:prstDash val="solid"/>
          </a:ln>
        </p:spPr>
      </p:sp>
      <p:pic>
        <p:nvPicPr>
          <p:cNvPr id="20" name="Image 4" descr="preencoded.png">    </p:cNvPr>
          <p:cNvPicPr>
            <a:picLocks noChangeAspect="1"/>
          </p:cNvPicPr>
          <p:nvPr/>
        </p:nvPicPr>
        <p:blipFill>
          <a:blip r:embed="rId5"/>
          <a:stretch>
            <a:fillRect/>
          </a:stretch>
        </p:blipFill>
        <p:spPr>
          <a:xfrm>
            <a:off x="3728145" y="1962745"/>
            <a:ext cx="187523" cy="214313"/>
          </a:xfrm>
          <a:prstGeom prst="rect">
            <a:avLst/>
          </a:prstGeom>
        </p:spPr>
      </p:pic>
      <p:sp>
        <p:nvSpPr>
          <p:cNvPr id="21" name="Text 14"/>
          <p:cNvSpPr/>
          <p:nvPr/>
        </p:nvSpPr>
        <p:spPr>
          <a:xfrm>
            <a:off x="4179094" y="1855589"/>
            <a:ext cx="3861699"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조작 차단 (Control Lock)</a:t>
            </a:r>
            <a:endParaRPr lang="en-US" sz="1090" dirty="0"/>
          </a:p>
        </p:txBody>
      </p:sp>
      <p:sp>
        <p:nvSpPr>
          <p:cNvPr id="22" name="Text 15"/>
          <p:cNvSpPr/>
          <p:nvPr/>
        </p:nvSpPr>
        <p:spPr>
          <a:xfrm>
            <a:off x="4179094" y="2118122"/>
            <a:ext cx="3861699" cy="176808"/>
          </a:xfrm>
          <a:prstGeom prst="rect">
            <a:avLst/>
          </a:prstGeom>
          <a:noFill/>
          <a:ln/>
        </p:spPr>
        <p:txBody>
          <a:bodyPr wrap="none" lIns="0" tIns="0" rIns="0" bIns="0" rtlCol="0" anchor="t">
            <a:spAutoFit/>
          </a:bodyPr>
          <a:lstStyle/>
          <a:p>
            <a:pPr algn="l" indent="0" marL="0">
              <a:lnSpc>
                <a:spcPts val="1100"/>
              </a:lnSpc>
              <a:buNone/>
            </a:pPr>
            <a:r>
              <a:rPr lang="en-US" sz="888" dirty="0">
                <a:solidFill>
                  <a:srgbClr val="E0E0E0"/>
                </a:solidFill>
              </a:rPr>
              <a:t>전투 중 UI 접근을 봉쇄하여 아이템 사용 및 일시정지 메뉴를 막아 압박합니다.</a:t>
            </a:r>
            <a:endParaRPr lang="en-US" sz="888" dirty="0"/>
          </a:p>
        </p:txBody>
      </p:sp>
      <p:sp>
        <p:nvSpPr>
          <p:cNvPr id="23" name="Shape 16"/>
          <p:cNvSpPr/>
          <p:nvPr/>
        </p:nvSpPr>
        <p:spPr>
          <a:xfrm>
            <a:off x="3500438" y="2509242"/>
            <a:ext cx="5214938" cy="742950"/>
          </a:xfrm>
          <a:prstGeom prst="rect">
            <a:avLst/>
          </a:prstGeom>
          <a:solidFill>
            <a:srgbClr val="FFFFFF">
              <a:alpha val="5000"/>
            </a:srgbClr>
          </a:solidFill>
          <a:ln w="27432">
            <a:solidFill>
              <a:srgbClr val="FFD700"/>
            </a:solidFill>
            <a:prstDash val="solid"/>
          </a:ln>
        </p:spPr>
      </p:sp>
      <p:sp>
        <p:nvSpPr>
          <p:cNvPr id="24" name="Shape 17"/>
          <p:cNvSpPr/>
          <p:nvPr/>
        </p:nvSpPr>
        <p:spPr>
          <a:xfrm>
            <a:off x="3607594" y="2616398"/>
            <a:ext cx="471488" cy="471488"/>
          </a:xfrm>
          <a:prstGeom prst="rect">
            <a:avLst/>
          </a:prstGeom>
          <a:solidFill>
            <a:srgbClr val="FFD700"/>
          </a:solidFill>
          <a:ln w="18288">
            <a:solidFill>
              <a:srgbClr val="000000"/>
            </a:solidFill>
            <a:prstDash val="solid"/>
          </a:ln>
        </p:spPr>
      </p:sp>
      <p:pic>
        <p:nvPicPr>
          <p:cNvPr id="25" name="Image 5" descr="preencoded.png">    </p:cNvPr>
          <p:cNvPicPr>
            <a:picLocks noChangeAspect="1"/>
          </p:cNvPicPr>
          <p:nvPr/>
        </p:nvPicPr>
        <p:blipFill>
          <a:blip r:embed="rId6"/>
          <a:stretch>
            <a:fillRect/>
          </a:stretch>
        </p:blipFill>
        <p:spPr>
          <a:xfrm>
            <a:off x="3701355" y="2723555"/>
            <a:ext cx="241102" cy="214313"/>
          </a:xfrm>
          <a:prstGeom prst="rect">
            <a:avLst/>
          </a:prstGeom>
        </p:spPr>
      </p:pic>
      <p:sp>
        <p:nvSpPr>
          <p:cNvPr id="26" name="Text 18"/>
          <p:cNvSpPr/>
          <p:nvPr/>
        </p:nvSpPr>
        <p:spPr>
          <a:xfrm>
            <a:off x="4179094" y="2616398"/>
            <a:ext cx="3748739"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군집 소환 (Swarm)</a:t>
            </a:r>
            <a:endParaRPr lang="en-US" sz="1090" dirty="0"/>
          </a:p>
        </p:txBody>
      </p:sp>
      <p:sp>
        <p:nvSpPr>
          <p:cNvPr id="27" name="Text 19"/>
          <p:cNvSpPr/>
          <p:nvPr/>
        </p:nvSpPr>
        <p:spPr>
          <a:xfrm>
            <a:off x="4179094" y="2878931"/>
            <a:ext cx="3748739" cy="176808"/>
          </a:xfrm>
          <a:prstGeom prst="rect">
            <a:avLst/>
          </a:prstGeom>
          <a:noFill/>
          <a:ln/>
        </p:spPr>
        <p:txBody>
          <a:bodyPr wrap="none" lIns="0" tIns="0" rIns="0" bIns="0" rtlCol="0" anchor="t">
            <a:spAutoFit/>
          </a:bodyPr>
          <a:lstStyle/>
          <a:p>
            <a:pPr algn="l" indent="0" marL="0">
              <a:lnSpc>
                <a:spcPts val="1100"/>
              </a:lnSpc>
              <a:buNone/>
            </a:pPr>
            <a:r>
              <a:rPr lang="en-US" sz="888" dirty="0">
                <a:solidFill>
                  <a:srgbClr val="E0E0E0"/>
                </a:solidFill>
              </a:rPr>
              <a:t>변이 좀비 무리를 대량으로 소환하여 플레이어의 이동과 공격을 방해합니다.</a:t>
            </a:r>
            <a:endParaRPr lang="en-US" sz="888" dirty="0"/>
          </a:p>
        </p:txBody>
      </p:sp>
      <p:sp>
        <p:nvSpPr>
          <p:cNvPr id="28" name="Shape 20"/>
          <p:cNvSpPr/>
          <p:nvPr/>
        </p:nvSpPr>
        <p:spPr>
          <a:xfrm>
            <a:off x="3500438" y="3270052"/>
            <a:ext cx="5214938" cy="887611"/>
          </a:xfrm>
          <a:prstGeom prst="rect">
            <a:avLst/>
          </a:prstGeom>
          <a:solidFill>
            <a:srgbClr val="FFFFFF">
              <a:alpha val="5000"/>
            </a:srgbClr>
          </a:solidFill>
          <a:ln w="27432">
            <a:solidFill>
              <a:srgbClr val="FF69B4"/>
            </a:solidFill>
            <a:prstDash val="solid"/>
          </a:ln>
        </p:spPr>
      </p:sp>
      <p:sp>
        <p:nvSpPr>
          <p:cNvPr id="29" name="Shape 21"/>
          <p:cNvSpPr/>
          <p:nvPr/>
        </p:nvSpPr>
        <p:spPr>
          <a:xfrm>
            <a:off x="3607594" y="3377208"/>
            <a:ext cx="410989" cy="471488"/>
          </a:xfrm>
          <a:prstGeom prst="rect">
            <a:avLst/>
          </a:prstGeom>
          <a:solidFill>
            <a:srgbClr val="FF69B4"/>
          </a:solidFill>
          <a:ln w="18288">
            <a:solidFill>
              <a:srgbClr val="000000"/>
            </a:solidFill>
            <a:prstDash val="solid"/>
          </a:ln>
        </p:spPr>
      </p:sp>
      <p:pic>
        <p:nvPicPr>
          <p:cNvPr id="30" name="Image 6" descr="preencoded.png">    </p:cNvPr>
          <p:cNvPicPr>
            <a:picLocks noChangeAspect="1"/>
          </p:cNvPicPr>
          <p:nvPr/>
        </p:nvPicPr>
        <p:blipFill>
          <a:blip r:embed="rId7"/>
          <a:stretch>
            <a:fillRect/>
          </a:stretch>
        </p:blipFill>
        <p:spPr>
          <a:xfrm>
            <a:off x="3686119" y="3484364"/>
            <a:ext cx="214313" cy="214313"/>
          </a:xfrm>
          <a:prstGeom prst="rect">
            <a:avLst/>
          </a:prstGeom>
        </p:spPr>
      </p:pic>
      <p:sp>
        <p:nvSpPr>
          <p:cNvPr id="31" name="Text 22"/>
          <p:cNvSpPr/>
          <p:nvPr/>
        </p:nvSpPr>
        <p:spPr>
          <a:xfrm>
            <a:off x="4121860" y="3377208"/>
            <a:ext cx="4486359"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69B4"/>
                </a:solidFill>
              </a:rPr>
              <a:t>최종 판정 (Final Judgment)</a:t>
            </a:r>
            <a:endParaRPr lang="en-US" sz="1090" dirty="0"/>
          </a:p>
        </p:txBody>
      </p:sp>
      <p:sp>
        <p:nvSpPr>
          <p:cNvPr id="32" name="Text 23"/>
          <p:cNvSpPr/>
          <p:nvPr/>
        </p:nvSpPr>
        <p:spPr>
          <a:xfrm>
            <a:off x="4121860" y="3639741"/>
            <a:ext cx="4486359" cy="353616"/>
          </a:xfrm>
          <a:prstGeom prst="rect">
            <a:avLst/>
          </a:prstGeom>
          <a:noFill/>
          <a:ln/>
        </p:spPr>
        <p:txBody>
          <a:bodyPr wrap="square" lIns="0" tIns="0" rIns="0" bIns="0" rtlCol="0" anchor="t">
            <a:spAutoFit/>
          </a:bodyPr>
          <a:lstStyle/>
          <a:p>
            <a:pPr algn="l" indent="0" marL="0">
              <a:lnSpc>
                <a:spcPts val="1100"/>
              </a:lnSpc>
              <a:buNone/>
            </a:pPr>
            <a:r>
              <a:rPr lang="en-US" sz="888" dirty="0">
                <a:solidFill>
                  <a:srgbClr val="E0E0E0"/>
                </a:solidFill>
              </a:rPr>
              <a:t>플레이어의 HP를 1로 고정시키며, 이후 단 한 번의 피격으로도 즉사하게 만드는 극단적 긴장 구간입니다.</a:t>
            </a:r>
            <a:endParaRPr lang="en-US" sz="888"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889089" cy="544711"/>
          </a:xfrm>
          <a:prstGeom prst="rect">
            <a:avLst/>
          </a:prstGeom>
          <a:solidFill>
            <a:srgbClr val="FFFFFF"/>
          </a:solidFill>
          <a:ln w="27432">
            <a:solidFill>
              <a:srgbClr val="000000"/>
            </a:solidFill>
            <a:prstDash val="solid"/>
          </a:ln>
        </p:spPr>
      </p:sp>
      <p:sp>
        <p:nvSpPr>
          <p:cNvPr id="4" name="Text 1"/>
          <p:cNvSpPr/>
          <p:nvPr/>
        </p:nvSpPr>
        <p:spPr>
          <a:xfrm>
            <a:off x="642938" y="342900"/>
            <a:ext cx="240331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외형 및 게임화면</a:t>
            </a:r>
            <a:endParaRPr lang="en-US" sz="1808" dirty="0"/>
          </a:p>
        </p:txBody>
      </p:sp>
      <p:sp>
        <p:nvSpPr>
          <p:cNvPr id="5" name="Text 2"/>
          <p:cNvSpPr/>
          <p:nvPr/>
        </p:nvSpPr>
        <p:spPr>
          <a:xfrm>
            <a:off x="535781" y="987623"/>
            <a:ext cx="1281968" cy="289322"/>
          </a:xfrm>
          <a:prstGeom prst="rect">
            <a:avLst/>
          </a:prstGeom>
          <a:noFill/>
          <a:ln/>
        </p:spPr>
        <p:txBody>
          <a:bodyPr wrap="none" lIns="0" tIns="0" rIns="0" bIns="0" rtlCol="0" anchor="t">
            <a:spAutoFit/>
          </a:bodyPr>
          <a:lstStyle/>
          <a:p>
            <a:pPr algn="l" indent="0" marL="0">
              <a:lnSpc>
                <a:spcPts val="1900"/>
              </a:lnSpc>
              <a:buNone/>
            </a:pPr>
            <a:r>
              <a:rPr lang="en-US" sz="1486" dirty="0">
                <a:solidFill>
                  <a:srgbClr val="FFD700"/>
                </a:solidFill>
              </a:rPr>
              <a:t>전투 (Combat)</a:t>
            </a:r>
            <a:endParaRPr lang="en-US" sz="1486" dirty="0"/>
          </a:p>
        </p:txBody>
      </p:sp>
      <p:sp>
        <p:nvSpPr>
          <p:cNvPr id="6" name="Shape 3"/>
          <p:cNvSpPr/>
          <p:nvPr/>
        </p:nvSpPr>
        <p:spPr>
          <a:xfrm>
            <a:off x="428625" y="1519833"/>
            <a:ext cx="4086225" cy="2586038"/>
          </a:xfrm>
          <a:prstGeom prst="rect">
            <a:avLst/>
          </a:prstGeom>
          <a:solidFill>
            <a:srgbClr val="000000"/>
          </a:solidFill>
          <a:ln w="45720">
            <a:solidFill>
              <a:srgbClr val="FF69B4"/>
            </a:solidFill>
            <a:prstDash val="solid"/>
          </a:ln>
        </p:spPr>
      </p:sp>
      <p:sp>
        <p:nvSpPr>
          <p:cNvPr id="7" name="Shape 4"/>
          <p:cNvSpPr/>
          <p:nvPr/>
        </p:nvSpPr>
        <p:spPr>
          <a:xfrm>
            <a:off x="814388" y="1662708"/>
            <a:ext cx="3228975" cy="171450"/>
          </a:xfrm>
          <a:prstGeom prst="rect">
            <a:avLst/>
          </a:prstGeom>
          <a:solidFill>
            <a:srgbClr val="333333"/>
          </a:solidFill>
          <a:ln w="18288">
            <a:solidFill>
              <a:srgbClr val="FFFFFF"/>
            </a:solidFill>
            <a:prstDash val="solid"/>
          </a:ln>
        </p:spPr>
      </p:sp>
      <p:sp>
        <p:nvSpPr>
          <p:cNvPr id="8" name="Text 5"/>
          <p:cNvSpPr/>
          <p:nvPr/>
        </p:nvSpPr>
        <p:spPr>
          <a:xfrm>
            <a:off x="828675" y="1841302"/>
            <a:ext cx="1406621"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69B4"/>
                </a:solidFill>
              </a:rPr>
              <a:t>강성과 [에코스] - Phase 2</a:t>
            </a:r>
            <a:endParaRPr lang="en-US" sz="942" dirty="0"/>
          </a:p>
        </p:txBody>
      </p:sp>
      <p:pic>
        <p:nvPicPr>
          <p:cNvPr id="9" name="Image 1" descr="preencoded.png">    </p:cNvPr>
          <p:cNvPicPr>
            <a:picLocks noChangeAspect="1"/>
          </p:cNvPicPr>
          <p:nvPr/>
        </p:nvPicPr>
        <p:blipFill>
          <a:blip r:embed="rId2">
            <a:alphaModFix amt="50000"/>
          </a:blip>
          <a:stretch>
            <a:fillRect/>
          </a:stretch>
        </p:blipFill>
        <p:spPr>
          <a:xfrm>
            <a:off x="2027039" y="2412802"/>
            <a:ext cx="803672" cy="714375"/>
          </a:xfrm>
          <a:prstGeom prst="rect">
            <a:avLst/>
          </a:prstGeom>
        </p:spPr>
      </p:pic>
      <p:sp>
        <p:nvSpPr>
          <p:cNvPr id="10" name="Text 6"/>
          <p:cNvSpPr/>
          <p:nvPr/>
        </p:nvSpPr>
        <p:spPr>
          <a:xfrm>
            <a:off x="1942905" y="3732609"/>
            <a:ext cx="971941" cy="144661"/>
          </a:xfrm>
          <a:prstGeom prst="rect">
            <a:avLst/>
          </a:prstGeom>
          <a:noFill/>
          <a:ln/>
        </p:spPr>
        <p:txBody>
          <a:bodyPr wrap="none" lIns="0" tIns="0" rIns="0" bIns="0" rtlCol="0" anchor="t">
            <a:spAutoFit/>
          </a:bodyPr>
          <a:lstStyle/>
          <a:p>
            <a:pPr algn="l" indent="0" marL="0">
              <a:lnSpc>
                <a:spcPts val="900"/>
              </a:lnSpc>
              <a:buNone/>
            </a:pPr>
            <a:r>
              <a:rPr lang="en-US" sz="727" dirty="0">
                <a:solidFill>
                  <a:srgbClr val="FF69B4"/>
                </a:solidFill>
              </a:rPr>
              <a:t>[조작 차단] 상태 활성화</a:t>
            </a:r>
            <a:endParaRPr lang="en-US" sz="727" dirty="0"/>
          </a:p>
        </p:txBody>
      </p:sp>
      <p:sp>
        <p:nvSpPr>
          <p:cNvPr id="11" name="Shape 7"/>
          <p:cNvSpPr/>
          <p:nvPr/>
        </p:nvSpPr>
        <p:spPr>
          <a:xfrm>
            <a:off x="428625" y="4163020"/>
            <a:ext cx="4000500" cy="821531"/>
          </a:xfrm>
          <a:prstGeom prst="rect">
            <a:avLst/>
          </a:prstGeom>
          <a:solidFill>
            <a:srgbClr val="FFFFFF">
              <a:alpha val="5000"/>
            </a:srgbClr>
          </a:solidFill>
          <a:ln w="18288">
            <a:solidFill>
              <a:srgbClr val="FFD700"/>
            </a:solidFill>
            <a:prstDash val="dash"/>
          </a:ln>
        </p:spPr>
      </p:sp>
      <p:sp>
        <p:nvSpPr>
          <p:cNvPr id="12" name="Text 8"/>
          <p:cNvSpPr/>
          <p:nvPr/>
        </p:nvSpPr>
        <p:spPr>
          <a:xfrm>
            <a:off x="428625" y="4163020"/>
            <a:ext cx="4000500" cy="821531"/>
          </a:xfrm>
          <a:prstGeom prst="rect">
            <a:avLst/>
          </a:prstGeom>
          <a:noFill/>
          <a:ln/>
        </p:spPr>
        <p:txBody>
          <a:bodyPr wrap="square" lIns="127508" tIns="127508" rIns="127508" bIns="127508" rtlCol="0" anchor="t">
            <a:spAutoFit/>
          </a:bodyPr>
          <a:lstStyle/>
          <a:p>
            <a:pPr algn="l" indent="0" marL="0">
              <a:lnSpc>
                <a:spcPts val="1500"/>
              </a:lnSpc>
              <a:buNone/>
            </a:pPr>
            <a:r>
              <a:rPr lang="en-US" sz="885" b="1" dirty="0">
                <a:solidFill>
                  <a:srgbClr val="FFD700"/>
                </a:solidFill>
              </a:rPr>
              <a:t>보스전 연출:</a:t>
            </a:r>
            <a:pPr algn="l" indent="0" marL="0">
              <a:lnSpc>
                <a:spcPts val="1500"/>
              </a:lnSpc>
              <a:buNone/>
            </a:pPr>
            <a:r>
              <a:rPr lang="en-US" sz="942" dirty="0">
                <a:solidFill>
                  <a:srgbClr val="FFFFFF"/>
                </a:solidFill>
              </a:rPr>
              <a:t> 반사, 조작 차단, 군집 소환 등 플레이어를 압박하는 </a:t>
            </a:r>
            <a:pPr algn="l" indent="0" marL="0">
              <a:lnSpc>
                <a:spcPts val="1500"/>
              </a:lnSpc>
              <a:buNone/>
            </a:pPr>
            <a:r>
              <a:rPr lang="en-US" sz="885" b="1" dirty="0">
                <a:solidFill>
                  <a:srgbClr val="FFD700"/>
                </a:solidFill>
              </a:rPr>
              <a:t>강렬한 시각 효과</a:t>
            </a:r>
            <a:pPr algn="l" indent="0" marL="0">
              <a:lnSpc>
                <a:spcPts val="1500"/>
              </a:lnSpc>
              <a:buNone/>
            </a:pPr>
            <a:r>
              <a:rPr lang="en-US" sz="942" dirty="0">
                <a:solidFill>
                  <a:srgbClr val="FFFFFF"/>
                </a:solidFill>
              </a:rPr>
              <a:t>를 제공합니다. 최종 국면에서는 화면 전체가 붉게 점멸하며 </a:t>
            </a:r>
            <a:pPr algn="l" indent="0" marL="0">
              <a:lnSpc>
                <a:spcPts val="1500"/>
              </a:lnSpc>
              <a:buNone/>
            </a:pPr>
            <a:r>
              <a:rPr lang="en-US" sz="942" dirty="0">
                <a:solidFill>
                  <a:srgbClr val="FFFFFF"/>
                </a:solidFill>
              </a:rPr>
              <a:t>긴장감을 극대화합니다.</a:t>
            </a:r>
            <a:endParaRPr lang="en-US" sz="885" dirty="0"/>
          </a:p>
        </p:txBody>
      </p:sp>
      <p:pic>
        <p:nvPicPr>
          <p:cNvPr id="13" name="Image 2" descr="preencoded.png">    </p:cNvPr>
          <p:cNvPicPr>
            <a:picLocks noChangeAspect="1"/>
          </p:cNvPicPr>
          <p:nvPr/>
        </p:nvPicPr>
        <p:blipFill>
          <a:blip r:embed="rId3"/>
          <a:stretch>
            <a:fillRect/>
          </a:stretch>
        </p:blipFill>
        <p:spPr>
          <a:xfrm>
            <a:off x="4714875" y="1032272"/>
            <a:ext cx="200025" cy="200025"/>
          </a:xfrm>
          <a:prstGeom prst="rect">
            <a:avLst/>
          </a:prstGeom>
        </p:spPr>
      </p:pic>
      <p:sp>
        <p:nvSpPr>
          <p:cNvPr id="14" name="Text 9"/>
          <p:cNvSpPr/>
          <p:nvPr/>
        </p:nvSpPr>
        <p:spPr>
          <a:xfrm>
            <a:off x="5022056" y="987623"/>
            <a:ext cx="1137168" cy="289322"/>
          </a:xfrm>
          <a:prstGeom prst="rect">
            <a:avLst/>
          </a:prstGeom>
          <a:noFill/>
          <a:ln/>
        </p:spPr>
        <p:txBody>
          <a:bodyPr wrap="none" lIns="0" tIns="0" rIns="0" bIns="0" rtlCol="0" anchor="t">
            <a:spAutoFit/>
          </a:bodyPr>
          <a:lstStyle/>
          <a:p>
            <a:pPr algn="l" indent="0" marL="0">
              <a:lnSpc>
                <a:spcPts val="1900"/>
              </a:lnSpc>
              <a:buNone/>
            </a:pPr>
            <a:r>
              <a:rPr lang="en-US" sz="1486" dirty="0">
                <a:solidFill>
                  <a:srgbClr val="FFD700"/>
                </a:solidFill>
              </a:rPr>
              <a:t>퍼즐 (Puzzle)</a:t>
            </a:r>
            <a:endParaRPr lang="en-US" sz="1486" dirty="0"/>
          </a:p>
        </p:txBody>
      </p:sp>
      <p:sp>
        <p:nvSpPr>
          <p:cNvPr id="15" name="Shape 10"/>
          <p:cNvSpPr/>
          <p:nvPr/>
        </p:nvSpPr>
        <p:spPr>
          <a:xfrm>
            <a:off x="4714875" y="1519833"/>
            <a:ext cx="4086225" cy="2586038"/>
          </a:xfrm>
          <a:prstGeom prst="rect">
            <a:avLst/>
          </a:prstGeom>
          <a:solidFill>
            <a:srgbClr val="000000"/>
          </a:solidFill>
          <a:ln w="45720">
            <a:solidFill>
              <a:srgbClr val="00CED1"/>
            </a:solidFill>
            <a:prstDash val="solid"/>
          </a:ln>
        </p:spPr>
      </p:sp>
      <p:sp>
        <p:nvSpPr>
          <p:cNvPr id="16" name="Shape 11"/>
          <p:cNvSpPr/>
          <p:nvPr/>
        </p:nvSpPr>
        <p:spPr>
          <a:xfrm>
            <a:off x="5936456" y="2109192"/>
            <a:ext cx="471488" cy="471488"/>
          </a:xfrm>
          <a:prstGeom prst="rect">
            <a:avLst/>
          </a:prstGeom>
          <a:solidFill>
            <a:srgbClr val="00CED1">
              <a:alpha val="20000"/>
            </a:srgbClr>
          </a:solidFill>
          <a:ln w="18288">
            <a:solidFill>
              <a:srgbClr val="00CED1"/>
            </a:solidFill>
            <a:prstDash val="solid"/>
          </a:ln>
        </p:spPr>
      </p:sp>
      <p:pic>
        <p:nvPicPr>
          <p:cNvPr id="17" name="Image 3" descr="preencoded.png">    </p:cNvPr>
          <p:cNvPicPr>
            <a:picLocks noChangeAspect="1"/>
          </p:cNvPicPr>
          <p:nvPr/>
        </p:nvPicPr>
        <p:blipFill>
          <a:blip r:embed="rId4"/>
          <a:stretch>
            <a:fillRect/>
          </a:stretch>
        </p:blipFill>
        <p:spPr>
          <a:xfrm>
            <a:off x="6065044" y="2237780"/>
            <a:ext cx="171450" cy="171450"/>
          </a:xfrm>
          <a:prstGeom prst="rect">
            <a:avLst/>
          </a:prstGeom>
        </p:spPr>
      </p:pic>
      <p:sp>
        <p:nvSpPr>
          <p:cNvPr id="18" name="Shape 12"/>
          <p:cNvSpPr/>
          <p:nvPr/>
        </p:nvSpPr>
        <p:spPr>
          <a:xfrm>
            <a:off x="6479381" y="2109192"/>
            <a:ext cx="471488" cy="471488"/>
          </a:xfrm>
          <a:prstGeom prst="rect">
            <a:avLst/>
          </a:prstGeom>
          <a:solidFill>
            <a:srgbClr val="00CED1"/>
          </a:solidFill>
          <a:ln w="18288">
            <a:solidFill>
              <a:srgbClr val="00CED1"/>
            </a:solidFill>
            <a:prstDash val="solid"/>
          </a:ln>
        </p:spPr>
      </p:sp>
      <p:pic>
        <p:nvPicPr>
          <p:cNvPr id="19" name="Image 4" descr="preencoded.png">    </p:cNvPr>
          <p:cNvPicPr>
            <a:picLocks noChangeAspect="1"/>
          </p:cNvPicPr>
          <p:nvPr/>
        </p:nvPicPr>
        <p:blipFill>
          <a:blip r:embed="rId5"/>
          <a:stretch>
            <a:fillRect/>
          </a:stretch>
        </p:blipFill>
        <p:spPr>
          <a:xfrm>
            <a:off x="6597253" y="2237780"/>
            <a:ext cx="192881" cy="171450"/>
          </a:xfrm>
          <a:prstGeom prst="rect">
            <a:avLst/>
          </a:prstGeom>
        </p:spPr>
      </p:pic>
      <p:sp>
        <p:nvSpPr>
          <p:cNvPr id="20" name="Shape 13"/>
          <p:cNvSpPr/>
          <p:nvPr/>
        </p:nvSpPr>
        <p:spPr>
          <a:xfrm>
            <a:off x="7022306" y="2109192"/>
            <a:ext cx="471488" cy="471488"/>
          </a:xfrm>
          <a:prstGeom prst="rect">
            <a:avLst/>
          </a:prstGeom>
          <a:solidFill>
            <a:srgbClr val="00CED1">
              <a:alpha val="20000"/>
            </a:srgbClr>
          </a:solidFill>
          <a:ln w="18288">
            <a:solidFill>
              <a:srgbClr val="00CED1"/>
            </a:solidFill>
            <a:prstDash val="solid"/>
          </a:ln>
        </p:spPr>
      </p:sp>
      <p:pic>
        <p:nvPicPr>
          <p:cNvPr id="21" name="Image 5" descr="preencoded.png">    </p:cNvPr>
          <p:cNvPicPr>
            <a:picLocks noChangeAspect="1"/>
          </p:cNvPicPr>
          <p:nvPr/>
        </p:nvPicPr>
        <p:blipFill>
          <a:blip r:embed="rId6"/>
          <a:stretch>
            <a:fillRect/>
          </a:stretch>
        </p:blipFill>
        <p:spPr>
          <a:xfrm>
            <a:off x="7150894" y="2259211"/>
            <a:ext cx="171450" cy="171450"/>
          </a:xfrm>
          <a:prstGeom prst="rect">
            <a:avLst/>
          </a:prstGeom>
        </p:spPr>
      </p:pic>
      <p:sp>
        <p:nvSpPr>
          <p:cNvPr id="22" name="Shape 14"/>
          <p:cNvSpPr/>
          <p:nvPr/>
        </p:nvSpPr>
        <p:spPr>
          <a:xfrm>
            <a:off x="5936456" y="2630686"/>
            <a:ext cx="471488" cy="471488"/>
          </a:xfrm>
          <a:prstGeom prst="rect">
            <a:avLst/>
          </a:prstGeom>
          <a:solidFill>
            <a:srgbClr val="00CED1">
              <a:alpha val="20000"/>
            </a:srgbClr>
          </a:solidFill>
          <a:ln w="18288">
            <a:solidFill>
              <a:srgbClr val="00CED1"/>
            </a:solidFill>
            <a:prstDash val="solid"/>
          </a:ln>
        </p:spPr>
      </p:sp>
      <p:pic>
        <p:nvPicPr>
          <p:cNvPr id="23" name="Image 6" descr="preencoded.png">    </p:cNvPr>
          <p:cNvPicPr>
            <a:picLocks noChangeAspect="1"/>
          </p:cNvPicPr>
          <p:nvPr/>
        </p:nvPicPr>
        <p:blipFill>
          <a:blip r:embed="rId7"/>
          <a:stretch>
            <a:fillRect/>
          </a:stretch>
        </p:blipFill>
        <p:spPr>
          <a:xfrm>
            <a:off x="6086475" y="2759273"/>
            <a:ext cx="128588" cy="171450"/>
          </a:xfrm>
          <a:prstGeom prst="rect">
            <a:avLst/>
          </a:prstGeom>
        </p:spPr>
      </p:pic>
      <p:sp>
        <p:nvSpPr>
          <p:cNvPr id="24" name="Shape 15"/>
          <p:cNvSpPr/>
          <p:nvPr/>
        </p:nvSpPr>
        <p:spPr>
          <a:xfrm>
            <a:off x="6479381" y="2630686"/>
            <a:ext cx="471488" cy="471488"/>
          </a:xfrm>
          <a:prstGeom prst="rect">
            <a:avLst/>
          </a:prstGeom>
          <a:solidFill>
            <a:srgbClr val="00CED1">
              <a:alpha val="20000"/>
            </a:srgbClr>
          </a:solidFill>
          <a:ln w="18288">
            <a:solidFill>
              <a:srgbClr val="00CED1"/>
            </a:solidFill>
            <a:prstDash val="solid"/>
          </a:ln>
        </p:spPr>
      </p:sp>
      <p:pic>
        <p:nvPicPr>
          <p:cNvPr id="25" name="Image 7" descr="preencoded.png">    </p:cNvPr>
          <p:cNvPicPr>
            <a:picLocks noChangeAspect="1"/>
          </p:cNvPicPr>
          <p:nvPr/>
        </p:nvPicPr>
        <p:blipFill>
          <a:blip r:embed="rId8"/>
          <a:stretch>
            <a:fillRect/>
          </a:stretch>
        </p:blipFill>
        <p:spPr>
          <a:xfrm>
            <a:off x="6607969" y="2759273"/>
            <a:ext cx="171450" cy="171450"/>
          </a:xfrm>
          <a:prstGeom prst="rect">
            <a:avLst/>
          </a:prstGeom>
        </p:spPr>
      </p:pic>
      <p:sp>
        <p:nvSpPr>
          <p:cNvPr id="26" name="Shape 16"/>
          <p:cNvSpPr/>
          <p:nvPr/>
        </p:nvSpPr>
        <p:spPr>
          <a:xfrm>
            <a:off x="7022306" y="2630686"/>
            <a:ext cx="471488" cy="471488"/>
          </a:xfrm>
          <a:prstGeom prst="rect">
            <a:avLst/>
          </a:prstGeom>
          <a:solidFill>
            <a:srgbClr val="00CED1">
              <a:alpha val="20000"/>
            </a:srgbClr>
          </a:solidFill>
          <a:ln w="18288">
            <a:solidFill>
              <a:srgbClr val="00CED1"/>
            </a:solidFill>
            <a:prstDash val="solid"/>
          </a:ln>
        </p:spPr>
      </p:sp>
      <p:pic>
        <p:nvPicPr>
          <p:cNvPr id="27" name="Image 8" descr="preencoded.png">    </p:cNvPr>
          <p:cNvPicPr>
            <a:picLocks noChangeAspect="1"/>
          </p:cNvPicPr>
          <p:nvPr/>
        </p:nvPicPr>
        <p:blipFill>
          <a:blip r:embed="rId9"/>
          <a:stretch>
            <a:fillRect/>
          </a:stretch>
        </p:blipFill>
        <p:spPr>
          <a:xfrm>
            <a:off x="7118747" y="2780705"/>
            <a:ext cx="192881" cy="171450"/>
          </a:xfrm>
          <a:prstGeom prst="rect">
            <a:avLst/>
          </a:prstGeom>
        </p:spPr>
      </p:pic>
      <p:sp>
        <p:nvSpPr>
          <p:cNvPr id="28" name="Text 17"/>
          <p:cNvSpPr/>
          <p:nvPr/>
        </p:nvSpPr>
        <p:spPr>
          <a:xfrm>
            <a:off x="5971701" y="3223617"/>
            <a:ext cx="1486821"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00CED1"/>
                </a:solidFill>
              </a:rPr>
              <a:t>회로를 연결하여 문을 여십시오.</a:t>
            </a:r>
            <a:endParaRPr lang="en-US" sz="834" dirty="0"/>
          </a:p>
        </p:txBody>
      </p:sp>
      <p:sp>
        <p:nvSpPr>
          <p:cNvPr id="29" name="Shape 18"/>
          <p:cNvSpPr/>
          <p:nvPr/>
        </p:nvSpPr>
        <p:spPr>
          <a:xfrm>
            <a:off x="4714875" y="4163020"/>
            <a:ext cx="4000500" cy="821531"/>
          </a:xfrm>
          <a:prstGeom prst="rect">
            <a:avLst/>
          </a:prstGeom>
          <a:solidFill>
            <a:srgbClr val="FFFFFF">
              <a:alpha val="5000"/>
            </a:srgbClr>
          </a:solidFill>
          <a:ln w="18288">
            <a:solidFill>
              <a:srgbClr val="FFD700"/>
            </a:solidFill>
            <a:prstDash val="dash"/>
          </a:ln>
        </p:spPr>
      </p:sp>
      <p:sp>
        <p:nvSpPr>
          <p:cNvPr id="30" name="Text 19"/>
          <p:cNvSpPr/>
          <p:nvPr/>
        </p:nvSpPr>
        <p:spPr>
          <a:xfrm>
            <a:off x="4714875" y="4163020"/>
            <a:ext cx="4000500" cy="821531"/>
          </a:xfrm>
          <a:prstGeom prst="rect">
            <a:avLst/>
          </a:prstGeom>
          <a:noFill/>
          <a:ln/>
        </p:spPr>
        <p:txBody>
          <a:bodyPr wrap="square" lIns="127508" tIns="127508" rIns="127508" bIns="127508" rtlCol="0" anchor="t">
            <a:spAutoFit/>
          </a:bodyPr>
          <a:lstStyle/>
          <a:p>
            <a:pPr algn="l" indent="0" marL="0">
              <a:lnSpc>
                <a:spcPts val="1500"/>
              </a:lnSpc>
              <a:buNone/>
            </a:pPr>
            <a:r>
              <a:rPr lang="en-US" sz="885" b="1" dirty="0">
                <a:solidFill>
                  <a:srgbClr val="FFD700"/>
                </a:solidFill>
              </a:rPr>
              <a:t>퍼즐 연출:</a:t>
            </a:r>
            <a:pPr algn="l" indent="0" marL="0">
              <a:lnSpc>
                <a:spcPts val="1500"/>
              </a:lnSpc>
              <a:buNone/>
            </a:pPr>
            <a:r>
              <a:rPr lang="en-US" sz="942" dirty="0">
                <a:solidFill>
                  <a:srgbClr val="FFFFFF"/>
                </a:solidFill>
              </a:rPr>
              <a:t> 관찰과 순서 맞추기 중심의 </a:t>
            </a:r>
            <a:pPr algn="l" indent="0" marL="0">
              <a:lnSpc>
                <a:spcPts val="1500"/>
              </a:lnSpc>
              <a:buNone/>
            </a:pPr>
            <a:r>
              <a:rPr lang="en-US" sz="885" b="1" dirty="0">
                <a:solidFill>
                  <a:srgbClr val="FFD700"/>
                </a:solidFill>
              </a:rPr>
              <a:t>정적인 인터페이스</a:t>
            </a:r>
            <a:pPr algn="l" indent="0" marL="0">
              <a:lnSpc>
                <a:spcPts val="1500"/>
              </a:lnSpc>
              <a:buNone/>
            </a:pPr>
            <a:r>
              <a:rPr lang="en-US" sz="942" dirty="0">
                <a:solidFill>
                  <a:srgbClr val="FFFFFF"/>
                </a:solidFill>
              </a:rPr>
              <a:t>를 제공합니</a:t>
            </a:r>
            <a:pPr algn="l" indent="0" marL="0">
              <a:lnSpc>
                <a:spcPts val="1500"/>
              </a:lnSpc>
              <a:buNone/>
            </a:pPr>
            <a:r>
              <a:rPr lang="en-US" sz="942" dirty="0">
                <a:solidFill>
                  <a:srgbClr val="FFFFFF"/>
                </a:solidFill>
              </a:rPr>
              <a:t>다. 성공 시 청록색 빛이 흐르는 연출을 통해 플레이어에게 성취감을 전</a:t>
            </a:r>
            <a:pPr algn="l" indent="0" marL="0">
              <a:lnSpc>
                <a:spcPts val="1500"/>
              </a:lnSpc>
              <a:buNone/>
            </a:pPr>
            <a:r>
              <a:rPr lang="en-US" sz="942" dirty="0">
                <a:solidFill>
                  <a:srgbClr val="FFFFFF"/>
                </a:solidFill>
              </a:rPr>
              <a:t>달합니다.</a:t>
            </a:r>
            <a:endParaRPr lang="en-US" sz="885"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1808959" cy="544711"/>
          </a:xfrm>
          <a:prstGeom prst="rect">
            <a:avLst/>
          </a:prstGeom>
          <a:solidFill>
            <a:srgbClr val="FFFFFF"/>
          </a:solidFill>
          <a:ln w="27432">
            <a:solidFill>
              <a:srgbClr val="000000"/>
            </a:solidFill>
            <a:prstDash val="solid"/>
          </a:ln>
        </p:spPr>
      </p:sp>
      <p:sp>
        <p:nvSpPr>
          <p:cNvPr id="4" name="Text 1"/>
          <p:cNvSpPr/>
          <p:nvPr/>
        </p:nvSpPr>
        <p:spPr>
          <a:xfrm>
            <a:off x="642938" y="342900"/>
            <a:ext cx="132318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아이템</a:t>
            </a:r>
            <a:endParaRPr lang="en-US" sz="1808" dirty="0"/>
          </a:p>
        </p:txBody>
      </p:sp>
      <p:sp>
        <p:nvSpPr>
          <p:cNvPr id="5" name="Shape 2"/>
          <p:cNvSpPr/>
          <p:nvPr/>
        </p:nvSpPr>
        <p:spPr>
          <a:xfrm>
            <a:off x="285750" y="1130498"/>
            <a:ext cx="1935510" cy="3200400"/>
          </a:xfrm>
          <a:prstGeom prst="rect">
            <a:avLst/>
          </a:prstGeom>
          <a:solidFill>
            <a:srgbClr val="FFFFFF">
              <a:alpha val="5000"/>
            </a:srgbClr>
          </a:solidFill>
          <a:ln w="27432">
            <a:solidFill>
              <a:srgbClr val="00CED1"/>
            </a:solidFill>
            <a:prstDash val="solid"/>
          </a:ln>
        </p:spPr>
      </p:sp>
      <p:sp>
        <p:nvSpPr>
          <p:cNvPr id="6" name="Shape 3"/>
          <p:cNvSpPr/>
          <p:nvPr/>
        </p:nvSpPr>
        <p:spPr>
          <a:xfrm>
            <a:off x="428625" y="987623"/>
            <a:ext cx="781543" cy="308967"/>
          </a:xfrm>
          <a:prstGeom prst="rect">
            <a:avLst/>
          </a:prstGeom>
          <a:solidFill>
            <a:srgbClr val="00CED1"/>
          </a:solidFill>
          <a:ln w="18288">
            <a:solidFill>
              <a:srgbClr val="000000"/>
            </a:solidFill>
            <a:prstDash val="solid"/>
          </a:ln>
        </p:spPr>
      </p:sp>
      <p:sp>
        <p:nvSpPr>
          <p:cNvPr id="7" name="Text 4"/>
          <p:cNvSpPr/>
          <p:nvPr/>
        </p:nvSpPr>
        <p:spPr>
          <a:xfrm>
            <a:off x="428625" y="987623"/>
            <a:ext cx="781543" cy="308967"/>
          </a:xfrm>
          <a:prstGeom prst="rect">
            <a:avLst/>
          </a:prstGeom>
          <a:noFill/>
          <a:ln/>
        </p:spPr>
        <p:txBody>
          <a:bodyPr wrap="square" lIns="127508" tIns="42545" rIns="127508" bIns="42545" rtlCol="0" anchor="t">
            <a:spAutoFit/>
          </a:bodyPr>
          <a:lstStyle/>
          <a:p>
            <a:pPr algn="l" indent="0" marL="0">
              <a:lnSpc>
                <a:spcPts val="1400"/>
              </a:lnSpc>
              <a:buNone/>
            </a:pPr>
            <a:r>
              <a:rPr lang="en-US" sz="1050" dirty="0">
                <a:solidFill>
                  <a:srgbClr val="1A0D2E"/>
                </a:solidFill>
              </a:rPr>
              <a:t>STEP 01</a:t>
            </a:r>
            <a:endParaRPr lang="en-US" sz="1050" dirty="0"/>
          </a:p>
        </p:txBody>
      </p:sp>
      <p:pic>
        <p:nvPicPr>
          <p:cNvPr id="8" name="Image 1" descr="preencoded.png">    </p:cNvPr>
          <p:cNvPicPr>
            <a:picLocks noChangeAspect="1"/>
          </p:cNvPicPr>
          <p:nvPr/>
        </p:nvPicPr>
        <p:blipFill>
          <a:blip r:embed="rId2"/>
          <a:stretch>
            <a:fillRect/>
          </a:stretch>
        </p:blipFill>
        <p:spPr>
          <a:xfrm>
            <a:off x="964183" y="1416248"/>
            <a:ext cx="535781" cy="428625"/>
          </a:xfrm>
          <a:prstGeom prst="rect">
            <a:avLst/>
          </a:prstGeom>
        </p:spPr>
      </p:pic>
      <p:sp>
        <p:nvSpPr>
          <p:cNvPr id="9" name="Text 5"/>
          <p:cNvSpPr/>
          <p:nvPr/>
        </p:nvSpPr>
        <p:spPr>
          <a:xfrm>
            <a:off x="428625" y="1987748"/>
            <a:ext cx="1606897" cy="335756"/>
          </a:xfrm>
          <a:prstGeom prst="rect">
            <a:avLst/>
          </a:prstGeom>
          <a:noFill/>
          <a:ln/>
        </p:spPr>
        <p:txBody>
          <a:bodyPr wrap="square" lIns="0" tIns="0" rIns="0" bIns="85090" rtlCol="0" anchor="t">
            <a:spAutoFit/>
          </a:bodyPr>
          <a:lstStyle/>
          <a:p>
            <a:pPr algn="ctr" indent="0" marL="0">
              <a:lnSpc>
                <a:spcPts val="1600"/>
              </a:lnSpc>
              <a:buNone/>
            </a:pPr>
            <a:r>
              <a:rPr lang="en-US" sz="1193" b="1" dirty="0">
                <a:solidFill>
                  <a:srgbClr val="FFD700"/>
                </a:solidFill>
              </a:rPr>
              <a:t>아이템 습득</a:t>
            </a:r>
            <a:endParaRPr lang="en-US" sz="1193" dirty="0"/>
          </a:p>
        </p:txBody>
      </p:sp>
      <p:sp>
        <p:nvSpPr>
          <p:cNvPr id="10" name="Text 6"/>
          <p:cNvSpPr/>
          <p:nvPr/>
        </p:nvSpPr>
        <p:spPr>
          <a:xfrm>
            <a:off x="547976" y="2430661"/>
            <a:ext cx="1368196" cy="617153"/>
          </a:xfrm>
          <a:prstGeom prst="rect">
            <a:avLst/>
          </a:prstGeom>
          <a:noFill/>
          <a:ln/>
        </p:spPr>
        <p:txBody>
          <a:bodyPr wrap="square" lIns="0" tIns="0" rIns="0" bIns="0" rtlCol="0" anchor="t">
            <a:spAutoFit/>
          </a:bodyPr>
          <a:lstStyle/>
          <a:p>
            <a:pPr algn="ctr" indent="0" marL="0">
              <a:lnSpc>
                <a:spcPts val="1600"/>
              </a:lnSpc>
              <a:buNone/>
            </a:pPr>
            <a:r>
              <a:rPr lang="en-US" sz="942" dirty="0">
                <a:solidFill>
                  <a:srgbClr val="E0E0E0"/>
                </a:solidFill>
              </a:rPr>
              <a:t>에코스가 사라진 자리에서</a:t>
            </a:r>
            <a:pPr algn="ctr" indent="0" marL="0">
              <a:lnSpc>
                <a:spcPts val="1600"/>
              </a:lnSpc>
              <a:buNone/>
            </a:pPr>
            <a:r>
              <a:rPr lang="en-US" sz="942" dirty="0">
                <a:solidFill>
                  <a:srgbClr val="E0E0E0"/>
                </a:solidFill>
              </a:rPr>
              <a:t>
</a:t>
            </a:r>
            <a:pPr algn="ctr" indent="0" marL="0">
              <a:lnSpc>
                <a:spcPts val="1600"/>
              </a:lnSpc>
              <a:buNone/>
            </a:pPr>
            <a:r>
              <a:rPr lang="en-US" sz="885" b="1" dirty="0">
                <a:solidFill>
                  <a:srgbClr val="E0E0E0"/>
                </a:solidFill>
              </a:rPr>
              <a:t>'주인공을 닮은 피규어'</a:t>
            </a:r>
            <a:pPr algn="ctr" indent="0" marL="0">
              <a:lnSpc>
                <a:spcPts val="1600"/>
              </a:lnSpc>
              <a:buNone/>
            </a:pPr>
            <a:r>
              <a:rPr lang="en-US" sz="942" dirty="0">
                <a:solidFill>
                  <a:srgbClr val="E0E0E0"/>
                </a:solidFill>
              </a:rPr>
              <a:t>를</a:t>
            </a:r>
            <a:pPr algn="ctr" indent="0" marL="0">
              <a:lnSpc>
                <a:spcPts val="1600"/>
              </a:lnSpc>
              <a:buNone/>
            </a:pPr>
            <a:r>
              <a:rPr lang="en-US" sz="942" dirty="0">
                <a:solidFill>
                  <a:srgbClr val="E0E0E0"/>
                </a:solidFill>
              </a:rPr>
              <a:t>
</a:t>
            </a:r>
            <a:pPr algn="ctr" indent="0" marL="0">
              <a:lnSpc>
                <a:spcPts val="1600"/>
              </a:lnSpc>
              <a:buNone/>
            </a:pPr>
            <a:r>
              <a:rPr lang="en-US" sz="942" dirty="0">
                <a:solidFill>
                  <a:srgbClr val="E0E0E0"/>
                </a:solidFill>
              </a:rPr>
              <a:t> 발견합니다.</a:t>
            </a:r>
            <a:endParaRPr lang="en-US" sz="942" dirty="0"/>
          </a:p>
        </p:txBody>
      </p:sp>
      <p:pic>
        <p:nvPicPr>
          <p:cNvPr id="11" name="Image 2" descr="preencoded.png">    </p:cNvPr>
          <p:cNvPicPr>
            <a:picLocks noChangeAspect="1"/>
          </p:cNvPicPr>
          <p:nvPr/>
        </p:nvPicPr>
        <p:blipFill>
          <a:blip r:embed="rId3"/>
          <a:stretch>
            <a:fillRect/>
          </a:stretch>
        </p:blipFill>
        <p:spPr>
          <a:xfrm>
            <a:off x="2249835" y="2416373"/>
            <a:ext cx="133945" cy="214313"/>
          </a:xfrm>
          <a:prstGeom prst="rect">
            <a:avLst/>
          </a:prstGeom>
        </p:spPr>
      </p:pic>
      <p:sp>
        <p:nvSpPr>
          <p:cNvPr id="12" name="Shape 7"/>
          <p:cNvSpPr/>
          <p:nvPr/>
        </p:nvSpPr>
        <p:spPr>
          <a:xfrm>
            <a:off x="2455218" y="1130498"/>
            <a:ext cx="1949797" cy="3200400"/>
          </a:xfrm>
          <a:prstGeom prst="rect">
            <a:avLst/>
          </a:prstGeom>
          <a:solidFill>
            <a:srgbClr val="FFD700">
              <a:alpha val="5000"/>
            </a:srgbClr>
          </a:solidFill>
          <a:ln w="27432">
            <a:solidFill>
              <a:srgbClr val="FFD700"/>
            </a:solidFill>
            <a:prstDash val="solid"/>
          </a:ln>
        </p:spPr>
      </p:sp>
      <p:sp>
        <p:nvSpPr>
          <p:cNvPr id="13" name="Shape 8"/>
          <p:cNvSpPr/>
          <p:nvPr/>
        </p:nvSpPr>
        <p:spPr>
          <a:xfrm>
            <a:off x="2612380" y="987623"/>
            <a:ext cx="781543" cy="308967"/>
          </a:xfrm>
          <a:prstGeom prst="rect">
            <a:avLst/>
          </a:prstGeom>
          <a:solidFill>
            <a:srgbClr val="FFD700"/>
          </a:solidFill>
          <a:ln w="18288">
            <a:solidFill>
              <a:srgbClr val="000000"/>
            </a:solidFill>
            <a:prstDash val="solid"/>
          </a:ln>
        </p:spPr>
      </p:sp>
      <p:sp>
        <p:nvSpPr>
          <p:cNvPr id="14" name="Text 9"/>
          <p:cNvSpPr/>
          <p:nvPr/>
        </p:nvSpPr>
        <p:spPr>
          <a:xfrm>
            <a:off x="2612380" y="987623"/>
            <a:ext cx="781543" cy="308967"/>
          </a:xfrm>
          <a:prstGeom prst="rect">
            <a:avLst/>
          </a:prstGeom>
          <a:noFill/>
          <a:ln/>
        </p:spPr>
        <p:txBody>
          <a:bodyPr wrap="square" lIns="127508" tIns="42545" rIns="127508" bIns="42545" rtlCol="0" anchor="t">
            <a:spAutoFit/>
          </a:bodyPr>
          <a:lstStyle/>
          <a:p>
            <a:pPr algn="l" indent="0" marL="0">
              <a:lnSpc>
                <a:spcPts val="1400"/>
              </a:lnSpc>
              <a:buNone/>
            </a:pPr>
            <a:r>
              <a:rPr lang="en-US" sz="1050" dirty="0">
                <a:solidFill>
                  <a:srgbClr val="1A0D2E"/>
                </a:solidFill>
              </a:rPr>
              <a:t>STEP 02</a:t>
            </a:r>
            <a:endParaRPr lang="en-US" sz="1050" dirty="0"/>
          </a:p>
        </p:txBody>
      </p:sp>
      <p:pic>
        <p:nvPicPr>
          <p:cNvPr id="15" name="Image 3" descr="preencoded.png">    </p:cNvPr>
          <p:cNvPicPr>
            <a:picLocks noChangeAspect="1"/>
          </p:cNvPicPr>
          <p:nvPr/>
        </p:nvPicPr>
        <p:blipFill>
          <a:blip r:embed="rId4"/>
          <a:stretch>
            <a:fillRect/>
          </a:stretch>
        </p:blipFill>
        <p:spPr>
          <a:xfrm>
            <a:off x="3155082" y="1416248"/>
            <a:ext cx="535781" cy="428625"/>
          </a:xfrm>
          <a:prstGeom prst="rect">
            <a:avLst/>
          </a:prstGeom>
        </p:spPr>
      </p:pic>
      <p:sp>
        <p:nvSpPr>
          <p:cNvPr id="16" name="Text 10"/>
          <p:cNvSpPr/>
          <p:nvPr/>
        </p:nvSpPr>
        <p:spPr>
          <a:xfrm>
            <a:off x="2612380" y="1987748"/>
            <a:ext cx="1621185" cy="335756"/>
          </a:xfrm>
          <a:prstGeom prst="rect">
            <a:avLst/>
          </a:prstGeom>
          <a:noFill/>
          <a:ln/>
        </p:spPr>
        <p:txBody>
          <a:bodyPr wrap="square" lIns="0" tIns="0" rIns="0" bIns="85090" rtlCol="0" anchor="t">
            <a:spAutoFit/>
          </a:bodyPr>
          <a:lstStyle/>
          <a:p>
            <a:pPr algn="ctr" indent="0" marL="0">
              <a:lnSpc>
                <a:spcPts val="1600"/>
              </a:lnSpc>
              <a:buNone/>
            </a:pPr>
            <a:r>
              <a:rPr lang="en-US" sz="1193" b="1" dirty="0">
                <a:solidFill>
                  <a:srgbClr val="FFD700"/>
                </a:solidFill>
              </a:rPr>
              <a:t>선택과 획득</a:t>
            </a:r>
            <a:endParaRPr lang="en-US" sz="1193" dirty="0"/>
          </a:p>
        </p:txBody>
      </p:sp>
      <p:sp>
        <p:nvSpPr>
          <p:cNvPr id="17" name="Text 11"/>
          <p:cNvSpPr/>
          <p:nvPr/>
        </p:nvSpPr>
        <p:spPr>
          <a:xfrm>
            <a:off x="2781319" y="2430661"/>
            <a:ext cx="1283308" cy="205718"/>
          </a:xfrm>
          <a:prstGeom prst="rect">
            <a:avLst/>
          </a:prstGeom>
          <a:noFill/>
          <a:ln/>
        </p:spPr>
        <p:txBody>
          <a:bodyPr wrap="none" lIns="0" tIns="0" rIns="0" bIns="0" rtlCol="0" anchor="t">
            <a:spAutoFit/>
          </a:bodyPr>
          <a:lstStyle/>
          <a:p>
            <a:pPr algn="ctr" indent="0" marL="0">
              <a:lnSpc>
                <a:spcPts val="1600"/>
              </a:lnSpc>
              <a:buNone/>
            </a:pPr>
            <a:r>
              <a:rPr lang="en-US" sz="942" dirty="0">
                <a:solidFill>
                  <a:srgbClr val="E0E0E0"/>
                </a:solidFill>
              </a:rPr>
              <a:t>피규어에 대한 행동 선택</a:t>
            </a:r>
            <a:endParaRPr lang="en-US" sz="942" dirty="0"/>
          </a:p>
        </p:txBody>
      </p:sp>
      <p:sp>
        <p:nvSpPr>
          <p:cNvPr id="18" name="Shape 12"/>
          <p:cNvSpPr/>
          <p:nvPr/>
        </p:nvSpPr>
        <p:spPr>
          <a:xfrm>
            <a:off x="2526655" y="2743535"/>
            <a:ext cx="1792635" cy="600075"/>
          </a:xfrm>
          <a:prstGeom prst="rect">
            <a:avLst/>
          </a:prstGeom>
          <a:solidFill>
            <a:srgbClr val="FF69B4">
              <a:alpha val="10000"/>
            </a:srgbClr>
          </a:solidFill>
          <a:ln w="18288">
            <a:solidFill>
              <a:srgbClr val="FF69B4"/>
            </a:solidFill>
            <a:prstDash val="solid"/>
          </a:ln>
        </p:spPr>
      </p:sp>
      <p:sp>
        <p:nvSpPr>
          <p:cNvPr id="19" name="Text 13"/>
          <p:cNvSpPr/>
          <p:nvPr/>
        </p:nvSpPr>
        <p:spPr>
          <a:xfrm>
            <a:off x="2612380" y="2814972"/>
            <a:ext cx="1621185"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FF69B4"/>
                </a:solidFill>
              </a:rPr>
              <a:t>□ 그냥 둔다</a:t>
            </a:r>
            <a:endParaRPr lang="en-US" sz="834" dirty="0"/>
          </a:p>
        </p:txBody>
      </p:sp>
      <p:sp>
        <p:nvSpPr>
          <p:cNvPr id="20" name="Shape 14"/>
          <p:cNvSpPr/>
          <p:nvPr/>
        </p:nvSpPr>
        <p:spPr>
          <a:xfrm>
            <a:off x="2612380" y="3014997"/>
            <a:ext cx="1621185" cy="192881"/>
          </a:xfrm>
          <a:prstGeom prst="rect">
            <a:avLst/>
          </a:prstGeom>
          <a:solidFill>
            <a:srgbClr val="FF69B4"/>
          </a:solidFill>
          <a:ln/>
        </p:spPr>
      </p:sp>
      <p:sp>
        <p:nvSpPr>
          <p:cNvPr id="21" name="Text 15"/>
          <p:cNvSpPr/>
          <p:nvPr/>
        </p:nvSpPr>
        <p:spPr>
          <a:xfrm>
            <a:off x="2612380" y="3014997"/>
            <a:ext cx="1621185" cy="192881"/>
          </a:xfrm>
          <a:prstGeom prst="rect">
            <a:avLst/>
          </a:prstGeom>
          <a:noFill/>
          <a:ln/>
        </p:spPr>
        <p:txBody>
          <a:bodyPr wrap="none" lIns="42545" tIns="17018" rIns="42545" bIns="17018" rtlCol="0" anchor="t">
            <a:spAutoFit/>
          </a:bodyPr>
          <a:lstStyle/>
          <a:p>
            <a:pPr algn="l" indent="0" marL="0">
              <a:lnSpc>
                <a:spcPts val="1100"/>
              </a:lnSpc>
              <a:buNone/>
            </a:pPr>
            <a:r>
              <a:rPr lang="en-US" sz="834" dirty="0">
                <a:solidFill>
                  <a:srgbClr val="FFFFFF"/>
                </a:solidFill>
              </a:rPr>
              <a:t>▶ 밟는다</a:t>
            </a:r>
            <a:endParaRPr lang="en-US" sz="834" dirty="0"/>
          </a:p>
        </p:txBody>
      </p:sp>
      <p:sp>
        <p:nvSpPr>
          <p:cNvPr id="22" name="Text 16"/>
          <p:cNvSpPr/>
          <p:nvPr/>
        </p:nvSpPr>
        <p:spPr>
          <a:xfrm>
            <a:off x="2769152" y="3386472"/>
            <a:ext cx="1307613" cy="365727"/>
          </a:xfrm>
          <a:prstGeom prst="rect">
            <a:avLst/>
          </a:prstGeom>
          <a:noFill/>
          <a:ln/>
        </p:spPr>
        <p:txBody>
          <a:bodyPr wrap="square" lIns="0" tIns="0" rIns="0" bIns="0" rtlCol="0" anchor="t">
            <a:spAutoFit/>
          </a:bodyPr>
          <a:lstStyle/>
          <a:p>
            <a:pPr algn="ctr" indent="0" marL="0">
              <a:lnSpc>
                <a:spcPts val="1400"/>
              </a:lnSpc>
              <a:buNone/>
            </a:pPr>
            <a:r>
              <a:rPr lang="en-US" sz="834" dirty="0">
                <a:solidFill>
                  <a:srgbClr val="E0E0E0"/>
                </a:solidFill>
              </a:rPr>
              <a:t>피규어 속에서</a:t>
            </a:r>
            <a:pPr algn="ctr" indent="0" marL="0">
              <a:lnSpc>
                <a:spcPts val="1400"/>
              </a:lnSpc>
              <a:buNone/>
            </a:pPr>
            <a:r>
              <a:rPr lang="en-US" sz="834" dirty="0">
                <a:solidFill>
                  <a:srgbClr val="E0E0E0"/>
                </a:solidFill>
              </a:rPr>
              <a:t>
</a:t>
            </a:r>
            <a:pPr algn="ctr" indent="0" marL="0">
              <a:lnSpc>
                <a:spcPts val="1400"/>
              </a:lnSpc>
              <a:buNone/>
            </a:pPr>
            <a:r>
              <a:rPr lang="en-US" sz="784" b="1" dirty="0">
                <a:solidFill>
                  <a:srgbClr val="E0E0E0"/>
                </a:solidFill>
              </a:rPr>
              <a:t>'빛나는 보석'</a:t>
            </a:r>
            <a:pPr algn="ctr" indent="0" marL="0">
              <a:lnSpc>
                <a:spcPts val="1400"/>
              </a:lnSpc>
              <a:buNone/>
            </a:pPr>
            <a:r>
              <a:rPr lang="en-US" sz="834" dirty="0">
                <a:solidFill>
                  <a:srgbClr val="E0E0E0"/>
                </a:solidFill>
              </a:rPr>
              <a:t>을 획득합니다.</a:t>
            </a:r>
            <a:endParaRPr lang="en-US" sz="834" dirty="0"/>
          </a:p>
        </p:txBody>
      </p:sp>
      <p:pic>
        <p:nvPicPr>
          <p:cNvPr id="23" name="Image 4" descr="preencoded.png">    </p:cNvPr>
          <p:cNvPicPr>
            <a:picLocks noChangeAspect="1"/>
          </p:cNvPicPr>
          <p:nvPr/>
        </p:nvPicPr>
        <p:blipFill>
          <a:blip r:embed="rId5"/>
          <a:stretch>
            <a:fillRect/>
          </a:stretch>
        </p:blipFill>
        <p:spPr>
          <a:xfrm>
            <a:off x="4447877" y="2416373"/>
            <a:ext cx="133945" cy="214313"/>
          </a:xfrm>
          <a:prstGeom prst="rect">
            <a:avLst/>
          </a:prstGeom>
        </p:spPr>
      </p:pic>
      <p:sp>
        <p:nvSpPr>
          <p:cNvPr id="24" name="Shape 17"/>
          <p:cNvSpPr/>
          <p:nvPr/>
        </p:nvSpPr>
        <p:spPr>
          <a:xfrm>
            <a:off x="4653260" y="1130498"/>
            <a:ext cx="1964085" cy="3200400"/>
          </a:xfrm>
          <a:prstGeom prst="rect">
            <a:avLst/>
          </a:prstGeom>
          <a:solidFill>
            <a:srgbClr val="FFFFFF">
              <a:alpha val="5000"/>
            </a:srgbClr>
          </a:solidFill>
          <a:ln w="27432">
            <a:solidFill>
              <a:srgbClr val="00CED1"/>
            </a:solidFill>
            <a:prstDash val="solid"/>
          </a:ln>
        </p:spPr>
      </p:sp>
      <p:sp>
        <p:nvSpPr>
          <p:cNvPr id="25" name="Shape 18"/>
          <p:cNvSpPr/>
          <p:nvPr/>
        </p:nvSpPr>
        <p:spPr>
          <a:xfrm>
            <a:off x="4824710" y="987623"/>
            <a:ext cx="781543" cy="308967"/>
          </a:xfrm>
          <a:prstGeom prst="rect">
            <a:avLst/>
          </a:prstGeom>
          <a:solidFill>
            <a:srgbClr val="00CED1"/>
          </a:solidFill>
          <a:ln w="18288">
            <a:solidFill>
              <a:srgbClr val="000000"/>
            </a:solidFill>
            <a:prstDash val="solid"/>
          </a:ln>
        </p:spPr>
      </p:sp>
      <p:sp>
        <p:nvSpPr>
          <p:cNvPr id="26" name="Text 19"/>
          <p:cNvSpPr/>
          <p:nvPr/>
        </p:nvSpPr>
        <p:spPr>
          <a:xfrm>
            <a:off x="4824710" y="987623"/>
            <a:ext cx="781543" cy="308967"/>
          </a:xfrm>
          <a:prstGeom prst="rect">
            <a:avLst/>
          </a:prstGeom>
          <a:noFill/>
          <a:ln/>
        </p:spPr>
        <p:txBody>
          <a:bodyPr wrap="square" lIns="127508" tIns="42545" rIns="127508" bIns="42545" rtlCol="0" anchor="t">
            <a:spAutoFit/>
          </a:bodyPr>
          <a:lstStyle/>
          <a:p>
            <a:pPr algn="l" indent="0" marL="0">
              <a:lnSpc>
                <a:spcPts val="1400"/>
              </a:lnSpc>
              <a:buNone/>
            </a:pPr>
            <a:r>
              <a:rPr lang="en-US" sz="1050" dirty="0">
                <a:solidFill>
                  <a:srgbClr val="1A0D2E"/>
                </a:solidFill>
              </a:rPr>
              <a:t>STEP 03</a:t>
            </a:r>
            <a:endParaRPr lang="en-US" sz="1050" dirty="0"/>
          </a:p>
        </p:txBody>
      </p:sp>
      <p:pic>
        <p:nvPicPr>
          <p:cNvPr id="27" name="Image 5" descr="preencoded.png">    </p:cNvPr>
          <p:cNvPicPr>
            <a:picLocks noChangeAspect="1"/>
          </p:cNvPicPr>
          <p:nvPr/>
        </p:nvPicPr>
        <p:blipFill>
          <a:blip r:embed="rId6"/>
          <a:stretch>
            <a:fillRect/>
          </a:stretch>
        </p:blipFill>
        <p:spPr>
          <a:xfrm>
            <a:off x="5401345" y="1416248"/>
            <a:ext cx="482203" cy="428625"/>
          </a:xfrm>
          <a:prstGeom prst="rect">
            <a:avLst/>
          </a:prstGeom>
        </p:spPr>
      </p:pic>
      <p:sp>
        <p:nvSpPr>
          <p:cNvPr id="28" name="Text 20"/>
          <p:cNvSpPr/>
          <p:nvPr/>
        </p:nvSpPr>
        <p:spPr>
          <a:xfrm>
            <a:off x="4824710" y="1987748"/>
            <a:ext cx="1635472" cy="335756"/>
          </a:xfrm>
          <a:prstGeom prst="rect">
            <a:avLst/>
          </a:prstGeom>
          <a:noFill/>
          <a:ln/>
        </p:spPr>
        <p:txBody>
          <a:bodyPr wrap="square" lIns="0" tIns="0" rIns="0" bIns="85090" rtlCol="0" anchor="t">
            <a:spAutoFit/>
          </a:bodyPr>
          <a:lstStyle/>
          <a:p>
            <a:pPr algn="ctr" indent="0" marL="0">
              <a:lnSpc>
                <a:spcPts val="1600"/>
              </a:lnSpc>
              <a:buNone/>
            </a:pPr>
            <a:r>
              <a:rPr lang="en-US" sz="1193" b="1" dirty="0">
                <a:solidFill>
                  <a:srgbClr val="FFD700"/>
                </a:solidFill>
              </a:rPr>
              <a:t>아이템 가공</a:t>
            </a:r>
            <a:endParaRPr lang="en-US" sz="1193" dirty="0"/>
          </a:p>
        </p:txBody>
      </p:sp>
      <p:sp>
        <p:nvSpPr>
          <p:cNvPr id="29" name="Text 21"/>
          <p:cNvSpPr/>
          <p:nvPr/>
        </p:nvSpPr>
        <p:spPr>
          <a:xfrm>
            <a:off x="4958349" y="2430661"/>
            <a:ext cx="1368196" cy="617153"/>
          </a:xfrm>
          <a:prstGeom prst="rect">
            <a:avLst/>
          </a:prstGeom>
          <a:noFill/>
          <a:ln/>
        </p:spPr>
        <p:txBody>
          <a:bodyPr wrap="square" lIns="0" tIns="0" rIns="0" bIns="0" rtlCol="0" anchor="t">
            <a:spAutoFit/>
          </a:bodyPr>
          <a:lstStyle/>
          <a:p>
            <a:pPr algn="ctr" indent="0" marL="0">
              <a:lnSpc>
                <a:spcPts val="1600"/>
              </a:lnSpc>
              <a:buNone/>
            </a:pPr>
            <a:r>
              <a:rPr lang="en-US" sz="942" dirty="0">
                <a:solidFill>
                  <a:srgbClr val="E0E0E0"/>
                </a:solidFill>
              </a:rPr>
              <a:t>마을에서 보석을 가공하여</a:t>
            </a:r>
            <a:pPr algn="ctr" indent="0" marL="0">
              <a:lnSpc>
                <a:spcPts val="1600"/>
              </a:lnSpc>
              <a:buNone/>
            </a:pPr>
            <a:r>
              <a:rPr lang="en-US" sz="942" dirty="0">
                <a:solidFill>
                  <a:srgbClr val="E0E0E0"/>
                </a:solidFill>
              </a:rPr>
              <a:t>
</a:t>
            </a:r>
            <a:pPr algn="ctr" indent="0" marL="0">
              <a:lnSpc>
                <a:spcPts val="1600"/>
              </a:lnSpc>
              <a:buNone/>
            </a:pPr>
            <a:r>
              <a:rPr lang="en-US" sz="885" b="1" dirty="0">
                <a:solidFill>
                  <a:srgbClr val="E0E0E0"/>
                </a:solidFill>
              </a:rPr>
              <a:t>'보석 목걸이'</a:t>
            </a:r>
            <a:pPr algn="ctr" indent="0" marL="0">
              <a:lnSpc>
                <a:spcPts val="1600"/>
              </a:lnSpc>
              <a:buNone/>
            </a:pPr>
            <a:r>
              <a:rPr lang="en-US" sz="942" dirty="0">
                <a:solidFill>
                  <a:srgbClr val="E0E0E0"/>
                </a:solidFill>
              </a:rPr>
              <a:t>를 제작하고</a:t>
            </a:r>
            <a:pPr algn="ctr" indent="0" marL="0">
              <a:lnSpc>
                <a:spcPts val="1600"/>
              </a:lnSpc>
              <a:buNone/>
            </a:pPr>
            <a:r>
              <a:rPr lang="en-US" sz="942" dirty="0">
                <a:solidFill>
                  <a:srgbClr val="E0E0E0"/>
                </a:solidFill>
              </a:rPr>
              <a:t>
</a:t>
            </a:r>
            <a:pPr algn="ctr" indent="0" marL="0">
              <a:lnSpc>
                <a:spcPts val="1600"/>
              </a:lnSpc>
              <a:buNone/>
            </a:pPr>
            <a:r>
              <a:rPr lang="en-US" sz="942" dirty="0">
                <a:solidFill>
                  <a:srgbClr val="E0E0E0"/>
                </a:solidFill>
              </a:rPr>
              <a:t> 장착합니다.</a:t>
            </a:r>
            <a:endParaRPr lang="en-US" sz="942" dirty="0"/>
          </a:p>
        </p:txBody>
      </p:sp>
      <p:pic>
        <p:nvPicPr>
          <p:cNvPr id="30" name="Image 6" descr="preencoded.png">    </p:cNvPr>
          <p:cNvPicPr>
            <a:picLocks noChangeAspect="1"/>
          </p:cNvPicPr>
          <p:nvPr/>
        </p:nvPicPr>
        <p:blipFill>
          <a:blip r:embed="rId7"/>
          <a:stretch>
            <a:fillRect/>
          </a:stretch>
        </p:blipFill>
        <p:spPr>
          <a:xfrm>
            <a:off x="6674495" y="2416373"/>
            <a:ext cx="133945" cy="214313"/>
          </a:xfrm>
          <a:prstGeom prst="rect">
            <a:avLst/>
          </a:prstGeom>
        </p:spPr>
      </p:pic>
      <p:sp>
        <p:nvSpPr>
          <p:cNvPr id="31" name="Shape 22"/>
          <p:cNvSpPr/>
          <p:nvPr/>
        </p:nvSpPr>
        <p:spPr>
          <a:xfrm>
            <a:off x="6879878" y="1130498"/>
            <a:ext cx="1978372" cy="3200400"/>
          </a:xfrm>
          <a:prstGeom prst="rect">
            <a:avLst/>
          </a:prstGeom>
          <a:solidFill>
            <a:srgbClr val="FFD700">
              <a:alpha val="5000"/>
            </a:srgbClr>
          </a:solidFill>
          <a:ln w="27432">
            <a:solidFill>
              <a:srgbClr val="FFD700"/>
            </a:solidFill>
            <a:prstDash val="solid"/>
          </a:ln>
        </p:spPr>
      </p:sp>
      <p:sp>
        <p:nvSpPr>
          <p:cNvPr id="32" name="Shape 23"/>
          <p:cNvSpPr/>
          <p:nvPr/>
        </p:nvSpPr>
        <p:spPr>
          <a:xfrm>
            <a:off x="7065615" y="987623"/>
            <a:ext cx="781543" cy="308967"/>
          </a:xfrm>
          <a:prstGeom prst="rect">
            <a:avLst/>
          </a:prstGeom>
          <a:solidFill>
            <a:srgbClr val="FFD700"/>
          </a:solidFill>
          <a:ln w="18288">
            <a:solidFill>
              <a:srgbClr val="000000"/>
            </a:solidFill>
            <a:prstDash val="solid"/>
          </a:ln>
        </p:spPr>
      </p:sp>
      <p:sp>
        <p:nvSpPr>
          <p:cNvPr id="33" name="Text 24"/>
          <p:cNvSpPr/>
          <p:nvPr/>
        </p:nvSpPr>
        <p:spPr>
          <a:xfrm>
            <a:off x="7065615" y="987623"/>
            <a:ext cx="781543" cy="308967"/>
          </a:xfrm>
          <a:prstGeom prst="rect">
            <a:avLst/>
          </a:prstGeom>
          <a:noFill/>
          <a:ln/>
        </p:spPr>
        <p:txBody>
          <a:bodyPr wrap="square" lIns="127508" tIns="42545" rIns="127508" bIns="42545" rtlCol="0" anchor="t">
            <a:spAutoFit/>
          </a:bodyPr>
          <a:lstStyle/>
          <a:p>
            <a:pPr algn="l" indent="0" marL="0">
              <a:lnSpc>
                <a:spcPts val="1400"/>
              </a:lnSpc>
              <a:buNone/>
            </a:pPr>
            <a:r>
              <a:rPr lang="en-US" sz="1050" dirty="0">
                <a:solidFill>
                  <a:srgbClr val="1A0D2E"/>
                </a:solidFill>
              </a:rPr>
              <a:t>STEP 04</a:t>
            </a:r>
            <a:endParaRPr lang="en-US" sz="1050" dirty="0"/>
          </a:p>
        </p:txBody>
      </p:sp>
      <p:pic>
        <p:nvPicPr>
          <p:cNvPr id="34" name="Image 7" descr="preencoded.png">    </p:cNvPr>
          <p:cNvPicPr>
            <a:picLocks noChangeAspect="1"/>
          </p:cNvPicPr>
          <p:nvPr/>
        </p:nvPicPr>
        <p:blipFill>
          <a:blip r:embed="rId8"/>
          <a:stretch>
            <a:fillRect/>
          </a:stretch>
        </p:blipFill>
        <p:spPr>
          <a:xfrm>
            <a:off x="7676183" y="1416248"/>
            <a:ext cx="428625" cy="428625"/>
          </a:xfrm>
          <a:prstGeom prst="rect">
            <a:avLst/>
          </a:prstGeom>
        </p:spPr>
      </p:pic>
      <p:sp>
        <p:nvSpPr>
          <p:cNvPr id="35" name="Text 25"/>
          <p:cNvSpPr/>
          <p:nvPr/>
        </p:nvSpPr>
        <p:spPr>
          <a:xfrm>
            <a:off x="7065615" y="1987748"/>
            <a:ext cx="1649760" cy="335756"/>
          </a:xfrm>
          <a:prstGeom prst="rect">
            <a:avLst/>
          </a:prstGeom>
          <a:noFill/>
          <a:ln/>
        </p:spPr>
        <p:txBody>
          <a:bodyPr wrap="square" lIns="0" tIns="0" rIns="0" bIns="85090" rtlCol="0" anchor="t">
            <a:spAutoFit/>
          </a:bodyPr>
          <a:lstStyle/>
          <a:p>
            <a:pPr algn="ctr" indent="0" marL="0">
              <a:lnSpc>
                <a:spcPts val="1600"/>
              </a:lnSpc>
              <a:buNone/>
            </a:pPr>
            <a:r>
              <a:rPr lang="en-US" sz="1193" b="1" dirty="0">
                <a:solidFill>
                  <a:srgbClr val="FFD700"/>
                </a:solidFill>
              </a:rPr>
              <a:t>효과 발생</a:t>
            </a:r>
            <a:endParaRPr lang="en-US" sz="1193" dirty="0"/>
          </a:p>
        </p:txBody>
      </p:sp>
      <p:sp>
        <p:nvSpPr>
          <p:cNvPr id="36" name="Text 26"/>
          <p:cNvSpPr/>
          <p:nvPr/>
        </p:nvSpPr>
        <p:spPr>
          <a:xfrm>
            <a:off x="7103204" y="2430661"/>
            <a:ext cx="1574555" cy="411435"/>
          </a:xfrm>
          <a:prstGeom prst="rect">
            <a:avLst/>
          </a:prstGeom>
          <a:noFill/>
          <a:ln/>
        </p:spPr>
        <p:txBody>
          <a:bodyPr wrap="square" lIns="0" tIns="0" rIns="0" bIns="0" rtlCol="0" anchor="t">
            <a:spAutoFit/>
          </a:bodyPr>
          <a:lstStyle/>
          <a:p>
            <a:pPr algn="ctr" indent="0" marL="0">
              <a:lnSpc>
                <a:spcPts val="1600"/>
              </a:lnSpc>
              <a:buNone/>
            </a:pPr>
            <a:r>
              <a:rPr lang="en-US" sz="942" dirty="0">
                <a:solidFill>
                  <a:srgbClr val="E0E0E0"/>
                </a:solidFill>
              </a:rPr>
              <a:t>주변에 </a:t>
            </a:r>
            <a:pPr algn="ctr" indent="0" marL="0">
              <a:lnSpc>
                <a:spcPts val="1600"/>
              </a:lnSpc>
              <a:buNone/>
            </a:pPr>
            <a:r>
              <a:rPr lang="en-US" sz="885" b="1" dirty="0">
                <a:solidFill>
                  <a:srgbClr val="E0E0E0"/>
                </a:solidFill>
              </a:rPr>
              <a:t>빛의 이펙트</a:t>
            </a:r>
            <a:pPr algn="ctr" indent="0" marL="0">
              <a:lnSpc>
                <a:spcPts val="1600"/>
              </a:lnSpc>
              <a:buNone/>
            </a:pPr>
            <a:r>
              <a:rPr lang="en-US" sz="942" dirty="0">
                <a:solidFill>
                  <a:srgbClr val="E0E0E0"/>
                </a:solidFill>
              </a:rPr>
              <a:t>가</a:t>
            </a:r>
            <a:pPr algn="ctr" indent="0" marL="0">
              <a:lnSpc>
                <a:spcPts val="1600"/>
              </a:lnSpc>
              <a:buNone/>
            </a:pPr>
            <a:r>
              <a:rPr lang="en-US" sz="942" dirty="0">
                <a:solidFill>
                  <a:srgbClr val="E0E0E0"/>
                </a:solidFill>
              </a:rPr>
              <a:t>
</a:t>
            </a:r>
            <a:pPr algn="ctr" indent="0" marL="0">
              <a:lnSpc>
                <a:spcPts val="1600"/>
              </a:lnSpc>
              <a:buNone/>
            </a:pPr>
            <a:r>
              <a:rPr lang="en-US" sz="942" dirty="0">
                <a:solidFill>
                  <a:srgbClr val="E0E0E0"/>
                </a:solidFill>
              </a:rPr>
              <a:t> 발생하며 NPC 반응이 변화함.</a:t>
            </a:r>
            <a:endParaRPr lang="en-US" sz="942" dirty="0"/>
          </a:p>
        </p:txBody>
      </p:sp>
      <p:sp>
        <p:nvSpPr>
          <p:cNvPr id="37" name="Shape 27"/>
          <p:cNvSpPr/>
          <p:nvPr/>
        </p:nvSpPr>
        <p:spPr>
          <a:xfrm>
            <a:off x="7165237" y="2984971"/>
            <a:ext cx="1450488" cy="350044"/>
          </a:xfrm>
          <a:prstGeom prst="rect">
            <a:avLst/>
          </a:prstGeom>
          <a:solidFill>
            <a:srgbClr val="FFFFFF"/>
          </a:solidFill>
          <a:ln w="18288">
            <a:solidFill>
              <a:srgbClr val="000000"/>
            </a:solidFill>
            <a:prstDash val="solid"/>
          </a:ln>
        </p:spPr>
      </p:sp>
      <p:sp>
        <p:nvSpPr>
          <p:cNvPr id="38" name="Text 28"/>
          <p:cNvSpPr/>
          <p:nvPr/>
        </p:nvSpPr>
        <p:spPr>
          <a:xfrm>
            <a:off x="7165237" y="2984971"/>
            <a:ext cx="1450488" cy="350044"/>
          </a:xfrm>
          <a:prstGeom prst="rect">
            <a:avLst/>
          </a:prstGeom>
          <a:noFill/>
          <a:ln/>
        </p:spPr>
        <p:txBody>
          <a:bodyPr wrap="square" lIns="85090" tIns="85090" rIns="85090" bIns="85090" rtlCol="0" anchor="t">
            <a:spAutoFit/>
          </a:bodyPr>
          <a:lstStyle/>
          <a:p>
            <a:pPr algn="l" indent="0" marL="0">
              <a:lnSpc>
                <a:spcPts val="1100"/>
              </a:lnSpc>
              <a:buNone/>
            </a:pPr>
            <a:r>
              <a:rPr lang="en-US" sz="834" dirty="0">
                <a:solidFill>
                  <a:srgbClr val="1A0D2E"/>
                </a:solidFill>
              </a:rPr>
              <a:t>"한해가 밝게 빛나고 있어!"</a:t>
            </a:r>
            <a:endParaRPr lang="en-US" sz="834"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설정: 등장 무대</a:t>
            </a:r>
            <a:endParaRPr lang="en-US" sz="1808" dirty="0"/>
          </a:p>
        </p:txBody>
      </p:sp>
      <p:sp>
        <p:nvSpPr>
          <p:cNvPr id="5" name="Shape 2"/>
          <p:cNvSpPr/>
          <p:nvPr/>
        </p:nvSpPr>
        <p:spPr>
          <a:xfrm>
            <a:off x="428625" y="987623"/>
            <a:ext cx="8286750" cy="1328012"/>
          </a:xfrm>
          <a:prstGeom prst="rect">
            <a:avLst/>
          </a:prstGeom>
          <a:solidFill>
            <a:srgbClr val="FFFFFF">
              <a:alpha val="5000"/>
            </a:srgbClr>
          </a:solidFill>
          <a:ln w="27432">
            <a:solidFill>
              <a:srgbClr val="00CED1"/>
            </a:solidFill>
            <a:prstDash val="solid"/>
          </a:ln>
        </p:spPr>
      </p:sp>
      <p:sp>
        <p:nvSpPr>
          <p:cNvPr id="6" name="Text 3"/>
          <p:cNvSpPr/>
          <p:nvPr/>
        </p:nvSpPr>
        <p:spPr>
          <a:xfrm>
            <a:off x="607219" y="1166217"/>
            <a:ext cx="3185806" cy="303609"/>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00CED1"/>
                </a:solidFill>
              </a:rPr>
              <a:t>붕괴된 세계 (The Collapsed World)</a:t>
            </a:r>
            <a:endParaRPr lang="en-US" sz="1397" dirty="0"/>
          </a:p>
        </p:txBody>
      </p:sp>
      <p:sp>
        <p:nvSpPr>
          <p:cNvPr id="7" name="Text 4"/>
          <p:cNvSpPr/>
          <p:nvPr/>
        </p:nvSpPr>
        <p:spPr>
          <a:xfrm>
            <a:off x="607219" y="1576983"/>
            <a:ext cx="7929563" cy="502909"/>
          </a:xfrm>
          <a:prstGeom prst="rect">
            <a:avLst/>
          </a:prstGeom>
          <a:noFill/>
          <a:ln/>
        </p:spPr>
        <p:txBody>
          <a:bodyPr wrap="square" lIns="0" tIns="0" rIns="0" bIns="0" rtlCol="0" anchor="t">
            <a:spAutoFit/>
          </a:bodyPr>
          <a:lstStyle/>
          <a:p>
            <a:pPr algn="l" indent="0" marL="0">
              <a:lnSpc>
                <a:spcPts val="2000"/>
              </a:lnSpc>
              <a:buNone/>
            </a:pPr>
            <a:r>
              <a:rPr lang="en-US" sz="1159" dirty="0">
                <a:solidFill>
                  <a:srgbClr val="E0E0E0"/>
                </a:solidFill>
              </a:rPr>
              <a:t>바이러스 확산 이후, 인간과 변이자가 뒤섞여 살아가는 포스트 아포칼립스 세계입니다. 도시의 잔해 위에 작은 마을과 위험한 구역들이 흩어져 있으며, 플레이어는 이 세계를 탐색하며 붕괴의 원인과 인간의 선택을 마주하게 됩니다.</a:t>
            </a:r>
            <a:endParaRPr lang="en-US" sz="1159" dirty="0"/>
          </a:p>
        </p:txBody>
      </p:sp>
      <p:sp>
        <p:nvSpPr>
          <p:cNvPr id="8" name="Shape 5"/>
          <p:cNvSpPr/>
          <p:nvPr/>
        </p:nvSpPr>
        <p:spPr>
          <a:xfrm>
            <a:off x="428625" y="2544235"/>
            <a:ext cx="2619384" cy="1771650"/>
          </a:xfrm>
          <a:prstGeom prst="rect">
            <a:avLst/>
          </a:prstGeom>
          <a:solidFill>
            <a:srgbClr val="FFD700">
              <a:alpha val="5000"/>
            </a:srgbClr>
          </a:solidFill>
          <a:ln w="27432">
            <a:solidFill>
              <a:srgbClr val="FFD700"/>
            </a:solidFill>
            <a:prstDash val="solid"/>
          </a:ln>
        </p:spPr>
      </p:sp>
      <p:pic>
        <p:nvPicPr>
          <p:cNvPr id="9" name="Image 1" descr="preencoded.png">    </p:cNvPr>
          <p:cNvPicPr>
            <a:picLocks noChangeAspect="1"/>
          </p:cNvPicPr>
          <p:nvPr/>
        </p:nvPicPr>
        <p:blipFill>
          <a:blip r:embed="rId2"/>
          <a:stretch>
            <a:fillRect/>
          </a:stretch>
        </p:blipFill>
        <p:spPr>
          <a:xfrm>
            <a:off x="1518326" y="2687110"/>
            <a:ext cx="401836" cy="357188"/>
          </a:xfrm>
          <a:prstGeom prst="rect">
            <a:avLst/>
          </a:prstGeom>
        </p:spPr>
      </p:pic>
      <p:sp>
        <p:nvSpPr>
          <p:cNvPr id="10" name="Text 6"/>
          <p:cNvSpPr/>
          <p:nvPr/>
        </p:nvSpPr>
        <p:spPr>
          <a:xfrm>
            <a:off x="571500" y="3151454"/>
            <a:ext cx="2295516"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팔랑 마을</a:t>
            </a:r>
            <a:endParaRPr lang="en-US" sz="1193" dirty="0"/>
          </a:p>
        </p:txBody>
      </p:sp>
      <p:sp>
        <p:nvSpPr>
          <p:cNvPr id="11" name="Text 7"/>
          <p:cNvSpPr/>
          <p:nvPr/>
        </p:nvSpPr>
        <p:spPr>
          <a:xfrm>
            <a:off x="571500" y="3537217"/>
            <a:ext cx="2295516" cy="578644"/>
          </a:xfrm>
          <a:prstGeom prst="rect">
            <a:avLst/>
          </a:prstGeom>
          <a:noFill/>
          <a:ln/>
        </p:spPr>
        <p:txBody>
          <a:bodyPr wrap="square" lIns="0" tIns="0" rIns="0" bIns="0" rtlCol="0" anchor="t">
            <a:spAutoFit/>
          </a:bodyPr>
          <a:lstStyle/>
          <a:p>
            <a:pPr algn="ctr" indent="0" marL="0">
              <a:lnSpc>
                <a:spcPts val="1500"/>
              </a:lnSpc>
              <a:buNone/>
            </a:pPr>
            <a:r>
              <a:rPr lang="en-US" sz="942" dirty="0">
                <a:solidFill>
                  <a:srgbClr val="FFFFFF"/>
                </a:solidFill>
              </a:rPr>
              <a:t>생존자들이 모여 사는 작은 공동체. 주인공에게 '착함'을 기대하고 요구하는 심리적 압박의 시작점입니다.</a:t>
            </a:r>
            <a:endParaRPr lang="en-US" sz="942" dirty="0"/>
          </a:p>
        </p:txBody>
      </p:sp>
      <p:sp>
        <p:nvSpPr>
          <p:cNvPr id="12" name="Shape 8"/>
          <p:cNvSpPr/>
          <p:nvPr/>
        </p:nvSpPr>
        <p:spPr>
          <a:xfrm>
            <a:off x="3224203" y="2544235"/>
            <a:ext cx="2638416" cy="1771650"/>
          </a:xfrm>
          <a:prstGeom prst="rect">
            <a:avLst/>
          </a:prstGeom>
          <a:solidFill>
            <a:srgbClr val="FFD700">
              <a:alpha val="5000"/>
            </a:srgbClr>
          </a:solidFill>
          <a:ln w="27432">
            <a:solidFill>
              <a:srgbClr val="FFD700"/>
            </a:solidFill>
            <a:prstDash val="solid"/>
          </a:ln>
        </p:spPr>
      </p:sp>
      <p:pic>
        <p:nvPicPr>
          <p:cNvPr id="13" name="Image 2" descr="preencoded.png">    </p:cNvPr>
          <p:cNvPicPr>
            <a:picLocks noChangeAspect="1"/>
          </p:cNvPicPr>
          <p:nvPr/>
        </p:nvPicPr>
        <p:blipFill>
          <a:blip r:embed="rId3"/>
          <a:stretch>
            <a:fillRect/>
          </a:stretch>
        </p:blipFill>
        <p:spPr>
          <a:xfrm>
            <a:off x="4320183" y="2687110"/>
            <a:ext cx="446484" cy="357188"/>
          </a:xfrm>
          <a:prstGeom prst="rect">
            <a:avLst/>
          </a:prstGeom>
        </p:spPr>
      </p:pic>
      <p:sp>
        <p:nvSpPr>
          <p:cNvPr id="14" name="Text 9"/>
          <p:cNvSpPr/>
          <p:nvPr/>
        </p:nvSpPr>
        <p:spPr>
          <a:xfrm>
            <a:off x="3386138" y="3151454"/>
            <a:ext cx="2314575"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은하 병원</a:t>
            </a:r>
            <a:endParaRPr lang="en-US" sz="1193" dirty="0"/>
          </a:p>
        </p:txBody>
      </p:sp>
      <p:sp>
        <p:nvSpPr>
          <p:cNvPr id="15" name="Text 10"/>
          <p:cNvSpPr/>
          <p:nvPr/>
        </p:nvSpPr>
        <p:spPr>
          <a:xfrm>
            <a:off x="3386138" y="3537217"/>
            <a:ext cx="2314575" cy="578644"/>
          </a:xfrm>
          <a:prstGeom prst="rect">
            <a:avLst/>
          </a:prstGeom>
          <a:noFill/>
          <a:ln/>
        </p:spPr>
        <p:txBody>
          <a:bodyPr wrap="square" lIns="0" tIns="0" rIns="0" bIns="0" rtlCol="0" anchor="t">
            <a:spAutoFit/>
          </a:bodyPr>
          <a:lstStyle/>
          <a:p>
            <a:pPr algn="ctr" indent="0" marL="0">
              <a:lnSpc>
                <a:spcPts val="1500"/>
              </a:lnSpc>
              <a:buNone/>
            </a:pPr>
            <a:r>
              <a:rPr lang="en-US" sz="942" dirty="0">
                <a:solidFill>
                  <a:srgbClr val="FFFFFF"/>
                </a:solidFill>
              </a:rPr>
              <a:t>바이러스 사태의 발단이 된 거대 연구 시설. 강성과가 설계한 진실과 변이의 공포가 공존하는 장소입니다.</a:t>
            </a:r>
            <a:endParaRPr lang="en-US" sz="942" dirty="0"/>
          </a:p>
        </p:txBody>
      </p:sp>
      <p:sp>
        <p:nvSpPr>
          <p:cNvPr id="16" name="Shape 11"/>
          <p:cNvSpPr/>
          <p:nvPr/>
        </p:nvSpPr>
        <p:spPr>
          <a:xfrm>
            <a:off x="6057900" y="2544235"/>
            <a:ext cx="2657475" cy="1771650"/>
          </a:xfrm>
          <a:prstGeom prst="rect">
            <a:avLst/>
          </a:prstGeom>
          <a:solidFill>
            <a:srgbClr val="FFD700">
              <a:alpha val="5000"/>
            </a:srgbClr>
          </a:solidFill>
          <a:ln w="27432">
            <a:solidFill>
              <a:srgbClr val="FFD700"/>
            </a:solidFill>
            <a:prstDash val="solid"/>
          </a:ln>
        </p:spPr>
      </p:sp>
      <p:pic>
        <p:nvPicPr>
          <p:cNvPr id="17" name="Image 3" descr="preencoded.png">    </p:cNvPr>
          <p:cNvPicPr>
            <a:picLocks noChangeAspect="1"/>
          </p:cNvPicPr>
          <p:nvPr/>
        </p:nvPicPr>
        <p:blipFill>
          <a:blip r:embed="rId4"/>
          <a:stretch>
            <a:fillRect/>
          </a:stretch>
        </p:blipFill>
        <p:spPr>
          <a:xfrm>
            <a:off x="7182455" y="2687110"/>
            <a:ext cx="446484" cy="357188"/>
          </a:xfrm>
          <a:prstGeom prst="rect">
            <a:avLst/>
          </a:prstGeom>
        </p:spPr>
      </p:pic>
      <p:sp>
        <p:nvSpPr>
          <p:cNvPr id="18" name="Text 12"/>
          <p:cNvSpPr/>
          <p:nvPr/>
        </p:nvSpPr>
        <p:spPr>
          <a:xfrm>
            <a:off x="6238894" y="3151454"/>
            <a:ext cx="2333634"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도시 외곽</a:t>
            </a:r>
            <a:endParaRPr lang="en-US" sz="1193" dirty="0"/>
          </a:p>
        </p:txBody>
      </p:sp>
      <p:sp>
        <p:nvSpPr>
          <p:cNvPr id="19" name="Text 13"/>
          <p:cNvSpPr/>
          <p:nvPr/>
        </p:nvSpPr>
        <p:spPr>
          <a:xfrm>
            <a:off x="6238894" y="3537217"/>
            <a:ext cx="2333634" cy="578644"/>
          </a:xfrm>
          <a:prstGeom prst="rect">
            <a:avLst/>
          </a:prstGeom>
          <a:noFill/>
          <a:ln/>
        </p:spPr>
        <p:txBody>
          <a:bodyPr wrap="square" lIns="0" tIns="0" rIns="0" bIns="0" rtlCol="0" anchor="t">
            <a:spAutoFit/>
          </a:bodyPr>
          <a:lstStyle/>
          <a:p>
            <a:pPr algn="ctr" indent="0" marL="0">
              <a:lnSpc>
                <a:spcPts val="1500"/>
              </a:lnSpc>
              <a:buNone/>
            </a:pPr>
            <a:r>
              <a:rPr lang="en-US" sz="942" dirty="0">
                <a:solidFill>
                  <a:srgbClr val="FFFFFF"/>
                </a:solidFill>
              </a:rPr>
              <a:t>문명의 잔해와 변이자들이 가득한 위험 구역. 탐색과 전투를 통해 세계의 붕괴 과정을 목격하게 됩니다.</a:t>
            </a:r>
            <a:endParaRPr lang="en-US" sz="942"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585619" cy="544711"/>
          </a:xfrm>
          <a:prstGeom prst="rect">
            <a:avLst/>
          </a:prstGeom>
          <a:solidFill>
            <a:srgbClr val="FFFFFF"/>
          </a:solidFill>
          <a:ln w="27432">
            <a:solidFill>
              <a:srgbClr val="000000"/>
            </a:solidFill>
            <a:prstDash val="solid"/>
          </a:ln>
        </p:spPr>
      </p:sp>
      <p:sp>
        <p:nvSpPr>
          <p:cNvPr id="4" name="Text 1"/>
          <p:cNvSpPr/>
          <p:nvPr/>
        </p:nvSpPr>
        <p:spPr>
          <a:xfrm>
            <a:off x="642938" y="342900"/>
            <a:ext cx="209984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시스템: 메인 플레이</a:t>
            </a:r>
            <a:endParaRPr lang="en-US" sz="1808" dirty="0"/>
          </a:p>
        </p:txBody>
      </p:sp>
      <p:sp>
        <p:nvSpPr>
          <p:cNvPr id="5" name="Shape 2"/>
          <p:cNvSpPr/>
          <p:nvPr/>
        </p:nvSpPr>
        <p:spPr>
          <a:xfrm>
            <a:off x="428625" y="987623"/>
            <a:ext cx="6218467" cy="3914775"/>
          </a:xfrm>
          <a:prstGeom prst="rect">
            <a:avLst/>
          </a:prstGeom>
          <a:solidFill>
            <a:srgbClr val="000000">
              <a:alpha val="50000"/>
            </a:srgbClr>
          </a:solidFill>
          <a:ln w="27432">
            <a:solidFill>
              <a:srgbClr val="00CED1"/>
            </a:solidFill>
            <a:prstDash val="solid"/>
          </a:ln>
        </p:spPr>
      </p:sp>
      <p:pic>
        <p:nvPicPr>
          <p:cNvPr id="6" name="Image 1" descr="preencoded.png">    </p:cNvPr>
          <p:cNvPicPr>
            <a:picLocks noChangeAspect="1"/>
          </p:cNvPicPr>
          <p:nvPr/>
        </p:nvPicPr>
        <p:blipFill>
          <a:blip r:embed="rId2"/>
          <a:stretch>
            <a:fillRect/>
          </a:stretch>
        </p:blipFill>
        <p:spPr>
          <a:xfrm>
            <a:off x="3468542" y="2845891"/>
            <a:ext cx="125016" cy="142875"/>
          </a:xfrm>
          <a:prstGeom prst="rect">
            <a:avLst/>
          </a:prstGeom>
        </p:spPr>
      </p:pic>
      <p:sp>
        <p:nvSpPr>
          <p:cNvPr id="7" name="Shape 3"/>
          <p:cNvSpPr/>
          <p:nvPr/>
        </p:nvSpPr>
        <p:spPr>
          <a:xfrm>
            <a:off x="2088012" y="1130498"/>
            <a:ext cx="2886075" cy="457200"/>
          </a:xfrm>
          <a:prstGeom prst="rect">
            <a:avLst/>
          </a:prstGeom>
          <a:solidFill>
            <a:srgbClr val="FFD700">
              <a:alpha val="10000"/>
            </a:srgbClr>
          </a:solidFill>
          <a:ln w="18288">
            <a:solidFill>
              <a:srgbClr val="FFD700"/>
            </a:solidFill>
            <a:prstDash val="dash"/>
          </a:ln>
        </p:spPr>
      </p:sp>
      <p:sp>
        <p:nvSpPr>
          <p:cNvPr id="8" name="Shape 4"/>
          <p:cNvSpPr/>
          <p:nvPr/>
        </p:nvSpPr>
        <p:spPr>
          <a:xfrm>
            <a:off x="3207865" y="987623"/>
            <a:ext cx="646370" cy="169664"/>
          </a:xfrm>
          <a:prstGeom prst="rect">
            <a:avLst/>
          </a:prstGeom>
          <a:solidFill>
            <a:srgbClr val="FFD700"/>
          </a:solidFill>
          <a:ln w="9144">
            <a:solidFill>
              <a:srgbClr val="000000"/>
            </a:solidFill>
            <a:prstDash val="solid"/>
          </a:ln>
        </p:spPr>
      </p:sp>
      <p:sp>
        <p:nvSpPr>
          <p:cNvPr id="9" name="Text 5"/>
          <p:cNvSpPr/>
          <p:nvPr/>
        </p:nvSpPr>
        <p:spPr>
          <a:xfrm>
            <a:off x="3207865" y="987623"/>
            <a:ext cx="646370" cy="169664"/>
          </a:xfrm>
          <a:prstGeom prst="rect">
            <a:avLst/>
          </a:prstGeom>
          <a:noFill/>
          <a:ln/>
        </p:spPr>
        <p:txBody>
          <a:bodyPr wrap="square" lIns="68072" tIns="17018" rIns="68072" bIns="17018" rtlCol="0" anchor="t">
            <a:spAutoFit/>
          </a:bodyPr>
          <a:lstStyle/>
          <a:p>
            <a:pPr algn="ctr" indent="0" marL="0">
              <a:lnSpc>
                <a:spcPts val="800"/>
              </a:lnSpc>
              <a:buNone/>
            </a:pPr>
            <a:r>
              <a:rPr lang="en-US" sz="621" dirty="0">
                <a:solidFill>
                  <a:srgbClr val="1A0D2E"/>
                </a:solidFill>
              </a:rPr>
              <a:t>보스 정보 영역</a:t>
            </a:r>
            <a:endParaRPr lang="en-US" sz="621" dirty="0"/>
          </a:p>
        </p:txBody>
      </p:sp>
      <p:sp>
        <p:nvSpPr>
          <p:cNvPr id="10" name="Shape 6"/>
          <p:cNvSpPr/>
          <p:nvPr/>
        </p:nvSpPr>
        <p:spPr>
          <a:xfrm>
            <a:off x="5176149" y="1130498"/>
            <a:ext cx="1314450" cy="885825"/>
          </a:xfrm>
          <a:prstGeom prst="rect">
            <a:avLst/>
          </a:prstGeom>
          <a:solidFill>
            <a:srgbClr val="FFD700">
              <a:alpha val="10000"/>
            </a:srgbClr>
          </a:solidFill>
          <a:ln w="18288">
            <a:solidFill>
              <a:srgbClr val="FFD700"/>
            </a:solidFill>
            <a:prstDash val="dash"/>
          </a:ln>
        </p:spPr>
      </p:sp>
      <p:sp>
        <p:nvSpPr>
          <p:cNvPr id="11" name="Shape 7"/>
          <p:cNvSpPr/>
          <p:nvPr/>
        </p:nvSpPr>
        <p:spPr>
          <a:xfrm>
            <a:off x="5765341" y="987623"/>
            <a:ext cx="725258" cy="169664"/>
          </a:xfrm>
          <a:prstGeom prst="rect">
            <a:avLst/>
          </a:prstGeom>
          <a:solidFill>
            <a:srgbClr val="FFD700"/>
          </a:solidFill>
          <a:ln w="9144">
            <a:solidFill>
              <a:srgbClr val="000000"/>
            </a:solidFill>
            <a:prstDash val="solid"/>
          </a:ln>
        </p:spPr>
      </p:sp>
      <p:sp>
        <p:nvSpPr>
          <p:cNvPr id="12" name="Text 8"/>
          <p:cNvSpPr/>
          <p:nvPr/>
        </p:nvSpPr>
        <p:spPr>
          <a:xfrm>
            <a:off x="5765341" y="987623"/>
            <a:ext cx="725258" cy="169664"/>
          </a:xfrm>
          <a:prstGeom prst="rect">
            <a:avLst/>
          </a:prstGeom>
          <a:noFill/>
          <a:ln/>
        </p:spPr>
        <p:txBody>
          <a:bodyPr wrap="square" lIns="68072" tIns="17018" rIns="68072" bIns="17018" rtlCol="0" anchor="t">
            <a:spAutoFit/>
          </a:bodyPr>
          <a:lstStyle/>
          <a:p>
            <a:pPr algn="ctr" indent="0" marL="0">
              <a:lnSpc>
                <a:spcPts val="800"/>
              </a:lnSpc>
              <a:buNone/>
            </a:pPr>
            <a:r>
              <a:rPr lang="en-US" sz="621" dirty="0">
                <a:solidFill>
                  <a:srgbClr val="1A0D2E"/>
                </a:solidFill>
              </a:rPr>
              <a:t>퀘스트 정보 영역</a:t>
            </a:r>
            <a:endParaRPr lang="en-US" sz="621" dirty="0"/>
          </a:p>
        </p:txBody>
      </p:sp>
      <p:sp>
        <p:nvSpPr>
          <p:cNvPr id="13" name="Text 9"/>
          <p:cNvSpPr/>
          <p:nvPr/>
        </p:nvSpPr>
        <p:spPr>
          <a:xfrm>
            <a:off x="5501748" y="1419820"/>
            <a:ext cx="691828" cy="278606"/>
          </a:xfrm>
          <a:prstGeom prst="rect">
            <a:avLst/>
          </a:prstGeom>
          <a:noFill/>
          <a:ln/>
        </p:spPr>
        <p:txBody>
          <a:bodyPr wrap="square" lIns="42545" tIns="42545" rIns="42545" bIns="42545" rtlCol="0" anchor="t">
            <a:spAutoFit/>
          </a:bodyPr>
          <a:lstStyle/>
          <a:p>
            <a:pPr algn="l" indent="0" marL="0">
              <a:lnSpc>
                <a:spcPts val="700"/>
              </a:lnSpc>
              <a:buNone/>
            </a:pPr>
            <a:r>
              <a:rPr lang="en-US" sz="516" dirty="0">
                <a:solidFill>
                  <a:srgbClr val="FFD700"/>
                </a:solidFill>
              </a:rPr>
              <a:t>[팔랑 마을]</a:t>
            </a:r>
            <a:pPr algn="l" indent="0" marL="0">
              <a:lnSpc>
                <a:spcPts val="700"/>
              </a:lnSpc>
              <a:buNone/>
            </a:pPr>
            <a:r>
              <a:rPr lang="en-US" sz="516" dirty="0">
                <a:solidFill>
                  <a:srgbClr val="FFD700"/>
                </a:solidFill>
              </a:rPr>
              <a:t>
</a:t>
            </a:r>
            <a:pPr algn="l" indent="0" marL="0">
              <a:lnSpc>
                <a:spcPts val="700"/>
              </a:lnSpc>
              <a:buNone/>
            </a:pPr>
            <a:r>
              <a:rPr lang="en-US" sz="516" dirty="0">
                <a:solidFill>
                  <a:srgbClr val="FFD700"/>
                </a:solidFill>
              </a:rPr>
              <a:t>도시 외곽으로 가서...</a:t>
            </a:r>
            <a:endParaRPr lang="en-US" sz="516" dirty="0"/>
          </a:p>
        </p:txBody>
      </p:sp>
      <p:sp>
        <p:nvSpPr>
          <p:cNvPr id="14" name="Shape 10"/>
          <p:cNvSpPr/>
          <p:nvPr/>
        </p:nvSpPr>
        <p:spPr>
          <a:xfrm>
            <a:off x="571500" y="3959423"/>
            <a:ext cx="2171700" cy="742950"/>
          </a:xfrm>
          <a:prstGeom prst="rect">
            <a:avLst/>
          </a:prstGeom>
          <a:solidFill>
            <a:srgbClr val="FFD700">
              <a:alpha val="10000"/>
            </a:srgbClr>
          </a:solidFill>
          <a:ln w="18288">
            <a:solidFill>
              <a:srgbClr val="FFD700"/>
            </a:solidFill>
            <a:prstDash val="dash"/>
          </a:ln>
        </p:spPr>
      </p:sp>
      <p:sp>
        <p:nvSpPr>
          <p:cNvPr id="15" name="Shape 11"/>
          <p:cNvSpPr/>
          <p:nvPr/>
        </p:nvSpPr>
        <p:spPr>
          <a:xfrm>
            <a:off x="571500" y="4675584"/>
            <a:ext cx="725258" cy="169664"/>
          </a:xfrm>
          <a:prstGeom prst="rect">
            <a:avLst/>
          </a:prstGeom>
          <a:solidFill>
            <a:srgbClr val="FFD700"/>
          </a:solidFill>
          <a:ln w="9144">
            <a:solidFill>
              <a:srgbClr val="000000"/>
            </a:solidFill>
            <a:prstDash val="solid"/>
          </a:ln>
        </p:spPr>
      </p:sp>
      <p:sp>
        <p:nvSpPr>
          <p:cNvPr id="16" name="Text 12"/>
          <p:cNvSpPr/>
          <p:nvPr/>
        </p:nvSpPr>
        <p:spPr>
          <a:xfrm>
            <a:off x="571500" y="4675584"/>
            <a:ext cx="725258" cy="169664"/>
          </a:xfrm>
          <a:prstGeom prst="rect">
            <a:avLst/>
          </a:prstGeom>
          <a:noFill/>
          <a:ln/>
        </p:spPr>
        <p:txBody>
          <a:bodyPr wrap="square" lIns="68072" tIns="17018" rIns="68072" bIns="17018" rtlCol="0" anchor="t">
            <a:spAutoFit/>
          </a:bodyPr>
          <a:lstStyle/>
          <a:p>
            <a:pPr algn="ctr" indent="0" marL="0">
              <a:lnSpc>
                <a:spcPts val="800"/>
              </a:lnSpc>
              <a:buNone/>
            </a:pPr>
            <a:r>
              <a:rPr lang="en-US" sz="621" dirty="0">
                <a:solidFill>
                  <a:srgbClr val="1A0D2E"/>
                </a:solidFill>
              </a:rPr>
              <a:t>캐릭터 정보 영역</a:t>
            </a:r>
            <a:endParaRPr lang="en-US" sz="621" dirty="0"/>
          </a:p>
        </p:txBody>
      </p:sp>
      <p:sp>
        <p:nvSpPr>
          <p:cNvPr id="17" name="Text 13"/>
          <p:cNvSpPr/>
          <p:nvPr/>
        </p:nvSpPr>
        <p:spPr>
          <a:xfrm>
            <a:off x="5741705" y="4693444"/>
            <a:ext cx="820331" cy="116086"/>
          </a:xfrm>
          <a:prstGeom prst="rect">
            <a:avLst/>
          </a:prstGeom>
          <a:noFill/>
          <a:ln/>
        </p:spPr>
        <p:txBody>
          <a:bodyPr wrap="none" lIns="0" tIns="0" rIns="0" bIns="0" rtlCol="0" anchor="t">
            <a:spAutoFit/>
          </a:bodyPr>
          <a:lstStyle/>
          <a:p>
            <a:pPr algn="l" indent="0" marL="0">
              <a:lnSpc>
                <a:spcPts val="800"/>
              </a:lnSpc>
              <a:buNone/>
            </a:pPr>
            <a:r>
              <a:rPr lang="en-US" sz="621" dirty="0">
                <a:solidFill>
                  <a:srgbClr val="00CED1"/>
                </a:solidFill>
              </a:rPr>
              <a:t>1920 X 1080 (Scaled)</a:t>
            </a:r>
            <a:endParaRPr lang="en-US" sz="621" dirty="0"/>
          </a:p>
        </p:txBody>
      </p:sp>
      <p:sp>
        <p:nvSpPr>
          <p:cNvPr id="18" name="Shape 14"/>
          <p:cNvSpPr/>
          <p:nvPr/>
        </p:nvSpPr>
        <p:spPr>
          <a:xfrm>
            <a:off x="6776349" y="987623"/>
            <a:ext cx="1939026" cy="606493"/>
          </a:xfrm>
          <a:prstGeom prst="rect">
            <a:avLst/>
          </a:prstGeom>
          <a:solidFill>
            <a:srgbClr val="FFFFFF">
              <a:alpha val="5000"/>
            </a:srgbClr>
          </a:solidFill>
          <a:ln/>
        </p:spPr>
      </p:sp>
      <p:sp>
        <p:nvSpPr>
          <p:cNvPr id="19" name="Shape 15"/>
          <p:cNvSpPr/>
          <p:nvPr/>
        </p:nvSpPr>
        <p:spPr>
          <a:xfrm>
            <a:off x="6776349" y="987623"/>
            <a:ext cx="28575" cy="606493"/>
          </a:xfrm>
          <a:prstGeom prst="rect">
            <a:avLst/>
          </a:prstGeom>
          <a:solidFill>
            <a:srgbClr val="FFD700"/>
          </a:solidFill>
          <a:ln/>
        </p:spPr>
      </p:sp>
      <p:sp>
        <p:nvSpPr>
          <p:cNvPr id="20" name="Text 16"/>
          <p:cNvSpPr/>
          <p:nvPr/>
        </p:nvSpPr>
        <p:spPr>
          <a:xfrm>
            <a:off x="6862074" y="1044773"/>
            <a:ext cx="1767576" cy="189309"/>
          </a:xfrm>
          <a:prstGeom prst="rect">
            <a:avLst/>
          </a:prstGeom>
          <a:noFill/>
          <a:ln/>
        </p:spPr>
        <p:txBody>
          <a:bodyPr wrap="none" lIns="0" tIns="0" rIns="0" bIns="0" rtlCol="0" anchor="t">
            <a:spAutoFit/>
          </a:bodyPr>
          <a:lstStyle/>
          <a:p>
            <a:pPr algn="l" indent="0" marL="0">
              <a:lnSpc>
                <a:spcPts val="1200"/>
              </a:lnSpc>
              <a:buNone/>
            </a:pPr>
            <a:r>
              <a:rPr lang="en-US" sz="885" b="1" dirty="0">
                <a:solidFill>
                  <a:srgbClr val="FFD700"/>
                </a:solidFill>
              </a:rPr>
              <a:t>보스 정보 영역</a:t>
            </a:r>
            <a:endParaRPr lang="en-US" sz="885" dirty="0"/>
          </a:p>
        </p:txBody>
      </p:sp>
      <p:sp>
        <p:nvSpPr>
          <p:cNvPr id="21" name="Text 17"/>
          <p:cNvSpPr/>
          <p:nvPr/>
        </p:nvSpPr>
        <p:spPr>
          <a:xfrm>
            <a:off x="6862074" y="1276945"/>
            <a:ext cx="1767576" cy="260021"/>
          </a:xfrm>
          <a:prstGeom prst="rect">
            <a:avLst/>
          </a:prstGeom>
          <a:noFill/>
          <a:ln/>
        </p:spPr>
        <p:txBody>
          <a:bodyPr wrap="square" lIns="0" tIns="0" rIns="0" bIns="0" rtlCol="0" anchor="t">
            <a:spAutoFit/>
          </a:bodyPr>
          <a:lstStyle/>
          <a:p>
            <a:pPr algn="l" indent="0" marL="0">
              <a:lnSpc>
                <a:spcPts val="1000"/>
              </a:lnSpc>
              <a:buNone/>
            </a:pPr>
            <a:r>
              <a:rPr lang="en-US" sz="727" dirty="0">
                <a:solidFill>
                  <a:srgbClr val="E0E0E0"/>
                </a:solidFill>
              </a:rPr>
              <a:t>보스 생명력 바, 페이즈 아이콘, 보스 이름 및 상태 정보가 상단 중앙에 배치됩니다.</a:t>
            </a:r>
            <a:endParaRPr lang="en-US" sz="727" dirty="0"/>
          </a:p>
        </p:txBody>
      </p:sp>
      <p:sp>
        <p:nvSpPr>
          <p:cNvPr id="22" name="Shape 18"/>
          <p:cNvSpPr/>
          <p:nvPr/>
        </p:nvSpPr>
        <p:spPr>
          <a:xfrm>
            <a:off x="6776349" y="1679842"/>
            <a:ext cx="1939026" cy="606493"/>
          </a:xfrm>
          <a:prstGeom prst="rect">
            <a:avLst/>
          </a:prstGeom>
          <a:solidFill>
            <a:srgbClr val="FFFFFF">
              <a:alpha val="5000"/>
            </a:srgbClr>
          </a:solidFill>
          <a:ln/>
        </p:spPr>
      </p:sp>
      <p:sp>
        <p:nvSpPr>
          <p:cNvPr id="23" name="Shape 19"/>
          <p:cNvSpPr/>
          <p:nvPr/>
        </p:nvSpPr>
        <p:spPr>
          <a:xfrm>
            <a:off x="6776349" y="1679842"/>
            <a:ext cx="28575" cy="606493"/>
          </a:xfrm>
          <a:prstGeom prst="rect">
            <a:avLst/>
          </a:prstGeom>
          <a:solidFill>
            <a:srgbClr val="FFD700"/>
          </a:solidFill>
          <a:ln/>
        </p:spPr>
      </p:sp>
      <p:sp>
        <p:nvSpPr>
          <p:cNvPr id="24" name="Text 20"/>
          <p:cNvSpPr/>
          <p:nvPr/>
        </p:nvSpPr>
        <p:spPr>
          <a:xfrm>
            <a:off x="6862074" y="1736992"/>
            <a:ext cx="1767576" cy="189309"/>
          </a:xfrm>
          <a:prstGeom prst="rect">
            <a:avLst/>
          </a:prstGeom>
          <a:noFill/>
          <a:ln/>
        </p:spPr>
        <p:txBody>
          <a:bodyPr wrap="none" lIns="0" tIns="0" rIns="0" bIns="0" rtlCol="0" anchor="t">
            <a:spAutoFit/>
          </a:bodyPr>
          <a:lstStyle/>
          <a:p>
            <a:pPr algn="l" indent="0" marL="0">
              <a:lnSpc>
                <a:spcPts val="1200"/>
              </a:lnSpc>
              <a:buNone/>
            </a:pPr>
            <a:r>
              <a:rPr lang="en-US" sz="885" b="1" dirty="0">
                <a:solidFill>
                  <a:srgbClr val="FFD700"/>
                </a:solidFill>
              </a:rPr>
              <a:t>퀘스트 영역</a:t>
            </a:r>
            <a:endParaRPr lang="en-US" sz="885" dirty="0"/>
          </a:p>
        </p:txBody>
      </p:sp>
      <p:sp>
        <p:nvSpPr>
          <p:cNvPr id="25" name="Text 21"/>
          <p:cNvSpPr/>
          <p:nvPr/>
        </p:nvSpPr>
        <p:spPr>
          <a:xfrm>
            <a:off x="6862074" y="1969164"/>
            <a:ext cx="1767576" cy="260021"/>
          </a:xfrm>
          <a:prstGeom prst="rect">
            <a:avLst/>
          </a:prstGeom>
          <a:noFill/>
          <a:ln/>
        </p:spPr>
        <p:txBody>
          <a:bodyPr wrap="square" lIns="0" tIns="0" rIns="0" bIns="0" rtlCol="0" anchor="t">
            <a:spAutoFit/>
          </a:bodyPr>
          <a:lstStyle/>
          <a:p>
            <a:pPr algn="l" indent="0" marL="0">
              <a:lnSpc>
                <a:spcPts val="1000"/>
              </a:lnSpc>
              <a:buNone/>
            </a:pPr>
            <a:r>
              <a:rPr lang="en-US" sz="727" dirty="0">
                <a:solidFill>
                  <a:srgbClr val="E0E0E0"/>
                </a:solidFill>
              </a:rPr>
              <a:t>현재 진행 중인 퀘스트 목표와 위치 정보를 상단 우측에 간결하게 표시합니다.</a:t>
            </a:r>
            <a:endParaRPr lang="en-US" sz="727" dirty="0"/>
          </a:p>
        </p:txBody>
      </p:sp>
      <p:sp>
        <p:nvSpPr>
          <p:cNvPr id="26" name="Shape 22"/>
          <p:cNvSpPr/>
          <p:nvPr/>
        </p:nvSpPr>
        <p:spPr>
          <a:xfrm>
            <a:off x="6776349" y="2372060"/>
            <a:ext cx="1939026" cy="606493"/>
          </a:xfrm>
          <a:prstGeom prst="rect">
            <a:avLst/>
          </a:prstGeom>
          <a:solidFill>
            <a:srgbClr val="FFFFFF">
              <a:alpha val="5000"/>
            </a:srgbClr>
          </a:solidFill>
          <a:ln/>
        </p:spPr>
      </p:sp>
      <p:sp>
        <p:nvSpPr>
          <p:cNvPr id="27" name="Shape 23"/>
          <p:cNvSpPr/>
          <p:nvPr/>
        </p:nvSpPr>
        <p:spPr>
          <a:xfrm>
            <a:off x="6776349" y="2372060"/>
            <a:ext cx="28575" cy="606493"/>
          </a:xfrm>
          <a:prstGeom prst="rect">
            <a:avLst/>
          </a:prstGeom>
          <a:solidFill>
            <a:srgbClr val="FFD700"/>
          </a:solidFill>
          <a:ln/>
        </p:spPr>
      </p:sp>
      <p:sp>
        <p:nvSpPr>
          <p:cNvPr id="28" name="Text 24"/>
          <p:cNvSpPr/>
          <p:nvPr/>
        </p:nvSpPr>
        <p:spPr>
          <a:xfrm>
            <a:off x="6862074" y="2429210"/>
            <a:ext cx="1767576" cy="189309"/>
          </a:xfrm>
          <a:prstGeom prst="rect">
            <a:avLst/>
          </a:prstGeom>
          <a:noFill/>
          <a:ln/>
        </p:spPr>
        <p:txBody>
          <a:bodyPr wrap="none" lIns="0" tIns="0" rIns="0" bIns="0" rtlCol="0" anchor="t">
            <a:spAutoFit/>
          </a:bodyPr>
          <a:lstStyle/>
          <a:p>
            <a:pPr algn="l" indent="0" marL="0">
              <a:lnSpc>
                <a:spcPts val="1200"/>
              </a:lnSpc>
              <a:buNone/>
            </a:pPr>
            <a:r>
              <a:rPr lang="en-US" sz="885" b="1" dirty="0">
                <a:solidFill>
                  <a:srgbClr val="FFD700"/>
                </a:solidFill>
              </a:rPr>
              <a:t>캐릭터 정보 영역</a:t>
            </a:r>
            <a:endParaRPr lang="en-US" sz="885" dirty="0"/>
          </a:p>
        </p:txBody>
      </p:sp>
      <p:sp>
        <p:nvSpPr>
          <p:cNvPr id="29" name="Text 25"/>
          <p:cNvSpPr/>
          <p:nvPr/>
        </p:nvSpPr>
        <p:spPr>
          <a:xfrm>
            <a:off x="6862074" y="2661382"/>
            <a:ext cx="1767576" cy="260021"/>
          </a:xfrm>
          <a:prstGeom prst="rect">
            <a:avLst/>
          </a:prstGeom>
          <a:noFill/>
          <a:ln/>
        </p:spPr>
        <p:txBody>
          <a:bodyPr wrap="square" lIns="0" tIns="0" rIns="0" bIns="0" rtlCol="0" anchor="t">
            <a:spAutoFit/>
          </a:bodyPr>
          <a:lstStyle/>
          <a:p>
            <a:pPr algn="l" indent="0" marL="0">
              <a:lnSpc>
                <a:spcPts val="1000"/>
              </a:lnSpc>
              <a:buNone/>
            </a:pPr>
            <a:r>
              <a:rPr lang="en-US" sz="727" dirty="0">
                <a:solidFill>
                  <a:srgbClr val="E0E0E0"/>
                </a:solidFill>
              </a:rPr>
              <a:t>주인공 HP, 자아 마모도, 상태 이상 및 퀵슬롯 아이콘이 하단 좌측에 집중 배치됩니다.</a:t>
            </a:r>
            <a:endParaRPr lang="en-US" sz="727"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710355" cy="544711"/>
          </a:xfrm>
          <a:prstGeom prst="rect">
            <a:avLst/>
          </a:prstGeom>
          <a:solidFill>
            <a:srgbClr val="FFFFFF"/>
          </a:solidFill>
          <a:ln w="27432">
            <a:solidFill>
              <a:srgbClr val="000000"/>
            </a:solidFill>
            <a:prstDash val="solid"/>
          </a:ln>
        </p:spPr>
      </p:sp>
      <p:sp>
        <p:nvSpPr>
          <p:cNvPr id="4" name="Text 1"/>
          <p:cNvSpPr/>
          <p:nvPr/>
        </p:nvSpPr>
        <p:spPr>
          <a:xfrm>
            <a:off x="642938" y="342900"/>
            <a:ext cx="2224580"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시스템: UI 설정 영역</a:t>
            </a:r>
            <a:endParaRPr lang="en-US" sz="1808" dirty="0"/>
          </a:p>
        </p:txBody>
      </p:sp>
      <p:sp>
        <p:nvSpPr>
          <p:cNvPr id="5" name="Shape 2"/>
          <p:cNvSpPr/>
          <p:nvPr/>
        </p:nvSpPr>
        <p:spPr>
          <a:xfrm>
            <a:off x="428625" y="844748"/>
            <a:ext cx="4100513" cy="1793081"/>
          </a:xfrm>
          <a:prstGeom prst="rect">
            <a:avLst/>
          </a:prstGeom>
          <a:solidFill>
            <a:srgbClr val="FFFFFF">
              <a:alpha val="5000"/>
            </a:srgbClr>
          </a:solidFill>
          <a:ln w="27432">
            <a:solidFill>
              <a:srgbClr val="00CED1"/>
            </a:solidFill>
            <a:prstDash val="solid"/>
          </a:ln>
        </p:spPr>
      </p:sp>
      <p:pic>
        <p:nvPicPr>
          <p:cNvPr id="6" name="Image 1" descr="preencoded.png">    </p:cNvPr>
          <p:cNvPicPr>
            <a:picLocks noChangeAspect="1"/>
          </p:cNvPicPr>
          <p:nvPr/>
        </p:nvPicPr>
        <p:blipFill>
          <a:blip r:embed="rId2"/>
          <a:stretch>
            <a:fillRect/>
          </a:stretch>
        </p:blipFill>
        <p:spPr>
          <a:xfrm>
            <a:off x="542925" y="998339"/>
            <a:ext cx="171450" cy="171450"/>
          </a:xfrm>
          <a:prstGeom prst="rect">
            <a:avLst/>
          </a:prstGeom>
        </p:spPr>
      </p:pic>
      <p:sp>
        <p:nvSpPr>
          <p:cNvPr id="7" name="Text 3"/>
          <p:cNvSpPr/>
          <p:nvPr/>
        </p:nvSpPr>
        <p:spPr>
          <a:xfrm>
            <a:off x="785813" y="959048"/>
            <a:ext cx="1193313"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D700"/>
                </a:solidFill>
              </a:rPr>
              <a:t>캐릭터 정보 영역</a:t>
            </a:r>
            <a:endParaRPr lang="en-US" sz="1269" dirty="0"/>
          </a:p>
        </p:txBody>
      </p:sp>
      <p:sp>
        <p:nvSpPr>
          <p:cNvPr id="8" name="Shape 4"/>
          <p:cNvSpPr/>
          <p:nvPr/>
        </p:nvSpPr>
        <p:spPr>
          <a:xfrm>
            <a:off x="542925" y="1337667"/>
            <a:ext cx="3871913" cy="671513"/>
          </a:xfrm>
          <a:prstGeom prst="rect">
            <a:avLst/>
          </a:prstGeom>
          <a:solidFill>
            <a:srgbClr val="000000"/>
          </a:solidFill>
          <a:ln w="18288">
            <a:solidFill>
              <a:srgbClr val="FFFFFF"/>
            </a:solidFill>
            <a:prstDash val="solid"/>
          </a:ln>
        </p:spPr>
      </p:sp>
      <p:sp>
        <p:nvSpPr>
          <p:cNvPr id="9" name="Shape 5"/>
          <p:cNvSpPr/>
          <p:nvPr/>
        </p:nvSpPr>
        <p:spPr>
          <a:xfrm>
            <a:off x="628650" y="1423392"/>
            <a:ext cx="471488" cy="471488"/>
          </a:xfrm>
          <a:prstGeom prst="rect">
            <a:avLst/>
          </a:prstGeom>
          <a:solidFill>
            <a:srgbClr val="222222"/>
          </a:solidFill>
          <a:ln w="18288">
            <a:solidFill>
              <a:srgbClr val="FFD700"/>
            </a:solidFill>
            <a:prstDash val="solid"/>
          </a:ln>
        </p:spPr>
      </p:sp>
      <p:pic>
        <p:nvPicPr>
          <p:cNvPr id="10" name="Image 2" descr="preencoded.png">    </p:cNvPr>
          <p:cNvPicPr>
            <a:picLocks noChangeAspect="1"/>
          </p:cNvPicPr>
          <p:nvPr/>
        </p:nvPicPr>
        <p:blipFill>
          <a:blip r:embed="rId3"/>
          <a:stretch>
            <a:fillRect/>
          </a:stretch>
        </p:blipFill>
        <p:spPr>
          <a:xfrm>
            <a:off x="757238" y="1551980"/>
            <a:ext cx="171450" cy="171450"/>
          </a:xfrm>
          <a:prstGeom prst="rect">
            <a:avLst/>
          </a:prstGeom>
        </p:spPr>
      </p:pic>
      <p:sp>
        <p:nvSpPr>
          <p:cNvPr id="11" name="Shape 6"/>
          <p:cNvSpPr/>
          <p:nvPr/>
        </p:nvSpPr>
        <p:spPr>
          <a:xfrm>
            <a:off x="1143000" y="1448395"/>
            <a:ext cx="3228975" cy="214313"/>
          </a:xfrm>
          <a:prstGeom prst="rect">
            <a:avLst/>
          </a:prstGeom>
          <a:solidFill>
            <a:srgbClr val="333333"/>
          </a:solidFill>
          <a:ln w="18288">
            <a:solidFill>
              <a:srgbClr val="FFFFFF"/>
            </a:solidFill>
            <a:prstDash val="solid"/>
          </a:ln>
        </p:spPr>
      </p:sp>
      <p:sp>
        <p:nvSpPr>
          <p:cNvPr id="12" name="Shape 7"/>
          <p:cNvSpPr/>
          <p:nvPr/>
        </p:nvSpPr>
        <p:spPr>
          <a:xfrm>
            <a:off x="1143000" y="1676995"/>
            <a:ext cx="3228975" cy="128588"/>
          </a:xfrm>
          <a:prstGeom prst="rect">
            <a:avLst/>
          </a:prstGeom>
          <a:solidFill>
            <a:srgbClr val="333333"/>
          </a:solidFill>
          <a:ln w="18288">
            <a:solidFill>
              <a:srgbClr val="00CED1"/>
            </a:solidFill>
            <a:prstDash val="solid"/>
          </a:ln>
        </p:spPr>
      </p:sp>
      <p:sp>
        <p:nvSpPr>
          <p:cNvPr id="13" name="Text 8"/>
          <p:cNvSpPr/>
          <p:nvPr/>
        </p:nvSpPr>
        <p:spPr>
          <a:xfrm>
            <a:off x="542925" y="2009180"/>
            <a:ext cx="3871913" cy="385763"/>
          </a:xfrm>
          <a:prstGeom prst="rect">
            <a:avLst/>
          </a:prstGeom>
          <a:noFill/>
          <a:ln/>
        </p:spPr>
        <p:txBody>
          <a:bodyPr wrap="square" lIns="0" tIns="0" rIns="0" bIns="0" rtlCol="0" anchor="t">
            <a:spAutoFit/>
          </a:bodyPr>
          <a:lstStyle/>
          <a:p>
            <a:pPr algn="l" indent="0" marL="0">
              <a:lnSpc>
                <a:spcPts val="1500"/>
              </a:lnSpc>
              <a:buNone/>
            </a:pPr>
            <a:r>
              <a:rPr lang="en-US" sz="885" b="1" dirty="0">
                <a:solidFill>
                  <a:srgbClr val="FFD700"/>
                </a:solidFill>
              </a:rPr>
              <a:t>주인공 생명력 및 자아 마모도:</a:t>
            </a:r>
            <a:pPr algn="l" indent="0" marL="0">
              <a:lnSpc>
                <a:spcPts val="1500"/>
              </a:lnSpc>
              <a:buNone/>
            </a:pPr>
            <a:r>
              <a:rPr lang="en-US" sz="942" dirty="0">
                <a:solidFill>
                  <a:srgbClr val="E0E0E0"/>
                </a:solidFill>
              </a:rPr>
              <a:t> 현재 체력과 마모 상태를 직관적으로 표시</a:t>
            </a:r>
            <a:pPr algn="l" indent="0" marL="0">
              <a:lnSpc>
                <a:spcPts val="1500"/>
              </a:lnSpc>
              <a:buNone/>
            </a:pPr>
            <a:r>
              <a:rPr lang="en-US" sz="942" dirty="0">
                <a:solidFill>
                  <a:srgbClr val="E0E0E0"/>
                </a:solidFill>
              </a:rPr>
              <a:t>합니다.</a:t>
            </a:r>
            <a:endParaRPr lang="en-US" sz="885" dirty="0"/>
          </a:p>
        </p:txBody>
      </p:sp>
      <p:sp>
        <p:nvSpPr>
          <p:cNvPr id="14" name="Shape 9"/>
          <p:cNvSpPr/>
          <p:nvPr/>
        </p:nvSpPr>
        <p:spPr>
          <a:xfrm>
            <a:off x="4614863" y="844748"/>
            <a:ext cx="4100513" cy="1664494"/>
          </a:xfrm>
          <a:prstGeom prst="rect">
            <a:avLst/>
          </a:prstGeom>
          <a:solidFill>
            <a:srgbClr val="FFFFFF">
              <a:alpha val="5000"/>
            </a:srgbClr>
          </a:solidFill>
          <a:ln w="27432">
            <a:solidFill>
              <a:srgbClr val="FF69B4"/>
            </a:solidFill>
            <a:prstDash val="solid"/>
          </a:ln>
        </p:spPr>
      </p:sp>
      <p:pic>
        <p:nvPicPr>
          <p:cNvPr id="15" name="Image 3" descr="preencoded.png">    </p:cNvPr>
          <p:cNvPicPr>
            <a:picLocks noChangeAspect="1"/>
          </p:cNvPicPr>
          <p:nvPr/>
        </p:nvPicPr>
        <p:blipFill>
          <a:blip r:embed="rId4"/>
          <a:stretch>
            <a:fillRect/>
          </a:stretch>
        </p:blipFill>
        <p:spPr>
          <a:xfrm>
            <a:off x="4729163" y="998339"/>
            <a:ext cx="171450" cy="171450"/>
          </a:xfrm>
          <a:prstGeom prst="rect">
            <a:avLst/>
          </a:prstGeom>
        </p:spPr>
      </p:pic>
      <p:sp>
        <p:nvSpPr>
          <p:cNvPr id="16" name="Text 10"/>
          <p:cNvSpPr/>
          <p:nvPr/>
        </p:nvSpPr>
        <p:spPr>
          <a:xfrm>
            <a:off x="4972050" y="959048"/>
            <a:ext cx="1035565"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69B4"/>
                </a:solidFill>
              </a:rPr>
              <a:t>보스 정보 영역</a:t>
            </a:r>
            <a:endParaRPr lang="en-US" sz="1269" dirty="0"/>
          </a:p>
        </p:txBody>
      </p:sp>
      <p:sp>
        <p:nvSpPr>
          <p:cNvPr id="17" name="Shape 11"/>
          <p:cNvSpPr/>
          <p:nvPr/>
        </p:nvSpPr>
        <p:spPr>
          <a:xfrm>
            <a:off x="4729163" y="1337667"/>
            <a:ext cx="3871913" cy="600075"/>
          </a:xfrm>
          <a:prstGeom prst="rect">
            <a:avLst/>
          </a:prstGeom>
          <a:solidFill>
            <a:srgbClr val="000000"/>
          </a:solidFill>
          <a:ln w="18288">
            <a:solidFill>
              <a:srgbClr val="FFFFFF"/>
            </a:solidFill>
            <a:prstDash val="solid"/>
          </a:ln>
        </p:spPr>
      </p:sp>
      <p:sp>
        <p:nvSpPr>
          <p:cNvPr id="18" name="Shape 12"/>
          <p:cNvSpPr/>
          <p:nvPr/>
        </p:nvSpPr>
        <p:spPr>
          <a:xfrm>
            <a:off x="4814888" y="1423392"/>
            <a:ext cx="3743325" cy="214313"/>
          </a:xfrm>
          <a:prstGeom prst="rect">
            <a:avLst/>
          </a:prstGeom>
          <a:solidFill>
            <a:srgbClr val="333333"/>
          </a:solidFill>
          <a:ln w="18288">
            <a:solidFill>
              <a:srgbClr val="FF69B4"/>
            </a:solidFill>
            <a:prstDash val="solid"/>
          </a:ln>
        </p:spPr>
      </p:sp>
      <p:pic>
        <p:nvPicPr>
          <p:cNvPr id="19" name="Image 4" descr="preencoded.png">    </p:cNvPr>
          <p:cNvPicPr>
            <a:picLocks noChangeAspect="1"/>
          </p:cNvPicPr>
          <p:nvPr/>
        </p:nvPicPr>
        <p:blipFill>
          <a:blip r:embed="rId5"/>
          <a:stretch>
            <a:fillRect/>
          </a:stretch>
        </p:blipFill>
        <p:spPr>
          <a:xfrm>
            <a:off x="4814888" y="1694855"/>
            <a:ext cx="85725" cy="85725"/>
          </a:xfrm>
          <a:prstGeom prst="rect">
            <a:avLst/>
          </a:prstGeom>
        </p:spPr>
      </p:pic>
      <p:pic>
        <p:nvPicPr>
          <p:cNvPr id="20" name="Image 5" descr="preencoded.png">    </p:cNvPr>
          <p:cNvPicPr>
            <a:picLocks noChangeAspect="1"/>
          </p:cNvPicPr>
          <p:nvPr/>
        </p:nvPicPr>
        <p:blipFill>
          <a:blip r:embed="rId6"/>
          <a:stretch>
            <a:fillRect/>
          </a:stretch>
        </p:blipFill>
        <p:spPr>
          <a:xfrm>
            <a:off x="4943475" y="1694855"/>
            <a:ext cx="85725" cy="85725"/>
          </a:xfrm>
          <a:prstGeom prst="rect">
            <a:avLst/>
          </a:prstGeom>
        </p:spPr>
      </p:pic>
      <p:pic>
        <p:nvPicPr>
          <p:cNvPr id="21" name="Image 6" descr="preencoded.png">    </p:cNvPr>
          <p:cNvPicPr>
            <a:picLocks noChangeAspect="1"/>
          </p:cNvPicPr>
          <p:nvPr/>
        </p:nvPicPr>
        <p:blipFill>
          <a:blip r:embed="rId7"/>
          <a:stretch>
            <a:fillRect/>
          </a:stretch>
        </p:blipFill>
        <p:spPr>
          <a:xfrm>
            <a:off x="5072063" y="1694855"/>
            <a:ext cx="85725" cy="85725"/>
          </a:xfrm>
          <a:prstGeom prst="rect">
            <a:avLst/>
          </a:prstGeom>
        </p:spPr>
      </p:pic>
      <p:sp>
        <p:nvSpPr>
          <p:cNvPr id="22" name="Text 13"/>
          <p:cNvSpPr/>
          <p:nvPr/>
        </p:nvSpPr>
        <p:spPr>
          <a:xfrm>
            <a:off x="4729163" y="1937742"/>
            <a:ext cx="3871913" cy="192881"/>
          </a:xfrm>
          <a:prstGeom prst="rect">
            <a:avLst/>
          </a:prstGeom>
          <a:noFill/>
          <a:ln/>
        </p:spPr>
        <p:txBody>
          <a:bodyPr wrap="none" lIns="0" tIns="0" rIns="0" bIns="0" rtlCol="0" anchor="t">
            <a:spAutoFit/>
          </a:bodyPr>
          <a:lstStyle/>
          <a:p>
            <a:pPr algn="l" indent="0" marL="0">
              <a:lnSpc>
                <a:spcPts val="1500"/>
              </a:lnSpc>
              <a:buNone/>
            </a:pPr>
            <a:r>
              <a:rPr lang="en-US" sz="885" b="1" dirty="0">
                <a:solidFill>
                  <a:srgbClr val="FFD700"/>
                </a:solidFill>
              </a:rPr>
              <a:t>보스 생명력 및 페이즈:</a:t>
            </a:r>
            <a:pPr algn="l" indent="0" marL="0">
              <a:lnSpc>
                <a:spcPts val="1500"/>
              </a:lnSpc>
              <a:buNone/>
            </a:pPr>
            <a:r>
              <a:rPr lang="en-US" sz="942" dirty="0">
                <a:solidFill>
                  <a:srgbClr val="E0E0E0"/>
                </a:solidFill>
              </a:rPr>
              <a:t> 남은 체력과 페이즈를 아이콘으로 표시합니다.</a:t>
            </a:r>
            <a:endParaRPr lang="en-US" sz="885" dirty="0"/>
          </a:p>
        </p:txBody>
      </p:sp>
      <p:sp>
        <p:nvSpPr>
          <p:cNvPr id="23" name="Shape 14"/>
          <p:cNvSpPr/>
          <p:nvPr/>
        </p:nvSpPr>
        <p:spPr>
          <a:xfrm>
            <a:off x="428625" y="2594967"/>
            <a:ext cx="4100513" cy="1928813"/>
          </a:xfrm>
          <a:prstGeom prst="rect">
            <a:avLst/>
          </a:prstGeom>
          <a:solidFill>
            <a:srgbClr val="FFFFFF">
              <a:alpha val="5000"/>
            </a:srgbClr>
          </a:solidFill>
          <a:ln w="27432">
            <a:solidFill>
              <a:srgbClr val="FFD700"/>
            </a:solidFill>
            <a:prstDash val="solid"/>
          </a:ln>
        </p:spPr>
      </p:sp>
      <p:pic>
        <p:nvPicPr>
          <p:cNvPr id="24" name="Image 7" descr="preencoded.png">    </p:cNvPr>
          <p:cNvPicPr>
            <a:picLocks noChangeAspect="1"/>
          </p:cNvPicPr>
          <p:nvPr/>
        </p:nvPicPr>
        <p:blipFill>
          <a:blip r:embed="rId8"/>
          <a:stretch>
            <a:fillRect/>
          </a:stretch>
        </p:blipFill>
        <p:spPr>
          <a:xfrm>
            <a:off x="542925" y="2748558"/>
            <a:ext cx="171450" cy="171450"/>
          </a:xfrm>
          <a:prstGeom prst="rect">
            <a:avLst/>
          </a:prstGeom>
        </p:spPr>
      </p:pic>
      <p:sp>
        <p:nvSpPr>
          <p:cNvPr id="25" name="Text 15"/>
          <p:cNvSpPr/>
          <p:nvPr/>
        </p:nvSpPr>
        <p:spPr>
          <a:xfrm>
            <a:off x="785813" y="2709267"/>
            <a:ext cx="1193313"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D700"/>
                </a:solidFill>
              </a:rPr>
              <a:t>퀵슬롯 및 소모품</a:t>
            </a:r>
            <a:endParaRPr lang="en-US" sz="1269" dirty="0"/>
          </a:p>
        </p:txBody>
      </p:sp>
      <p:sp>
        <p:nvSpPr>
          <p:cNvPr id="26" name="Shape 16"/>
          <p:cNvSpPr/>
          <p:nvPr/>
        </p:nvSpPr>
        <p:spPr>
          <a:xfrm>
            <a:off x="542925" y="3087886"/>
            <a:ext cx="3871913" cy="600075"/>
          </a:xfrm>
          <a:prstGeom prst="rect">
            <a:avLst/>
          </a:prstGeom>
          <a:solidFill>
            <a:srgbClr val="000000"/>
          </a:solidFill>
          <a:ln w="18288">
            <a:solidFill>
              <a:srgbClr val="FFFFFF"/>
            </a:solidFill>
            <a:prstDash val="solid"/>
          </a:ln>
        </p:spPr>
      </p:sp>
      <p:sp>
        <p:nvSpPr>
          <p:cNvPr id="27" name="Shape 17"/>
          <p:cNvSpPr/>
          <p:nvPr/>
        </p:nvSpPr>
        <p:spPr>
          <a:xfrm>
            <a:off x="628650" y="3173611"/>
            <a:ext cx="400050" cy="400050"/>
          </a:xfrm>
          <a:prstGeom prst="rect">
            <a:avLst/>
          </a:prstGeom>
          <a:solidFill>
            <a:srgbClr val="222222"/>
          </a:solidFill>
          <a:ln w="18288">
            <a:solidFill>
              <a:srgbClr val="FFD700"/>
            </a:solidFill>
            <a:prstDash val="solid"/>
          </a:ln>
        </p:spPr>
      </p:sp>
      <p:sp>
        <p:nvSpPr>
          <p:cNvPr id="28" name="Shape 18"/>
          <p:cNvSpPr/>
          <p:nvPr/>
        </p:nvSpPr>
        <p:spPr>
          <a:xfrm>
            <a:off x="1057275" y="3173611"/>
            <a:ext cx="400050" cy="400050"/>
          </a:xfrm>
          <a:prstGeom prst="rect">
            <a:avLst/>
          </a:prstGeom>
          <a:solidFill>
            <a:srgbClr val="222222"/>
          </a:solidFill>
          <a:ln w="18288">
            <a:solidFill>
              <a:srgbClr val="FFFFFF"/>
            </a:solidFill>
            <a:prstDash val="solid"/>
          </a:ln>
        </p:spPr>
      </p:sp>
      <p:pic>
        <p:nvPicPr>
          <p:cNvPr id="29" name="Image 8" descr="preencoded.png">    </p:cNvPr>
          <p:cNvPicPr>
            <a:picLocks noChangeAspect="1"/>
          </p:cNvPicPr>
          <p:nvPr/>
        </p:nvPicPr>
        <p:blipFill>
          <a:blip r:embed="rId9"/>
          <a:stretch>
            <a:fillRect/>
          </a:stretch>
        </p:blipFill>
        <p:spPr>
          <a:xfrm>
            <a:off x="1160859" y="3266480"/>
            <a:ext cx="150019" cy="171450"/>
          </a:xfrm>
          <a:prstGeom prst="rect">
            <a:avLst/>
          </a:prstGeom>
        </p:spPr>
      </p:pic>
      <p:sp>
        <p:nvSpPr>
          <p:cNvPr id="30" name="Shape 19"/>
          <p:cNvSpPr/>
          <p:nvPr/>
        </p:nvSpPr>
        <p:spPr>
          <a:xfrm>
            <a:off x="1485900" y="3173611"/>
            <a:ext cx="400050" cy="400050"/>
          </a:xfrm>
          <a:prstGeom prst="rect">
            <a:avLst/>
          </a:prstGeom>
          <a:solidFill>
            <a:srgbClr val="222222"/>
          </a:solidFill>
          <a:ln w="18288">
            <a:solidFill>
              <a:srgbClr val="FFFFFF"/>
            </a:solidFill>
            <a:prstDash val="solid"/>
          </a:ln>
        </p:spPr>
      </p:sp>
      <p:pic>
        <p:nvPicPr>
          <p:cNvPr id="31" name="Image 9" descr="preencoded.png">    </p:cNvPr>
          <p:cNvPicPr>
            <a:picLocks noChangeAspect="1"/>
          </p:cNvPicPr>
          <p:nvPr/>
        </p:nvPicPr>
        <p:blipFill>
          <a:blip r:embed="rId10"/>
          <a:stretch>
            <a:fillRect/>
          </a:stretch>
        </p:blipFill>
        <p:spPr>
          <a:xfrm>
            <a:off x="1578769" y="3266480"/>
            <a:ext cx="171450" cy="171450"/>
          </a:xfrm>
          <a:prstGeom prst="rect">
            <a:avLst/>
          </a:prstGeom>
        </p:spPr>
      </p:pic>
      <p:sp>
        <p:nvSpPr>
          <p:cNvPr id="32" name="Shape 20"/>
          <p:cNvSpPr/>
          <p:nvPr/>
        </p:nvSpPr>
        <p:spPr>
          <a:xfrm>
            <a:off x="1914525" y="3173611"/>
            <a:ext cx="400050" cy="400050"/>
          </a:xfrm>
          <a:prstGeom prst="rect">
            <a:avLst/>
          </a:prstGeom>
          <a:solidFill>
            <a:srgbClr val="222222"/>
          </a:solidFill>
          <a:ln w="18288">
            <a:solidFill>
              <a:srgbClr val="FFFFFF"/>
            </a:solidFill>
            <a:prstDash val="solid"/>
          </a:ln>
        </p:spPr>
      </p:sp>
      <p:pic>
        <p:nvPicPr>
          <p:cNvPr id="33" name="Image 10" descr="preencoded.png">    </p:cNvPr>
          <p:cNvPicPr>
            <a:picLocks noChangeAspect="1"/>
          </p:cNvPicPr>
          <p:nvPr/>
        </p:nvPicPr>
        <p:blipFill>
          <a:blip r:embed="rId11"/>
          <a:stretch>
            <a:fillRect/>
          </a:stretch>
        </p:blipFill>
        <p:spPr>
          <a:xfrm>
            <a:off x="2028825" y="3266480"/>
            <a:ext cx="128588" cy="171450"/>
          </a:xfrm>
          <a:prstGeom prst="rect">
            <a:avLst/>
          </a:prstGeom>
        </p:spPr>
      </p:pic>
      <p:sp>
        <p:nvSpPr>
          <p:cNvPr id="34" name="Text 21"/>
          <p:cNvSpPr/>
          <p:nvPr/>
        </p:nvSpPr>
        <p:spPr>
          <a:xfrm>
            <a:off x="542925" y="3687961"/>
            <a:ext cx="3871913" cy="192881"/>
          </a:xfrm>
          <a:prstGeom prst="rect">
            <a:avLst/>
          </a:prstGeom>
          <a:noFill/>
          <a:ln/>
        </p:spPr>
        <p:txBody>
          <a:bodyPr wrap="none" lIns="0" tIns="0" rIns="0" bIns="0" rtlCol="0" anchor="t">
            <a:spAutoFit/>
          </a:bodyPr>
          <a:lstStyle/>
          <a:p>
            <a:pPr algn="l" indent="0" marL="0">
              <a:lnSpc>
                <a:spcPts val="1500"/>
              </a:lnSpc>
              <a:buNone/>
            </a:pPr>
            <a:r>
              <a:rPr lang="en-US" sz="885" b="1" dirty="0">
                <a:solidFill>
                  <a:srgbClr val="FFD700"/>
                </a:solidFill>
              </a:rPr>
              <a:t>무기 및 아이템 단축바:</a:t>
            </a:r>
            <a:pPr algn="l" indent="0" marL="0">
              <a:lnSpc>
                <a:spcPts val="1500"/>
              </a:lnSpc>
              <a:buNone/>
            </a:pPr>
            <a:r>
              <a:rPr lang="en-US" sz="942" dirty="0">
                <a:solidFill>
                  <a:srgbClr val="E0E0E0"/>
                </a:solidFill>
              </a:rPr>
              <a:t> 장착 아이템을 빠르게 확인하고 사용합니다.</a:t>
            </a:r>
            <a:endParaRPr lang="en-US" sz="885" dirty="0"/>
          </a:p>
        </p:txBody>
      </p:sp>
      <p:sp>
        <p:nvSpPr>
          <p:cNvPr id="35" name="Shape 22"/>
          <p:cNvSpPr/>
          <p:nvPr/>
        </p:nvSpPr>
        <p:spPr>
          <a:xfrm>
            <a:off x="4614863" y="2594967"/>
            <a:ext cx="4100513" cy="1928813"/>
          </a:xfrm>
          <a:prstGeom prst="rect">
            <a:avLst/>
          </a:prstGeom>
          <a:solidFill>
            <a:srgbClr val="FFFFFF">
              <a:alpha val="5000"/>
            </a:srgbClr>
          </a:solidFill>
          <a:ln w="27432">
            <a:solidFill>
              <a:srgbClr val="00CED1"/>
            </a:solidFill>
            <a:prstDash val="solid"/>
          </a:ln>
        </p:spPr>
      </p:sp>
      <p:pic>
        <p:nvPicPr>
          <p:cNvPr id="36" name="Image 11" descr="preencoded.png">    </p:cNvPr>
          <p:cNvPicPr>
            <a:picLocks noChangeAspect="1"/>
          </p:cNvPicPr>
          <p:nvPr/>
        </p:nvPicPr>
        <p:blipFill>
          <a:blip r:embed="rId12"/>
          <a:stretch>
            <a:fillRect/>
          </a:stretch>
        </p:blipFill>
        <p:spPr>
          <a:xfrm>
            <a:off x="4729163" y="2748558"/>
            <a:ext cx="171450" cy="171450"/>
          </a:xfrm>
          <a:prstGeom prst="rect">
            <a:avLst/>
          </a:prstGeom>
        </p:spPr>
      </p:pic>
      <p:sp>
        <p:nvSpPr>
          <p:cNvPr id="37" name="Text 23"/>
          <p:cNvSpPr/>
          <p:nvPr/>
        </p:nvSpPr>
        <p:spPr>
          <a:xfrm>
            <a:off x="4972050" y="2709267"/>
            <a:ext cx="1395626" cy="250031"/>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D700"/>
                </a:solidFill>
              </a:rPr>
              <a:t>상태 이상 및 퀘스트</a:t>
            </a:r>
            <a:endParaRPr lang="en-US" sz="1269" dirty="0"/>
          </a:p>
        </p:txBody>
      </p:sp>
      <p:sp>
        <p:nvSpPr>
          <p:cNvPr id="38" name="Shape 24"/>
          <p:cNvSpPr/>
          <p:nvPr/>
        </p:nvSpPr>
        <p:spPr>
          <a:xfrm>
            <a:off x="4729163" y="3087886"/>
            <a:ext cx="3871913" cy="807244"/>
          </a:xfrm>
          <a:prstGeom prst="rect">
            <a:avLst/>
          </a:prstGeom>
          <a:solidFill>
            <a:srgbClr val="000000"/>
          </a:solidFill>
          <a:ln w="18288">
            <a:solidFill>
              <a:srgbClr val="FFFFFF"/>
            </a:solidFill>
            <a:prstDash val="solid"/>
          </a:ln>
        </p:spPr>
      </p:sp>
      <p:sp>
        <p:nvSpPr>
          <p:cNvPr id="39" name="Shape 25"/>
          <p:cNvSpPr/>
          <p:nvPr/>
        </p:nvSpPr>
        <p:spPr>
          <a:xfrm>
            <a:off x="4814888" y="3173611"/>
            <a:ext cx="328613" cy="328613"/>
          </a:xfrm>
          <a:prstGeom prst="rect">
            <a:avLst/>
          </a:prstGeom>
          <a:solidFill>
            <a:srgbClr val="222222"/>
          </a:solidFill>
          <a:ln w="18288">
            <a:solidFill>
              <a:srgbClr val="FF69B4"/>
            </a:solidFill>
            <a:prstDash val="solid"/>
          </a:ln>
        </p:spPr>
      </p:sp>
      <p:pic>
        <p:nvPicPr>
          <p:cNvPr id="40" name="Image 12" descr="preencoded.png">    </p:cNvPr>
          <p:cNvPicPr>
            <a:picLocks noChangeAspect="1"/>
          </p:cNvPicPr>
          <p:nvPr/>
        </p:nvPicPr>
        <p:blipFill>
          <a:blip r:embed="rId13"/>
          <a:stretch>
            <a:fillRect/>
          </a:stretch>
        </p:blipFill>
        <p:spPr>
          <a:xfrm>
            <a:off x="4885432" y="3252192"/>
            <a:ext cx="144661" cy="128588"/>
          </a:xfrm>
          <a:prstGeom prst="rect">
            <a:avLst/>
          </a:prstGeom>
        </p:spPr>
      </p:pic>
      <p:sp>
        <p:nvSpPr>
          <p:cNvPr id="41" name="Text 26"/>
          <p:cNvSpPr/>
          <p:nvPr/>
        </p:nvSpPr>
        <p:spPr>
          <a:xfrm>
            <a:off x="5172075" y="3248620"/>
            <a:ext cx="255640" cy="135731"/>
          </a:xfrm>
          <a:prstGeom prst="rect">
            <a:avLst/>
          </a:prstGeom>
          <a:noFill/>
          <a:ln/>
        </p:spPr>
        <p:txBody>
          <a:bodyPr wrap="none" lIns="0" tIns="0" rIns="0" bIns="0" rtlCol="0" anchor="t">
            <a:spAutoFit/>
          </a:bodyPr>
          <a:lstStyle/>
          <a:p>
            <a:pPr algn="l" indent="0" marL="0">
              <a:lnSpc>
                <a:spcPts val="900"/>
              </a:lnSpc>
              <a:buNone/>
            </a:pPr>
            <a:r>
              <a:rPr lang="en-US" sz="727" dirty="0">
                <a:solidFill>
                  <a:srgbClr val="FF69B4"/>
                </a:solidFill>
              </a:rPr>
              <a:t>00:45</a:t>
            </a:r>
            <a:endParaRPr lang="en-US" sz="727" dirty="0"/>
          </a:p>
        </p:txBody>
      </p:sp>
      <p:sp>
        <p:nvSpPr>
          <p:cNvPr id="42" name="Text 27"/>
          <p:cNvSpPr/>
          <p:nvPr/>
        </p:nvSpPr>
        <p:spPr>
          <a:xfrm>
            <a:off x="4814888" y="3573661"/>
            <a:ext cx="3700463"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00CED1"/>
                </a:solidFill>
              </a:rPr>
              <a:t>[퀘스트] 도시 외곽으로 이동</a:t>
            </a:r>
            <a:endParaRPr lang="en-US" sz="834" dirty="0"/>
          </a:p>
        </p:txBody>
      </p:sp>
      <p:sp>
        <p:nvSpPr>
          <p:cNvPr id="43" name="Text 28"/>
          <p:cNvSpPr/>
          <p:nvPr/>
        </p:nvSpPr>
        <p:spPr>
          <a:xfrm>
            <a:off x="4729163" y="3895130"/>
            <a:ext cx="3871913" cy="192881"/>
          </a:xfrm>
          <a:prstGeom prst="rect">
            <a:avLst/>
          </a:prstGeom>
          <a:noFill/>
          <a:ln/>
        </p:spPr>
        <p:txBody>
          <a:bodyPr wrap="none" lIns="0" tIns="0" rIns="0" bIns="0" rtlCol="0" anchor="t">
            <a:spAutoFit/>
          </a:bodyPr>
          <a:lstStyle/>
          <a:p>
            <a:pPr algn="l" indent="0" marL="0">
              <a:lnSpc>
                <a:spcPts val="1500"/>
              </a:lnSpc>
              <a:buNone/>
            </a:pPr>
            <a:r>
              <a:rPr lang="en-US" sz="885" b="1" dirty="0">
                <a:solidFill>
                  <a:srgbClr val="FFD700"/>
                </a:solidFill>
              </a:rPr>
              <a:t>상태 이상 타이머 및 퀘스트:</a:t>
            </a:r>
            <a:pPr algn="l" indent="0" marL="0">
              <a:lnSpc>
                <a:spcPts val="1500"/>
              </a:lnSpc>
              <a:buNone/>
            </a:pPr>
            <a:r>
              <a:rPr lang="en-US" sz="942" dirty="0">
                <a:solidFill>
                  <a:srgbClr val="E0E0E0"/>
                </a:solidFill>
              </a:rPr>
              <a:t> 효과 시간과 현재 목표를 간결히 표시합니</a:t>
            </a:r>
            <a:pPr algn="l" indent="0" marL="0">
              <a:lnSpc>
                <a:spcPts val="1500"/>
              </a:lnSpc>
              <a:buNone/>
            </a:pPr>
            <a:r>
              <a:rPr lang="en-US" sz="942" dirty="0">
                <a:solidFill>
                  <a:srgbClr val="E0E0E0"/>
                </a:solidFill>
              </a:rPr>
              <a:t>다.</a:t>
            </a:r>
            <a:endParaRPr lang="en-US" sz="885"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045568" cy="544711"/>
          </a:xfrm>
          <a:prstGeom prst="rect">
            <a:avLst/>
          </a:prstGeom>
          <a:solidFill>
            <a:srgbClr val="FFFFFF"/>
          </a:solidFill>
          <a:ln w="27432">
            <a:solidFill>
              <a:srgbClr val="000000"/>
            </a:solidFill>
            <a:prstDash val="solid"/>
          </a:ln>
        </p:spPr>
      </p:sp>
      <p:sp>
        <p:nvSpPr>
          <p:cNvPr id="4" name="Text 1"/>
          <p:cNvSpPr/>
          <p:nvPr/>
        </p:nvSpPr>
        <p:spPr>
          <a:xfrm>
            <a:off x="642938" y="342900"/>
            <a:ext cx="1559793"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시스템: 정보창</a:t>
            </a:r>
            <a:endParaRPr lang="en-US" sz="1808" dirty="0"/>
          </a:p>
        </p:txBody>
      </p:sp>
      <p:sp>
        <p:nvSpPr>
          <p:cNvPr id="5" name="Shape 2"/>
          <p:cNvSpPr/>
          <p:nvPr/>
        </p:nvSpPr>
        <p:spPr>
          <a:xfrm>
            <a:off x="1000125" y="901898"/>
            <a:ext cx="973838" cy="392906"/>
          </a:xfrm>
          <a:prstGeom prst="rect">
            <a:avLst/>
          </a:prstGeom>
          <a:solidFill>
            <a:srgbClr val="00CED1"/>
          </a:solidFill>
          <a:ln/>
        </p:spPr>
      </p:sp>
      <p:sp>
        <p:nvSpPr>
          <p:cNvPr id="6" name="Shape 3"/>
          <p:cNvSpPr/>
          <p:nvPr/>
        </p:nvSpPr>
        <p:spPr>
          <a:xfrm>
            <a:off x="1000125" y="901898"/>
            <a:ext cx="973838" cy="28575"/>
          </a:xfrm>
          <a:prstGeom prst="rect">
            <a:avLst/>
          </a:prstGeom>
          <a:solidFill>
            <a:srgbClr val="000000"/>
          </a:solidFill>
          <a:ln/>
        </p:spPr>
      </p:sp>
      <p:sp>
        <p:nvSpPr>
          <p:cNvPr id="7" name="Shape 4"/>
          <p:cNvSpPr/>
          <p:nvPr/>
        </p:nvSpPr>
        <p:spPr>
          <a:xfrm>
            <a:off x="1945388" y="901898"/>
            <a:ext cx="28575" cy="392906"/>
          </a:xfrm>
          <a:prstGeom prst="rect">
            <a:avLst/>
          </a:prstGeom>
          <a:solidFill>
            <a:srgbClr val="000000"/>
          </a:solidFill>
          <a:ln/>
        </p:spPr>
      </p:sp>
      <p:sp>
        <p:nvSpPr>
          <p:cNvPr id="8" name="Shape 5"/>
          <p:cNvSpPr/>
          <p:nvPr/>
        </p:nvSpPr>
        <p:spPr>
          <a:xfrm>
            <a:off x="1000125" y="901898"/>
            <a:ext cx="28575" cy="392906"/>
          </a:xfrm>
          <a:prstGeom prst="rect">
            <a:avLst/>
          </a:prstGeom>
          <a:solidFill>
            <a:srgbClr val="000000"/>
          </a:solidFill>
          <a:ln/>
        </p:spPr>
      </p:sp>
      <p:sp>
        <p:nvSpPr>
          <p:cNvPr id="9" name="Text 6"/>
          <p:cNvSpPr/>
          <p:nvPr/>
        </p:nvSpPr>
        <p:spPr>
          <a:xfrm>
            <a:off x="1000125" y="901898"/>
            <a:ext cx="973838" cy="392906"/>
          </a:xfrm>
          <a:prstGeom prst="rect">
            <a:avLst/>
          </a:prstGeom>
          <a:noFill/>
          <a:ln/>
        </p:spPr>
        <p:txBody>
          <a:bodyPr wrap="square" lIns="170053" tIns="68072" rIns="170053" bIns="68072" rtlCol="0" anchor="t">
            <a:spAutoFit/>
          </a:bodyPr>
          <a:lstStyle/>
          <a:p>
            <a:pPr algn="l" indent="0" marL="0">
              <a:lnSpc>
                <a:spcPts val="1600"/>
              </a:lnSpc>
              <a:buNone/>
            </a:pPr>
            <a:r>
              <a:rPr lang="en-US" sz="1269" dirty="0">
                <a:solidFill>
                  <a:srgbClr val="1A0D2E"/>
                </a:solidFill>
              </a:rPr>
              <a:t>인벤토리</a:t>
            </a:r>
            <a:endParaRPr lang="en-US" sz="1269" dirty="0"/>
          </a:p>
        </p:txBody>
      </p:sp>
      <p:sp>
        <p:nvSpPr>
          <p:cNvPr id="10" name="Shape 7"/>
          <p:cNvSpPr/>
          <p:nvPr/>
        </p:nvSpPr>
        <p:spPr>
          <a:xfrm>
            <a:off x="1988251" y="901898"/>
            <a:ext cx="1176151" cy="392906"/>
          </a:xfrm>
          <a:prstGeom prst="rect">
            <a:avLst/>
          </a:prstGeom>
          <a:solidFill>
            <a:srgbClr val="333333"/>
          </a:solidFill>
          <a:ln/>
        </p:spPr>
      </p:sp>
      <p:sp>
        <p:nvSpPr>
          <p:cNvPr id="11" name="Shape 8"/>
          <p:cNvSpPr/>
          <p:nvPr/>
        </p:nvSpPr>
        <p:spPr>
          <a:xfrm>
            <a:off x="1988251" y="901898"/>
            <a:ext cx="1176151" cy="28575"/>
          </a:xfrm>
          <a:prstGeom prst="rect">
            <a:avLst/>
          </a:prstGeom>
          <a:solidFill>
            <a:srgbClr val="000000"/>
          </a:solidFill>
          <a:ln/>
        </p:spPr>
      </p:sp>
      <p:sp>
        <p:nvSpPr>
          <p:cNvPr id="12" name="Shape 9"/>
          <p:cNvSpPr/>
          <p:nvPr/>
        </p:nvSpPr>
        <p:spPr>
          <a:xfrm>
            <a:off x="3135827" y="901898"/>
            <a:ext cx="28575" cy="392906"/>
          </a:xfrm>
          <a:prstGeom prst="rect">
            <a:avLst/>
          </a:prstGeom>
          <a:solidFill>
            <a:srgbClr val="000000"/>
          </a:solidFill>
          <a:ln/>
        </p:spPr>
      </p:sp>
      <p:sp>
        <p:nvSpPr>
          <p:cNvPr id="13" name="Shape 10"/>
          <p:cNvSpPr/>
          <p:nvPr/>
        </p:nvSpPr>
        <p:spPr>
          <a:xfrm>
            <a:off x="1988251" y="901898"/>
            <a:ext cx="28575" cy="392906"/>
          </a:xfrm>
          <a:prstGeom prst="rect">
            <a:avLst/>
          </a:prstGeom>
          <a:solidFill>
            <a:srgbClr val="000000"/>
          </a:solidFill>
          <a:ln/>
        </p:spPr>
      </p:sp>
      <p:sp>
        <p:nvSpPr>
          <p:cNvPr id="14" name="Text 11"/>
          <p:cNvSpPr/>
          <p:nvPr/>
        </p:nvSpPr>
        <p:spPr>
          <a:xfrm>
            <a:off x="1988251" y="901898"/>
            <a:ext cx="1176151" cy="392906"/>
          </a:xfrm>
          <a:prstGeom prst="rect">
            <a:avLst/>
          </a:prstGeom>
          <a:noFill/>
          <a:ln/>
        </p:spPr>
        <p:txBody>
          <a:bodyPr wrap="square" lIns="170053" tIns="68072" rIns="170053" bIns="68072" rtlCol="0" anchor="t">
            <a:spAutoFit/>
          </a:bodyPr>
          <a:lstStyle/>
          <a:p>
            <a:pPr algn="l" indent="0" marL="0">
              <a:lnSpc>
                <a:spcPts val="1600"/>
              </a:lnSpc>
              <a:buNone/>
            </a:pPr>
            <a:r>
              <a:rPr lang="en-US" sz="1269" dirty="0">
                <a:solidFill>
                  <a:srgbClr val="888888"/>
                </a:solidFill>
              </a:rPr>
              <a:t>캐릭터 정보</a:t>
            </a:r>
            <a:endParaRPr lang="en-US" sz="1269" dirty="0"/>
          </a:p>
        </p:txBody>
      </p:sp>
      <p:sp>
        <p:nvSpPr>
          <p:cNvPr id="15" name="Shape 12"/>
          <p:cNvSpPr/>
          <p:nvPr/>
        </p:nvSpPr>
        <p:spPr>
          <a:xfrm>
            <a:off x="3178690" y="901898"/>
            <a:ext cx="1176151" cy="392906"/>
          </a:xfrm>
          <a:prstGeom prst="rect">
            <a:avLst/>
          </a:prstGeom>
          <a:solidFill>
            <a:srgbClr val="333333"/>
          </a:solidFill>
          <a:ln/>
        </p:spPr>
      </p:sp>
      <p:sp>
        <p:nvSpPr>
          <p:cNvPr id="16" name="Shape 13"/>
          <p:cNvSpPr/>
          <p:nvPr/>
        </p:nvSpPr>
        <p:spPr>
          <a:xfrm>
            <a:off x="3178690" y="901898"/>
            <a:ext cx="1176151" cy="28575"/>
          </a:xfrm>
          <a:prstGeom prst="rect">
            <a:avLst/>
          </a:prstGeom>
          <a:solidFill>
            <a:srgbClr val="000000"/>
          </a:solidFill>
          <a:ln/>
        </p:spPr>
      </p:sp>
      <p:sp>
        <p:nvSpPr>
          <p:cNvPr id="17" name="Shape 14"/>
          <p:cNvSpPr/>
          <p:nvPr/>
        </p:nvSpPr>
        <p:spPr>
          <a:xfrm>
            <a:off x="4326266" y="901898"/>
            <a:ext cx="28575" cy="392906"/>
          </a:xfrm>
          <a:prstGeom prst="rect">
            <a:avLst/>
          </a:prstGeom>
          <a:solidFill>
            <a:srgbClr val="000000"/>
          </a:solidFill>
          <a:ln/>
        </p:spPr>
      </p:sp>
      <p:sp>
        <p:nvSpPr>
          <p:cNvPr id="18" name="Shape 15"/>
          <p:cNvSpPr/>
          <p:nvPr/>
        </p:nvSpPr>
        <p:spPr>
          <a:xfrm>
            <a:off x="3178690" y="901898"/>
            <a:ext cx="28575" cy="392906"/>
          </a:xfrm>
          <a:prstGeom prst="rect">
            <a:avLst/>
          </a:prstGeom>
          <a:solidFill>
            <a:srgbClr val="000000"/>
          </a:solidFill>
          <a:ln/>
        </p:spPr>
      </p:sp>
      <p:sp>
        <p:nvSpPr>
          <p:cNvPr id="19" name="Text 16"/>
          <p:cNvSpPr/>
          <p:nvPr/>
        </p:nvSpPr>
        <p:spPr>
          <a:xfrm>
            <a:off x="3178690" y="901898"/>
            <a:ext cx="1176151" cy="392906"/>
          </a:xfrm>
          <a:prstGeom prst="rect">
            <a:avLst/>
          </a:prstGeom>
          <a:noFill/>
          <a:ln/>
        </p:spPr>
        <p:txBody>
          <a:bodyPr wrap="square" lIns="170053" tIns="68072" rIns="170053" bIns="68072" rtlCol="0" anchor="t">
            <a:spAutoFit/>
          </a:bodyPr>
          <a:lstStyle/>
          <a:p>
            <a:pPr algn="l" indent="0" marL="0">
              <a:lnSpc>
                <a:spcPts val="1600"/>
              </a:lnSpc>
              <a:buNone/>
            </a:pPr>
            <a:r>
              <a:rPr lang="en-US" sz="1269" dirty="0">
                <a:solidFill>
                  <a:srgbClr val="888888"/>
                </a:solidFill>
              </a:rPr>
              <a:t>단축키 설정</a:t>
            </a:r>
            <a:endParaRPr lang="en-US" sz="1269" dirty="0"/>
          </a:p>
        </p:txBody>
      </p:sp>
      <p:sp>
        <p:nvSpPr>
          <p:cNvPr id="20" name="Shape 17"/>
          <p:cNvSpPr/>
          <p:nvPr/>
        </p:nvSpPr>
        <p:spPr>
          <a:xfrm>
            <a:off x="842963" y="1237655"/>
            <a:ext cx="7458075" cy="2743200"/>
          </a:xfrm>
          <a:prstGeom prst="rect">
            <a:avLst/>
          </a:prstGeom>
          <a:solidFill>
            <a:srgbClr val="000000">
              <a:alpha val="80000"/>
            </a:srgbClr>
          </a:solidFill>
          <a:ln w="45720">
            <a:solidFill>
              <a:srgbClr val="00CED1"/>
            </a:solidFill>
            <a:prstDash val="solid"/>
          </a:ln>
        </p:spPr>
      </p:sp>
      <p:sp>
        <p:nvSpPr>
          <p:cNvPr id="21" name="Text 18"/>
          <p:cNvSpPr/>
          <p:nvPr/>
        </p:nvSpPr>
        <p:spPr>
          <a:xfrm>
            <a:off x="1000125" y="1351955"/>
            <a:ext cx="4500563" cy="250031"/>
          </a:xfrm>
          <a:prstGeom prst="rect">
            <a:avLst/>
          </a:prstGeom>
          <a:noFill/>
          <a:ln/>
        </p:spPr>
        <p:txBody>
          <a:bodyPr wrap="none" lIns="0" tIns="0" rIns="0" bIns="0" rtlCol="0" anchor="t">
            <a:spAutoFit/>
          </a:bodyPr>
          <a:lstStyle/>
          <a:p>
            <a:pPr algn="l" indent="0" marL="0">
              <a:lnSpc>
                <a:spcPts val="1600"/>
              </a:lnSpc>
              <a:buNone/>
            </a:pPr>
            <a:r>
              <a:rPr lang="en-US" sz="1193" b="1" dirty="0">
                <a:solidFill>
                  <a:srgbClr val="00CED1"/>
                </a:solidFill>
              </a:rPr>
              <a:t>[ 아이템 목록 ]</a:t>
            </a:r>
            <a:endParaRPr lang="en-US" sz="1193" dirty="0"/>
          </a:p>
        </p:txBody>
      </p:sp>
      <p:sp>
        <p:nvSpPr>
          <p:cNvPr id="22" name="Shape 19"/>
          <p:cNvSpPr/>
          <p:nvPr/>
        </p:nvSpPr>
        <p:spPr>
          <a:xfrm>
            <a:off x="1000125" y="1701998"/>
            <a:ext cx="471488" cy="471488"/>
          </a:xfrm>
          <a:prstGeom prst="rect">
            <a:avLst/>
          </a:prstGeom>
          <a:solidFill>
            <a:srgbClr val="FFD700">
              <a:alpha val="10000"/>
            </a:srgbClr>
          </a:solidFill>
          <a:ln w="18288">
            <a:solidFill>
              <a:srgbClr val="FFD700"/>
            </a:solidFill>
            <a:prstDash val="solid"/>
          </a:ln>
        </p:spPr>
      </p:sp>
      <p:pic>
        <p:nvPicPr>
          <p:cNvPr id="23" name="Image 1" descr="preencoded.png">    </p:cNvPr>
          <p:cNvPicPr>
            <a:picLocks noChangeAspect="1"/>
          </p:cNvPicPr>
          <p:nvPr/>
        </p:nvPicPr>
        <p:blipFill>
          <a:blip r:embed="rId2"/>
          <a:stretch>
            <a:fillRect/>
          </a:stretch>
        </p:blipFill>
        <p:spPr>
          <a:xfrm>
            <a:off x="1107281" y="1809155"/>
            <a:ext cx="214313" cy="214313"/>
          </a:xfrm>
          <a:prstGeom prst="rect">
            <a:avLst/>
          </a:prstGeom>
        </p:spPr>
      </p:pic>
      <p:sp>
        <p:nvSpPr>
          <p:cNvPr id="24" name="Shape 20"/>
          <p:cNvSpPr/>
          <p:nvPr/>
        </p:nvSpPr>
        <p:spPr>
          <a:xfrm>
            <a:off x="1911651" y="1701998"/>
            <a:ext cx="471488" cy="471488"/>
          </a:xfrm>
          <a:prstGeom prst="rect">
            <a:avLst/>
          </a:prstGeom>
          <a:solidFill>
            <a:srgbClr val="FFD700">
              <a:alpha val="10000"/>
            </a:srgbClr>
          </a:solidFill>
          <a:ln w="18288">
            <a:solidFill>
              <a:srgbClr val="FFD700"/>
            </a:solidFill>
            <a:prstDash val="solid"/>
          </a:ln>
        </p:spPr>
      </p:sp>
      <p:pic>
        <p:nvPicPr>
          <p:cNvPr id="25" name="Image 2" descr="preencoded.png">    </p:cNvPr>
          <p:cNvPicPr>
            <a:picLocks noChangeAspect="1"/>
          </p:cNvPicPr>
          <p:nvPr/>
        </p:nvPicPr>
        <p:blipFill>
          <a:blip r:embed="rId3"/>
          <a:stretch>
            <a:fillRect/>
          </a:stretch>
        </p:blipFill>
        <p:spPr>
          <a:xfrm>
            <a:off x="2032202" y="1809155"/>
            <a:ext cx="187523" cy="214313"/>
          </a:xfrm>
          <a:prstGeom prst="rect">
            <a:avLst/>
          </a:prstGeom>
        </p:spPr>
      </p:pic>
      <p:sp>
        <p:nvSpPr>
          <p:cNvPr id="26" name="Shape 21"/>
          <p:cNvSpPr/>
          <p:nvPr/>
        </p:nvSpPr>
        <p:spPr>
          <a:xfrm>
            <a:off x="2823204" y="1701998"/>
            <a:ext cx="471488" cy="471488"/>
          </a:xfrm>
          <a:prstGeom prst="rect">
            <a:avLst/>
          </a:prstGeom>
          <a:solidFill>
            <a:srgbClr val="FFD700">
              <a:alpha val="10000"/>
            </a:srgbClr>
          </a:solidFill>
          <a:ln w="18288">
            <a:solidFill>
              <a:srgbClr val="FFD700"/>
            </a:solidFill>
            <a:prstDash val="solid"/>
          </a:ln>
        </p:spPr>
      </p:sp>
      <p:pic>
        <p:nvPicPr>
          <p:cNvPr id="27" name="Image 3" descr="preencoded.png">    </p:cNvPr>
          <p:cNvPicPr>
            <a:picLocks noChangeAspect="1"/>
          </p:cNvPicPr>
          <p:nvPr/>
        </p:nvPicPr>
        <p:blipFill>
          <a:blip r:embed="rId4"/>
          <a:stretch>
            <a:fillRect/>
          </a:stretch>
        </p:blipFill>
        <p:spPr>
          <a:xfrm>
            <a:off x="2930361" y="1809155"/>
            <a:ext cx="214313" cy="214313"/>
          </a:xfrm>
          <a:prstGeom prst="rect">
            <a:avLst/>
          </a:prstGeom>
        </p:spPr>
      </p:pic>
      <p:sp>
        <p:nvSpPr>
          <p:cNvPr id="28" name="Shape 22"/>
          <p:cNvSpPr/>
          <p:nvPr/>
        </p:nvSpPr>
        <p:spPr>
          <a:xfrm>
            <a:off x="3734730" y="1701998"/>
            <a:ext cx="471488" cy="471488"/>
          </a:xfrm>
          <a:prstGeom prst="rect">
            <a:avLst/>
          </a:prstGeom>
          <a:solidFill>
            <a:srgbClr val="FFFFFF">
              <a:alpha val="10000"/>
            </a:srgbClr>
          </a:solidFill>
          <a:ln w="18288">
            <a:solidFill>
              <a:srgbClr val="444444"/>
            </a:solidFill>
            <a:prstDash val="solid"/>
          </a:ln>
        </p:spPr>
      </p:sp>
      <p:pic>
        <p:nvPicPr>
          <p:cNvPr id="29" name="Image 4" descr="preencoded.png">    </p:cNvPr>
          <p:cNvPicPr>
            <a:picLocks noChangeAspect="1"/>
          </p:cNvPicPr>
          <p:nvPr/>
        </p:nvPicPr>
        <p:blipFill>
          <a:blip r:embed="rId5"/>
          <a:stretch>
            <a:fillRect/>
          </a:stretch>
        </p:blipFill>
        <p:spPr>
          <a:xfrm>
            <a:off x="3881177" y="1809155"/>
            <a:ext cx="135731" cy="214313"/>
          </a:xfrm>
          <a:prstGeom prst="rect">
            <a:avLst/>
          </a:prstGeom>
        </p:spPr>
      </p:pic>
      <p:sp>
        <p:nvSpPr>
          <p:cNvPr id="30" name="Shape 23"/>
          <p:cNvSpPr/>
          <p:nvPr/>
        </p:nvSpPr>
        <p:spPr>
          <a:xfrm>
            <a:off x="4646284" y="1701998"/>
            <a:ext cx="471488" cy="471488"/>
          </a:xfrm>
          <a:prstGeom prst="rect">
            <a:avLst/>
          </a:prstGeom>
          <a:solidFill>
            <a:srgbClr val="FFFFFF">
              <a:alpha val="10000"/>
            </a:srgbClr>
          </a:solidFill>
          <a:ln w="18288">
            <a:solidFill>
              <a:srgbClr val="444444"/>
            </a:solidFill>
            <a:prstDash val="solid"/>
          </a:ln>
        </p:spPr>
      </p:sp>
      <p:pic>
        <p:nvPicPr>
          <p:cNvPr id="31" name="Image 5" descr="preencoded.png">    </p:cNvPr>
          <p:cNvPicPr>
            <a:picLocks noChangeAspect="1"/>
          </p:cNvPicPr>
          <p:nvPr/>
        </p:nvPicPr>
        <p:blipFill>
          <a:blip r:embed="rId6"/>
          <a:stretch>
            <a:fillRect/>
          </a:stretch>
        </p:blipFill>
        <p:spPr>
          <a:xfrm>
            <a:off x="4792731" y="1809155"/>
            <a:ext cx="135731" cy="214313"/>
          </a:xfrm>
          <a:prstGeom prst="rect">
            <a:avLst/>
          </a:prstGeom>
        </p:spPr>
      </p:pic>
      <p:sp>
        <p:nvSpPr>
          <p:cNvPr id="32" name="Shape 24"/>
          <p:cNvSpPr/>
          <p:nvPr/>
        </p:nvSpPr>
        <p:spPr>
          <a:xfrm>
            <a:off x="1000125" y="2187773"/>
            <a:ext cx="471488" cy="471488"/>
          </a:xfrm>
          <a:prstGeom prst="rect">
            <a:avLst/>
          </a:prstGeom>
          <a:solidFill>
            <a:srgbClr val="FFFFFF">
              <a:alpha val="10000"/>
            </a:srgbClr>
          </a:solidFill>
          <a:ln w="18288">
            <a:solidFill>
              <a:srgbClr val="444444"/>
            </a:solidFill>
            <a:prstDash val="solid"/>
          </a:ln>
        </p:spPr>
      </p:sp>
      <p:pic>
        <p:nvPicPr>
          <p:cNvPr id="33" name="Image 6" descr="preencoded.png">    </p:cNvPr>
          <p:cNvPicPr>
            <a:picLocks noChangeAspect="1"/>
          </p:cNvPicPr>
          <p:nvPr/>
        </p:nvPicPr>
        <p:blipFill>
          <a:blip r:embed="rId7"/>
          <a:stretch>
            <a:fillRect/>
          </a:stretch>
        </p:blipFill>
        <p:spPr>
          <a:xfrm>
            <a:off x="1146572" y="2294930"/>
            <a:ext cx="135731" cy="214313"/>
          </a:xfrm>
          <a:prstGeom prst="rect">
            <a:avLst/>
          </a:prstGeom>
        </p:spPr>
      </p:pic>
      <p:sp>
        <p:nvSpPr>
          <p:cNvPr id="34" name="Shape 25"/>
          <p:cNvSpPr/>
          <p:nvPr/>
        </p:nvSpPr>
        <p:spPr>
          <a:xfrm>
            <a:off x="1911651" y="2187773"/>
            <a:ext cx="471488" cy="471488"/>
          </a:xfrm>
          <a:prstGeom prst="rect">
            <a:avLst/>
          </a:prstGeom>
          <a:solidFill>
            <a:srgbClr val="FFFFFF">
              <a:alpha val="10000"/>
            </a:srgbClr>
          </a:solidFill>
          <a:ln w="18288">
            <a:solidFill>
              <a:srgbClr val="444444"/>
            </a:solidFill>
            <a:prstDash val="solid"/>
          </a:ln>
        </p:spPr>
      </p:sp>
      <p:pic>
        <p:nvPicPr>
          <p:cNvPr id="35" name="Image 7" descr="preencoded.png">    </p:cNvPr>
          <p:cNvPicPr>
            <a:picLocks noChangeAspect="1"/>
          </p:cNvPicPr>
          <p:nvPr/>
        </p:nvPicPr>
        <p:blipFill>
          <a:blip r:embed="rId8"/>
          <a:stretch>
            <a:fillRect/>
          </a:stretch>
        </p:blipFill>
        <p:spPr>
          <a:xfrm>
            <a:off x="2058098" y="2294930"/>
            <a:ext cx="135731" cy="214313"/>
          </a:xfrm>
          <a:prstGeom prst="rect">
            <a:avLst/>
          </a:prstGeom>
        </p:spPr>
      </p:pic>
      <p:sp>
        <p:nvSpPr>
          <p:cNvPr id="36" name="Shape 26"/>
          <p:cNvSpPr/>
          <p:nvPr/>
        </p:nvSpPr>
        <p:spPr>
          <a:xfrm>
            <a:off x="2823204" y="2187773"/>
            <a:ext cx="471488" cy="471488"/>
          </a:xfrm>
          <a:prstGeom prst="rect">
            <a:avLst/>
          </a:prstGeom>
          <a:solidFill>
            <a:srgbClr val="FFFFFF">
              <a:alpha val="10000"/>
            </a:srgbClr>
          </a:solidFill>
          <a:ln w="18288">
            <a:solidFill>
              <a:srgbClr val="444444"/>
            </a:solidFill>
            <a:prstDash val="solid"/>
          </a:ln>
        </p:spPr>
      </p:sp>
      <p:pic>
        <p:nvPicPr>
          <p:cNvPr id="37" name="Image 8" descr="preencoded.png">    </p:cNvPr>
          <p:cNvPicPr>
            <a:picLocks noChangeAspect="1"/>
          </p:cNvPicPr>
          <p:nvPr/>
        </p:nvPicPr>
        <p:blipFill>
          <a:blip r:embed="rId9"/>
          <a:stretch>
            <a:fillRect/>
          </a:stretch>
        </p:blipFill>
        <p:spPr>
          <a:xfrm>
            <a:off x="2969651" y="2294930"/>
            <a:ext cx="135731" cy="214313"/>
          </a:xfrm>
          <a:prstGeom prst="rect">
            <a:avLst/>
          </a:prstGeom>
        </p:spPr>
      </p:pic>
      <p:sp>
        <p:nvSpPr>
          <p:cNvPr id="38" name="Shape 27"/>
          <p:cNvSpPr/>
          <p:nvPr/>
        </p:nvSpPr>
        <p:spPr>
          <a:xfrm>
            <a:off x="3734730" y="2187773"/>
            <a:ext cx="471488" cy="471488"/>
          </a:xfrm>
          <a:prstGeom prst="rect">
            <a:avLst/>
          </a:prstGeom>
          <a:solidFill>
            <a:srgbClr val="FFFFFF">
              <a:alpha val="10000"/>
            </a:srgbClr>
          </a:solidFill>
          <a:ln w="18288">
            <a:solidFill>
              <a:srgbClr val="444444"/>
            </a:solidFill>
            <a:prstDash val="solid"/>
          </a:ln>
        </p:spPr>
      </p:sp>
      <p:pic>
        <p:nvPicPr>
          <p:cNvPr id="39" name="Image 9" descr="preencoded.png">    </p:cNvPr>
          <p:cNvPicPr>
            <a:picLocks noChangeAspect="1"/>
          </p:cNvPicPr>
          <p:nvPr/>
        </p:nvPicPr>
        <p:blipFill>
          <a:blip r:embed="rId10"/>
          <a:stretch>
            <a:fillRect/>
          </a:stretch>
        </p:blipFill>
        <p:spPr>
          <a:xfrm>
            <a:off x="3881177" y="2294930"/>
            <a:ext cx="135731" cy="214313"/>
          </a:xfrm>
          <a:prstGeom prst="rect">
            <a:avLst/>
          </a:prstGeom>
        </p:spPr>
      </p:pic>
      <p:sp>
        <p:nvSpPr>
          <p:cNvPr id="40" name="Shape 28"/>
          <p:cNvSpPr/>
          <p:nvPr/>
        </p:nvSpPr>
        <p:spPr>
          <a:xfrm>
            <a:off x="4646284" y="2187773"/>
            <a:ext cx="471488" cy="471488"/>
          </a:xfrm>
          <a:prstGeom prst="rect">
            <a:avLst/>
          </a:prstGeom>
          <a:solidFill>
            <a:srgbClr val="FFFFFF">
              <a:alpha val="10000"/>
            </a:srgbClr>
          </a:solidFill>
          <a:ln w="18288">
            <a:solidFill>
              <a:srgbClr val="444444"/>
            </a:solidFill>
            <a:prstDash val="solid"/>
          </a:ln>
        </p:spPr>
      </p:sp>
      <p:pic>
        <p:nvPicPr>
          <p:cNvPr id="41" name="Image 10" descr="preencoded.png">    </p:cNvPr>
          <p:cNvPicPr>
            <a:picLocks noChangeAspect="1"/>
          </p:cNvPicPr>
          <p:nvPr/>
        </p:nvPicPr>
        <p:blipFill>
          <a:blip r:embed="rId11"/>
          <a:stretch>
            <a:fillRect/>
          </a:stretch>
        </p:blipFill>
        <p:spPr>
          <a:xfrm>
            <a:off x="4792731" y="2294930"/>
            <a:ext cx="135731" cy="214313"/>
          </a:xfrm>
          <a:prstGeom prst="rect">
            <a:avLst/>
          </a:prstGeom>
        </p:spPr>
      </p:pic>
      <p:sp>
        <p:nvSpPr>
          <p:cNvPr id="42" name="Shape 29"/>
          <p:cNvSpPr/>
          <p:nvPr/>
        </p:nvSpPr>
        <p:spPr>
          <a:xfrm>
            <a:off x="1000125" y="2673548"/>
            <a:ext cx="471488" cy="471488"/>
          </a:xfrm>
          <a:prstGeom prst="rect">
            <a:avLst/>
          </a:prstGeom>
          <a:solidFill>
            <a:srgbClr val="FFFFFF">
              <a:alpha val="10000"/>
            </a:srgbClr>
          </a:solidFill>
          <a:ln w="18288">
            <a:solidFill>
              <a:srgbClr val="444444"/>
            </a:solidFill>
            <a:prstDash val="solid"/>
          </a:ln>
        </p:spPr>
      </p:sp>
      <p:pic>
        <p:nvPicPr>
          <p:cNvPr id="43" name="Image 11" descr="preencoded.png">    </p:cNvPr>
          <p:cNvPicPr>
            <a:picLocks noChangeAspect="1"/>
          </p:cNvPicPr>
          <p:nvPr/>
        </p:nvPicPr>
        <p:blipFill>
          <a:blip r:embed="rId12"/>
          <a:stretch>
            <a:fillRect/>
          </a:stretch>
        </p:blipFill>
        <p:spPr>
          <a:xfrm>
            <a:off x="1146572" y="2780705"/>
            <a:ext cx="135731" cy="214313"/>
          </a:xfrm>
          <a:prstGeom prst="rect">
            <a:avLst/>
          </a:prstGeom>
        </p:spPr>
      </p:pic>
      <p:sp>
        <p:nvSpPr>
          <p:cNvPr id="44" name="Shape 30"/>
          <p:cNvSpPr/>
          <p:nvPr/>
        </p:nvSpPr>
        <p:spPr>
          <a:xfrm>
            <a:off x="1911651" y="2673548"/>
            <a:ext cx="471488" cy="471488"/>
          </a:xfrm>
          <a:prstGeom prst="rect">
            <a:avLst/>
          </a:prstGeom>
          <a:solidFill>
            <a:srgbClr val="FFFFFF">
              <a:alpha val="10000"/>
            </a:srgbClr>
          </a:solidFill>
          <a:ln w="18288">
            <a:solidFill>
              <a:srgbClr val="444444"/>
            </a:solidFill>
            <a:prstDash val="solid"/>
          </a:ln>
        </p:spPr>
      </p:sp>
      <p:pic>
        <p:nvPicPr>
          <p:cNvPr id="45" name="Image 12" descr="preencoded.png">    </p:cNvPr>
          <p:cNvPicPr>
            <a:picLocks noChangeAspect="1"/>
          </p:cNvPicPr>
          <p:nvPr/>
        </p:nvPicPr>
        <p:blipFill>
          <a:blip r:embed="rId13"/>
          <a:stretch>
            <a:fillRect/>
          </a:stretch>
        </p:blipFill>
        <p:spPr>
          <a:xfrm>
            <a:off x="2058098" y="2780705"/>
            <a:ext cx="135731" cy="214313"/>
          </a:xfrm>
          <a:prstGeom prst="rect">
            <a:avLst/>
          </a:prstGeom>
        </p:spPr>
      </p:pic>
      <p:sp>
        <p:nvSpPr>
          <p:cNvPr id="46" name="Shape 31"/>
          <p:cNvSpPr/>
          <p:nvPr/>
        </p:nvSpPr>
        <p:spPr>
          <a:xfrm>
            <a:off x="2823204" y="2673548"/>
            <a:ext cx="471488" cy="471488"/>
          </a:xfrm>
          <a:prstGeom prst="rect">
            <a:avLst/>
          </a:prstGeom>
          <a:solidFill>
            <a:srgbClr val="FFFFFF">
              <a:alpha val="10000"/>
            </a:srgbClr>
          </a:solidFill>
          <a:ln w="18288">
            <a:solidFill>
              <a:srgbClr val="444444"/>
            </a:solidFill>
            <a:prstDash val="solid"/>
          </a:ln>
        </p:spPr>
      </p:sp>
      <p:pic>
        <p:nvPicPr>
          <p:cNvPr id="47" name="Image 13" descr="preencoded.png">    </p:cNvPr>
          <p:cNvPicPr>
            <a:picLocks noChangeAspect="1"/>
          </p:cNvPicPr>
          <p:nvPr/>
        </p:nvPicPr>
        <p:blipFill>
          <a:blip r:embed="rId14"/>
          <a:stretch>
            <a:fillRect/>
          </a:stretch>
        </p:blipFill>
        <p:spPr>
          <a:xfrm>
            <a:off x="2969651" y="2780705"/>
            <a:ext cx="135731" cy="214313"/>
          </a:xfrm>
          <a:prstGeom prst="rect">
            <a:avLst/>
          </a:prstGeom>
        </p:spPr>
      </p:pic>
      <p:sp>
        <p:nvSpPr>
          <p:cNvPr id="48" name="Shape 32"/>
          <p:cNvSpPr/>
          <p:nvPr/>
        </p:nvSpPr>
        <p:spPr>
          <a:xfrm>
            <a:off x="3734730" y="2673548"/>
            <a:ext cx="471488" cy="471488"/>
          </a:xfrm>
          <a:prstGeom prst="rect">
            <a:avLst/>
          </a:prstGeom>
          <a:solidFill>
            <a:srgbClr val="FFFFFF">
              <a:alpha val="10000"/>
            </a:srgbClr>
          </a:solidFill>
          <a:ln w="18288">
            <a:solidFill>
              <a:srgbClr val="444444"/>
            </a:solidFill>
            <a:prstDash val="solid"/>
          </a:ln>
        </p:spPr>
      </p:sp>
      <p:pic>
        <p:nvPicPr>
          <p:cNvPr id="49" name="Image 14" descr="preencoded.png">    </p:cNvPr>
          <p:cNvPicPr>
            <a:picLocks noChangeAspect="1"/>
          </p:cNvPicPr>
          <p:nvPr/>
        </p:nvPicPr>
        <p:blipFill>
          <a:blip r:embed="rId15"/>
          <a:stretch>
            <a:fillRect/>
          </a:stretch>
        </p:blipFill>
        <p:spPr>
          <a:xfrm>
            <a:off x="3881177" y="2780705"/>
            <a:ext cx="135731" cy="214313"/>
          </a:xfrm>
          <a:prstGeom prst="rect">
            <a:avLst/>
          </a:prstGeom>
        </p:spPr>
      </p:pic>
      <p:sp>
        <p:nvSpPr>
          <p:cNvPr id="50" name="Shape 33"/>
          <p:cNvSpPr/>
          <p:nvPr/>
        </p:nvSpPr>
        <p:spPr>
          <a:xfrm>
            <a:off x="4646284" y="2673548"/>
            <a:ext cx="471488" cy="471488"/>
          </a:xfrm>
          <a:prstGeom prst="rect">
            <a:avLst/>
          </a:prstGeom>
          <a:solidFill>
            <a:srgbClr val="FFFFFF">
              <a:alpha val="10000"/>
            </a:srgbClr>
          </a:solidFill>
          <a:ln w="18288">
            <a:solidFill>
              <a:srgbClr val="444444"/>
            </a:solidFill>
            <a:prstDash val="solid"/>
          </a:ln>
        </p:spPr>
      </p:sp>
      <p:pic>
        <p:nvPicPr>
          <p:cNvPr id="51" name="Image 15" descr="preencoded.png">    </p:cNvPr>
          <p:cNvPicPr>
            <a:picLocks noChangeAspect="1"/>
          </p:cNvPicPr>
          <p:nvPr/>
        </p:nvPicPr>
        <p:blipFill>
          <a:blip r:embed="rId16"/>
          <a:stretch>
            <a:fillRect/>
          </a:stretch>
        </p:blipFill>
        <p:spPr>
          <a:xfrm>
            <a:off x="4792731" y="2780705"/>
            <a:ext cx="135731" cy="214313"/>
          </a:xfrm>
          <a:prstGeom prst="rect">
            <a:avLst/>
          </a:prstGeom>
        </p:spPr>
      </p:pic>
      <p:sp>
        <p:nvSpPr>
          <p:cNvPr id="52" name="Shape 34"/>
          <p:cNvSpPr/>
          <p:nvPr/>
        </p:nvSpPr>
        <p:spPr>
          <a:xfrm>
            <a:off x="6615113" y="1351955"/>
            <a:ext cx="771525" cy="771525"/>
          </a:xfrm>
          <a:prstGeom prst="rect">
            <a:avLst/>
          </a:prstGeom>
          <a:solidFill>
            <a:srgbClr val="222222"/>
          </a:solidFill>
          <a:ln w="27432">
            <a:solidFill>
              <a:srgbClr val="FFD700"/>
            </a:solidFill>
            <a:prstDash val="solid"/>
          </a:ln>
        </p:spPr>
      </p:sp>
      <p:pic>
        <p:nvPicPr>
          <p:cNvPr id="53" name="Image 16" descr="preencoded.png">    </p:cNvPr>
          <p:cNvPicPr>
            <a:picLocks noChangeAspect="1"/>
          </p:cNvPicPr>
          <p:nvPr/>
        </p:nvPicPr>
        <p:blipFill>
          <a:blip r:embed="rId17"/>
          <a:stretch>
            <a:fillRect/>
          </a:stretch>
        </p:blipFill>
        <p:spPr>
          <a:xfrm>
            <a:off x="6786563" y="1494830"/>
            <a:ext cx="428625" cy="428625"/>
          </a:xfrm>
          <a:prstGeom prst="rect">
            <a:avLst/>
          </a:prstGeom>
        </p:spPr>
      </p:pic>
      <p:sp>
        <p:nvSpPr>
          <p:cNvPr id="54" name="Text 35"/>
          <p:cNvSpPr/>
          <p:nvPr/>
        </p:nvSpPr>
        <p:spPr>
          <a:xfrm>
            <a:off x="5857875" y="2152055"/>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이름</a:t>
            </a:r>
            <a:endParaRPr lang="en-US" sz="1050" dirty="0"/>
          </a:p>
        </p:txBody>
      </p:sp>
      <p:sp>
        <p:nvSpPr>
          <p:cNvPr id="55" name="Text 36"/>
          <p:cNvSpPr/>
          <p:nvPr/>
        </p:nvSpPr>
        <p:spPr>
          <a:xfrm>
            <a:off x="7749518" y="2152055"/>
            <a:ext cx="394357"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D700"/>
                </a:solidFill>
              </a:rPr>
              <a:t>차한해</a:t>
            </a:r>
            <a:endParaRPr lang="en-US" sz="1050" dirty="0"/>
          </a:p>
        </p:txBody>
      </p:sp>
      <p:sp>
        <p:nvSpPr>
          <p:cNvPr id="56" name="Text 37"/>
          <p:cNvSpPr/>
          <p:nvPr/>
        </p:nvSpPr>
        <p:spPr>
          <a:xfrm>
            <a:off x="5857875" y="2444948"/>
            <a:ext cx="262896"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레벨</a:t>
            </a:r>
            <a:endParaRPr lang="en-US" sz="1050" dirty="0"/>
          </a:p>
        </p:txBody>
      </p:sp>
      <p:sp>
        <p:nvSpPr>
          <p:cNvPr id="57" name="Text 38"/>
          <p:cNvSpPr/>
          <p:nvPr/>
        </p:nvSpPr>
        <p:spPr>
          <a:xfrm>
            <a:off x="7754373" y="2444948"/>
            <a:ext cx="389502"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D700"/>
                </a:solidFill>
              </a:rPr>
              <a:t>LV. 15</a:t>
            </a:r>
            <a:endParaRPr lang="en-US" sz="1050" dirty="0"/>
          </a:p>
        </p:txBody>
      </p:sp>
      <p:sp>
        <p:nvSpPr>
          <p:cNvPr id="58" name="Text 39"/>
          <p:cNvSpPr/>
          <p:nvPr/>
        </p:nvSpPr>
        <p:spPr>
          <a:xfrm>
            <a:off x="5857875" y="2737842"/>
            <a:ext cx="394357"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생명력</a:t>
            </a:r>
            <a:endParaRPr lang="en-US" sz="1050" dirty="0"/>
          </a:p>
        </p:txBody>
      </p:sp>
      <p:sp>
        <p:nvSpPr>
          <p:cNvPr id="59" name="Text 40"/>
          <p:cNvSpPr/>
          <p:nvPr/>
        </p:nvSpPr>
        <p:spPr>
          <a:xfrm>
            <a:off x="7607787" y="2737842"/>
            <a:ext cx="536088"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D700"/>
                </a:solidFill>
              </a:rPr>
              <a:t>80 / 100</a:t>
            </a:r>
            <a:endParaRPr lang="en-US" sz="1050" dirty="0"/>
          </a:p>
        </p:txBody>
      </p:sp>
      <p:sp>
        <p:nvSpPr>
          <p:cNvPr id="60" name="Text 41"/>
          <p:cNvSpPr/>
          <p:nvPr/>
        </p:nvSpPr>
        <p:spPr>
          <a:xfrm>
            <a:off x="5857875" y="3030736"/>
            <a:ext cx="694395"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자아 마모도</a:t>
            </a:r>
            <a:endParaRPr lang="en-US" sz="1050" dirty="0"/>
          </a:p>
        </p:txBody>
      </p:sp>
      <p:sp>
        <p:nvSpPr>
          <p:cNvPr id="61" name="Text 42"/>
          <p:cNvSpPr/>
          <p:nvPr/>
        </p:nvSpPr>
        <p:spPr>
          <a:xfrm>
            <a:off x="7861697" y="3030736"/>
            <a:ext cx="282178"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D700"/>
                </a:solidFill>
              </a:rPr>
              <a:t>42%</a:t>
            </a:r>
            <a:endParaRPr lang="en-US" sz="1050" dirty="0"/>
          </a:p>
        </p:txBody>
      </p:sp>
      <p:sp>
        <p:nvSpPr>
          <p:cNvPr id="62" name="Text 43"/>
          <p:cNvSpPr/>
          <p:nvPr/>
        </p:nvSpPr>
        <p:spPr>
          <a:xfrm>
            <a:off x="5857875" y="3323630"/>
            <a:ext cx="562933"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00CED1"/>
                </a:solidFill>
              </a:rPr>
              <a:t>장착 무기</a:t>
            </a:r>
            <a:endParaRPr lang="en-US" sz="1050" dirty="0"/>
          </a:p>
        </p:txBody>
      </p:sp>
      <p:sp>
        <p:nvSpPr>
          <p:cNvPr id="63" name="Text 44"/>
          <p:cNvSpPr/>
          <p:nvPr/>
        </p:nvSpPr>
        <p:spPr>
          <a:xfrm>
            <a:off x="7580942" y="3323630"/>
            <a:ext cx="562933" cy="207169"/>
          </a:xfrm>
          <a:prstGeom prst="rect">
            <a:avLst/>
          </a:prstGeom>
          <a:noFill/>
          <a:ln/>
        </p:spPr>
        <p:txBody>
          <a:bodyPr wrap="none" lIns="0" tIns="0" rIns="0" bIns="0" rtlCol="0" anchor="t">
            <a:spAutoFit/>
          </a:bodyPr>
          <a:lstStyle/>
          <a:p>
            <a:pPr algn="l" indent="0" marL="0">
              <a:lnSpc>
                <a:spcPts val="1400"/>
              </a:lnSpc>
              <a:buNone/>
            </a:pPr>
            <a:r>
              <a:rPr lang="en-US" sz="1050" dirty="0">
                <a:solidFill>
                  <a:srgbClr val="FFD700"/>
                </a:solidFill>
              </a:rPr>
              <a:t>기본 단검</a:t>
            </a:r>
            <a:endParaRPr lang="en-US" sz="1050" dirty="0"/>
          </a:p>
        </p:txBody>
      </p:sp>
      <p:sp>
        <p:nvSpPr>
          <p:cNvPr id="64" name="Shape 45"/>
          <p:cNvSpPr/>
          <p:nvPr/>
        </p:nvSpPr>
        <p:spPr>
          <a:xfrm>
            <a:off x="1000125" y="4009430"/>
            <a:ext cx="2324091" cy="692944"/>
          </a:xfrm>
          <a:prstGeom prst="rect">
            <a:avLst/>
          </a:prstGeom>
          <a:solidFill>
            <a:srgbClr val="FFFFFF">
              <a:alpha val="5000"/>
            </a:srgbClr>
          </a:solidFill>
          <a:ln/>
        </p:spPr>
      </p:sp>
      <p:sp>
        <p:nvSpPr>
          <p:cNvPr id="65" name="Shape 46"/>
          <p:cNvSpPr/>
          <p:nvPr/>
        </p:nvSpPr>
        <p:spPr>
          <a:xfrm>
            <a:off x="1000125" y="4009430"/>
            <a:ext cx="28575" cy="692944"/>
          </a:xfrm>
          <a:prstGeom prst="rect">
            <a:avLst/>
          </a:prstGeom>
          <a:solidFill>
            <a:srgbClr val="FFD700"/>
          </a:solidFill>
          <a:ln/>
        </p:spPr>
      </p:sp>
      <p:sp>
        <p:nvSpPr>
          <p:cNvPr id="66" name="Text 47"/>
          <p:cNvSpPr/>
          <p:nvPr/>
        </p:nvSpPr>
        <p:spPr>
          <a:xfrm>
            <a:off x="1085850" y="4066580"/>
            <a:ext cx="2152641" cy="207169"/>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FFD700"/>
                </a:solidFill>
              </a:rPr>
              <a:t>인벤토리</a:t>
            </a:r>
            <a:endParaRPr lang="en-US" sz="987" dirty="0"/>
          </a:p>
        </p:txBody>
      </p:sp>
      <p:sp>
        <p:nvSpPr>
          <p:cNvPr id="67" name="Text 48"/>
          <p:cNvSpPr/>
          <p:nvPr/>
        </p:nvSpPr>
        <p:spPr>
          <a:xfrm>
            <a:off x="1085850" y="4316611"/>
            <a:ext cx="2152641" cy="328613"/>
          </a:xfrm>
          <a:prstGeom prst="rect">
            <a:avLst/>
          </a:prstGeom>
          <a:noFill/>
          <a:ln/>
        </p:spPr>
        <p:txBody>
          <a:bodyPr wrap="square" lIns="0" tIns="0" rIns="0" bIns="0" rtlCol="0" anchor="t">
            <a:spAutoFit/>
          </a:bodyPr>
          <a:lstStyle/>
          <a:p>
            <a:pPr algn="l" indent="0" marL="0">
              <a:lnSpc>
                <a:spcPts val="1100"/>
              </a:lnSpc>
              <a:buNone/>
            </a:pPr>
            <a:r>
              <a:rPr lang="en-US" sz="834" dirty="0">
                <a:solidFill>
                  <a:srgbClr val="CCCCCC"/>
                </a:solidFill>
              </a:rPr>
              <a:t>습득한 아이템을 확인하고 사용하거나 장착할 수 있는 그리드 시스템입니다.</a:t>
            </a:r>
            <a:endParaRPr lang="en-US" sz="834" dirty="0"/>
          </a:p>
        </p:txBody>
      </p:sp>
      <p:sp>
        <p:nvSpPr>
          <p:cNvPr id="68" name="Shape 49"/>
          <p:cNvSpPr/>
          <p:nvPr/>
        </p:nvSpPr>
        <p:spPr>
          <a:xfrm>
            <a:off x="3409941" y="4009430"/>
            <a:ext cx="2324091" cy="692944"/>
          </a:xfrm>
          <a:prstGeom prst="rect">
            <a:avLst/>
          </a:prstGeom>
          <a:solidFill>
            <a:srgbClr val="FFFFFF">
              <a:alpha val="5000"/>
            </a:srgbClr>
          </a:solidFill>
          <a:ln/>
        </p:spPr>
      </p:sp>
      <p:sp>
        <p:nvSpPr>
          <p:cNvPr id="69" name="Shape 50"/>
          <p:cNvSpPr/>
          <p:nvPr/>
        </p:nvSpPr>
        <p:spPr>
          <a:xfrm>
            <a:off x="3409941" y="4009430"/>
            <a:ext cx="28575" cy="692944"/>
          </a:xfrm>
          <a:prstGeom prst="rect">
            <a:avLst/>
          </a:prstGeom>
          <a:solidFill>
            <a:srgbClr val="FFD700"/>
          </a:solidFill>
          <a:ln/>
        </p:spPr>
      </p:sp>
      <p:sp>
        <p:nvSpPr>
          <p:cNvPr id="70" name="Text 51"/>
          <p:cNvSpPr/>
          <p:nvPr/>
        </p:nvSpPr>
        <p:spPr>
          <a:xfrm>
            <a:off x="3495666" y="4066580"/>
            <a:ext cx="2152641" cy="207169"/>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FFD700"/>
                </a:solidFill>
              </a:rPr>
              <a:t>캐릭터 정보</a:t>
            </a:r>
            <a:endParaRPr lang="en-US" sz="987" dirty="0"/>
          </a:p>
        </p:txBody>
      </p:sp>
      <p:sp>
        <p:nvSpPr>
          <p:cNvPr id="71" name="Text 52"/>
          <p:cNvSpPr/>
          <p:nvPr/>
        </p:nvSpPr>
        <p:spPr>
          <a:xfrm>
            <a:off x="3495666" y="4316611"/>
            <a:ext cx="2152641" cy="328613"/>
          </a:xfrm>
          <a:prstGeom prst="rect">
            <a:avLst/>
          </a:prstGeom>
          <a:noFill/>
          <a:ln/>
        </p:spPr>
        <p:txBody>
          <a:bodyPr wrap="square" lIns="0" tIns="0" rIns="0" bIns="0" rtlCol="0" anchor="t">
            <a:spAutoFit/>
          </a:bodyPr>
          <a:lstStyle/>
          <a:p>
            <a:pPr algn="l" indent="0" marL="0">
              <a:lnSpc>
                <a:spcPts val="1100"/>
              </a:lnSpc>
              <a:buNone/>
            </a:pPr>
            <a:r>
              <a:rPr lang="en-US" sz="834" dirty="0">
                <a:solidFill>
                  <a:srgbClr val="CCCCCC"/>
                </a:solidFill>
              </a:rPr>
              <a:t>주인공의 현재 스탯과 자아 마모도 수치를 실시간으로 모니터링합니다.</a:t>
            </a:r>
            <a:endParaRPr lang="en-US" sz="834" dirty="0"/>
          </a:p>
        </p:txBody>
      </p:sp>
      <p:sp>
        <p:nvSpPr>
          <p:cNvPr id="72" name="Shape 53"/>
          <p:cNvSpPr/>
          <p:nvPr/>
        </p:nvSpPr>
        <p:spPr>
          <a:xfrm>
            <a:off x="5819756" y="4009430"/>
            <a:ext cx="2324119" cy="692944"/>
          </a:xfrm>
          <a:prstGeom prst="rect">
            <a:avLst/>
          </a:prstGeom>
          <a:solidFill>
            <a:srgbClr val="FFFFFF">
              <a:alpha val="5000"/>
            </a:srgbClr>
          </a:solidFill>
          <a:ln/>
        </p:spPr>
      </p:sp>
      <p:sp>
        <p:nvSpPr>
          <p:cNvPr id="73" name="Shape 54"/>
          <p:cNvSpPr/>
          <p:nvPr/>
        </p:nvSpPr>
        <p:spPr>
          <a:xfrm>
            <a:off x="5819756" y="4009430"/>
            <a:ext cx="28575" cy="692944"/>
          </a:xfrm>
          <a:prstGeom prst="rect">
            <a:avLst/>
          </a:prstGeom>
          <a:solidFill>
            <a:srgbClr val="FFD700"/>
          </a:solidFill>
          <a:ln/>
        </p:spPr>
      </p:sp>
      <p:sp>
        <p:nvSpPr>
          <p:cNvPr id="74" name="Text 55"/>
          <p:cNvSpPr/>
          <p:nvPr/>
        </p:nvSpPr>
        <p:spPr>
          <a:xfrm>
            <a:off x="5905481" y="4066580"/>
            <a:ext cx="2152669" cy="207169"/>
          </a:xfrm>
          <a:prstGeom prst="rect">
            <a:avLst/>
          </a:prstGeom>
          <a:noFill/>
          <a:ln/>
        </p:spPr>
        <p:txBody>
          <a:bodyPr wrap="none" lIns="0" tIns="0" rIns="0" bIns="0" rtlCol="0" anchor="t">
            <a:spAutoFit/>
          </a:bodyPr>
          <a:lstStyle/>
          <a:p>
            <a:pPr algn="l" indent="0" marL="0">
              <a:lnSpc>
                <a:spcPts val="1400"/>
              </a:lnSpc>
              <a:buNone/>
            </a:pPr>
            <a:r>
              <a:rPr lang="en-US" sz="987" b="1" dirty="0">
                <a:solidFill>
                  <a:srgbClr val="FFD700"/>
                </a:solidFill>
              </a:rPr>
              <a:t>단축키 설정</a:t>
            </a:r>
            <a:endParaRPr lang="en-US" sz="987" dirty="0"/>
          </a:p>
        </p:txBody>
      </p:sp>
      <p:sp>
        <p:nvSpPr>
          <p:cNvPr id="75" name="Text 56"/>
          <p:cNvSpPr/>
          <p:nvPr/>
        </p:nvSpPr>
        <p:spPr>
          <a:xfrm>
            <a:off x="5905481" y="4316611"/>
            <a:ext cx="2152669" cy="328613"/>
          </a:xfrm>
          <a:prstGeom prst="rect">
            <a:avLst/>
          </a:prstGeom>
          <a:noFill/>
          <a:ln/>
        </p:spPr>
        <p:txBody>
          <a:bodyPr wrap="square" lIns="0" tIns="0" rIns="0" bIns="0" rtlCol="0" anchor="t">
            <a:spAutoFit/>
          </a:bodyPr>
          <a:lstStyle/>
          <a:p>
            <a:pPr algn="l" indent="0" marL="0">
              <a:lnSpc>
                <a:spcPts val="1100"/>
              </a:lnSpc>
              <a:buNone/>
            </a:pPr>
            <a:r>
              <a:rPr lang="en-US" sz="834" dirty="0">
                <a:solidFill>
                  <a:srgbClr val="CCCCCC"/>
                </a:solidFill>
              </a:rPr>
              <a:t>사용자 편의에 맞춰 조작키를 커스터마이징하여 최적의 플레이 환경을 구축합니다.</a:t>
            </a:r>
            <a:endParaRPr lang="en-US" sz="834"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3250434" cy="544711"/>
          </a:xfrm>
          <a:prstGeom prst="rect">
            <a:avLst/>
          </a:prstGeom>
          <a:solidFill>
            <a:srgbClr val="FFFFFF"/>
          </a:solidFill>
          <a:ln w="27432">
            <a:solidFill>
              <a:srgbClr val="000000"/>
            </a:solidFill>
            <a:prstDash val="solid"/>
          </a:ln>
        </p:spPr>
      </p:sp>
      <p:sp>
        <p:nvSpPr>
          <p:cNvPr id="4" name="Text 1"/>
          <p:cNvSpPr/>
          <p:nvPr/>
        </p:nvSpPr>
        <p:spPr>
          <a:xfrm>
            <a:off x="642938" y="342900"/>
            <a:ext cx="2764659"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시스템: UI 설정 영역 상세</a:t>
            </a:r>
            <a:endParaRPr lang="en-US" sz="1808" dirty="0"/>
          </a:p>
        </p:txBody>
      </p:sp>
      <p:sp>
        <p:nvSpPr>
          <p:cNvPr id="5" name="Shape 2"/>
          <p:cNvSpPr/>
          <p:nvPr/>
        </p:nvSpPr>
        <p:spPr>
          <a:xfrm>
            <a:off x="428625" y="987623"/>
            <a:ext cx="4000500" cy="4071547"/>
          </a:xfrm>
          <a:prstGeom prst="rect">
            <a:avLst/>
          </a:prstGeom>
          <a:solidFill>
            <a:srgbClr val="00CED1">
              <a:alpha val="5000"/>
            </a:srgbClr>
          </a:solidFill>
          <a:ln w="27432">
            <a:solidFill>
              <a:srgbClr val="00CED1"/>
            </a:solidFill>
            <a:prstDash val="solid"/>
          </a:ln>
        </p:spPr>
      </p:sp>
      <p:sp>
        <p:nvSpPr>
          <p:cNvPr id="6" name="Shape 3"/>
          <p:cNvSpPr/>
          <p:nvPr/>
        </p:nvSpPr>
        <p:spPr>
          <a:xfrm>
            <a:off x="571500" y="880467"/>
            <a:ext cx="1368754" cy="264319"/>
          </a:xfrm>
          <a:prstGeom prst="rect">
            <a:avLst/>
          </a:prstGeom>
          <a:solidFill>
            <a:srgbClr val="00CED1"/>
          </a:solidFill>
          <a:ln w="18288">
            <a:solidFill>
              <a:srgbClr val="000000"/>
            </a:solidFill>
            <a:prstDash val="solid"/>
          </a:ln>
        </p:spPr>
      </p:sp>
      <p:sp>
        <p:nvSpPr>
          <p:cNvPr id="7" name="Text 4"/>
          <p:cNvSpPr/>
          <p:nvPr/>
        </p:nvSpPr>
        <p:spPr>
          <a:xfrm>
            <a:off x="571500" y="880467"/>
            <a:ext cx="1368754" cy="264319"/>
          </a:xfrm>
          <a:prstGeom prst="rect">
            <a:avLst/>
          </a:prstGeom>
          <a:noFill/>
          <a:ln/>
        </p:spPr>
        <p:txBody>
          <a:bodyPr wrap="square" lIns="127508" tIns="17018" rIns="127508" bIns="17018" rtlCol="0" anchor="t">
            <a:spAutoFit/>
          </a:bodyPr>
          <a:lstStyle/>
          <a:p>
            <a:pPr algn="l" indent="0" marL="0">
              <a:lnSpc>
                <a:spcPts val="1400"/>
              </a:lnSpc>
              <a:buNone/>
            </a:pPr>
            <a:r>
              <a:rPr lang="en-US" sz="1050" dirty="0">
                <a:solidFill>
                  <a:srgbClr val="1A0D2E"/>
                </a:solidFill>
              </a:rPr>
              <a:t>인벤토리 영역 상세</a:t>
            </a:r>
            <a:endParaRPr lang="en-US" sz="1050" dirty="0"/>
          </a:p>
        </p:txBody>
      </p:sp>
      <p:sp>
        <p:nvSpPr>
          <p:cNvPr id="8" name="Shape 5"/>
          <p:cNvSpPr/>
          <p:nvPr/>
        </p:nvSpPr>
        <p:spPr>
          <a:xfrm>
            <a:off x="571500" y="1237655"/>
            <a:ext cx="3743325" cy="2200275"/>
          </a:xfrm>
          <a:prstGeom prst="rect">
            <a:avLst/>
          </a:prstGeom>
          <a:solidFill>
            <a:srgbClr val="000000"/>
          </a:solidFill>
          <a:ln w="27432">
            <a:solidFill>
              <a:srgbClr val="FFFFFF"/>
            </a:solidFill>
            <a:prstDash val="solid"/>
          </a:ln>
        </p:spPr>
      </p:sp>
      <p:sp>
        <p:nvSpPr>
          <p:cNvPr id="9" name="Shape 6"/>
          <p:cNvSpPr/>
          <p:nvPr/>
        </p:nvSpPr>
        <p:spPr>
          <a:xfrm>
            <a:off x="2721769" y="1794867"/>
            <a:ext cx="1243013" cy="1028700"/>
          </a:xfrm>
          <a:prstGeom prst="rect">
            <a:avLst/>
          </a:prstGeom>
          <a:solidFill>
            <a:srgbClr val="FFD700">
              <a:alpha val="10000"/>
            </a:srgbClr>
          </a:solidFill>
          <a:ln w="18288">
            <a:solidFill>
              <a:srgbClr val="FFD700"/>
            </a:solidFill>
            <a:prstDash val="solid"/>
          </a:ln>
        </p:spPr>
      </p:sp>
      <p:sp>
        <p:nvSpPr>
          <p:cNvPr id="10" name="Text 7"/>
          <p:cNvSpPr/>
          <p:nvPr/>
        </p:nvSpPr>
        <p:spPr>
          <a:xfrm>
            <a:off x="2807494" y="1880592"/>
            <a:ext cx="1071563" cy="126802"/>
          </a:xfrm>
          <a:prstGeom prst="rect">
            <a:avLst/>
          </a:prstGeom>
          <a:noFill/>
          <a:ln/>
        </p:spPr>
        <p:txBody>
          <a:bodyPr wrap="none" lIns="0" tIns="0" rIns="0" bIns="0" rtlCol="0" anchor="t">
            <a:spAutoFit/>
          </a:bodyPr>
          <a:lstStyle/>
          <a:p>
            <a:pPr algn="l" indent="0" marL="0">
              <a:lnSpc>
                <a:spcPts val="800"/>
              </a:lnSpc>
              <a:buNone/>
            </a:pPr>
            <a:r>
              <a:rPr lang="en-US" sz="621" dirty="0">
                <a:solidFill>
                  <a:srgbClr val="FFD700"/>
                </a:solidFill>
              </a:rPr>
              <a:t>아이템 이름</a:t>
            </a:r>
            <a:endParaRPr lang="en-US" sz="621" dirty="0"/>
          </a:p>
        </p:txBody>
      </p:sp>
      <p:sp>
        <p:nvSpPr>
          <p:cNvPr id="11" name="Text 8"/>
          <p:cNvSpPr/>
          <p:nvPr/>
        </p:nvSpPr>
        <p:spPr>
          <a:xfrm>
            <a:off x="2807494" y="2043113"/>
            <a:ext cx="1071563" cy="126802"/>
          </a:xfrm>
          <a:prstGeom prst="rect">
            <a:avLst/>
          </a:prstGeom>
          <a:noFill/>
          <a:ln/>
        </p:spPr>
        <p:txBody>
          <a:bodyPr wrap="none" lIns="0" tIns="0" rIns="0" bIns="0" rtlCol="0" anchor="t">
            <a:spAutoFit/>
          </a:bodyPr>
          <a:lstStyle/>
          <a:p>
            <a:pPr algn="l" indent="0" marL="0">
              <a:lnSpc>
                <a:spcPts val="800"/>
              </a:lnSpc>
              <a:buNone/>
            </a:pPr>
            <a:r>
              <a:rPr lang="en-US" sz="621" dirty="0">
                <a:solidFill>
                  <a:srgbClr val="FFFFFF"/>
                </a:solidFill>
              </a:rPr>
              <a:t>상세 설명 텍스트 영역...</a:t>
            </a:r>
            <a:endParaRPr lang="en-US" sz="621" dirty="0"/>
          </a:p>
        </p:txBody>
      </p:sp>
      <p:sp>
        <p:nvSpPr>
          <p:cNvPr id="12" name="Shape 9"/>
          <p:cNvSpPr/>
          <p:nvPr/>
        </p:nvSpPr>
        <p:spPr>
          <a:xfrm>
            <a:off x="4014788" y="1309092"/>
            <a:ext cx="171450" cy="171450"/>
          </a:xfrm>
          <a:prstGeom prst="rect">
            <a:avLst/>
          </a:prstGeom>
          <a:solidFill>
            <a:srgbClr val="FF69B4"/>
          </a:solidFill>
          <a:ln w="18288">
            <a:solidFill>
              <a:srgbClr val="000000"/>
            </a:solidFill>
            <a:prstDash val="solid"/>
          </a:ln>
        </p:spPr>
      </p:sp>
      <p:sp>
        <p:nvSpPr>
          <p:cNvPr id="13" name="Text 10"/>
          <p:cNvSpPr/>
          <p:nvPr/>
        </p:nvSpPr>
        <p:spPr>
          <a:xfrm>
            <a:off x="4014788" y="1309092"/>
            <a:ext cx="171450" cy="171450"/>
          </a:xfrm>
          <a:prstGeom prst="rect">
            <a:avLst/>
          </a:prstGeom>
          <a:noFill/>
          <a:ln/>
        </p:spPr>
        <p:txBody>
          <a:bodyPr wrap="square" lIns="0" tIns="0" rIns="0" bIns="0" rtlCol="0" anchor="ctr">
            <a:spAutoFit/>
          </a:bodyPr>
          <a:lstStyle/>
          <a:p>
            <a:pPr algn="ctr" indent="0" marL="0">
              <a:lnSpc>
                <a:spcPts val="800"/>
              </a:lnSpc>
              <a:buNone/>
            </a:pPr>
            <a:r>
              <a:rPr lang="en-US" sz="621" dirty="0">
                <a:solidFill>
                  <a:srgbClr val="FFFFFF"/>
                </a:solidFill>
              </a:rPr>
              <a:t>X</a:t>
            </a:r>
            <a:endParaRPr lang="en-US" sz="621" dirty="0"/>
          </a:p>
        </p:txBody>
      </p:sp>
      <p:pic>
        <p:nvPicPr>
          <p:cNvPr id="14" name="Image 1" descr="preencoded.png">    </p:cNvPr>
          <p:cNvPicPr>
            <a:picLocks noChangeAspect="1"/>
          </p:cNvPicPr>
          <p:nvPr/>
        </p:nvPicPr>
        <p:blipFill>
          <a:blip r:embed="rId2"/>
          <a:stretch>
            <a:fillRect/>
          </a:stretch>
        </p:blipFill>
        <p:spPr>
          <a:xfrm>
            <a:off x="571500" y="3523655"/>
            <a:ext cx="100013" cy="128588"/>
          </a:xfrm>
          <a:prstGeom prst="rect">
            <a:avLst/>
          </a:prstGeom>
        </p:spPr>
      </p:pic>
      <p:sp>
        <p:nvSpPr>
          <p:cNvPr id="15" name="Text 11"/>
          <p:cNvSpPr/>
          <p:nvPr/>
        </p:nvSpPr>
        <p:spPr>
          <a:xfrm>
            <a:off x="742950" y="3523655"/>
            <a:ext cx="3514725" cy="368964"/>
          </a:xfrm>
          <a:prstGeom prst="rect">
            <a:avLst/>
          </a:prstGeom>
          <a:noFill/>
          <a:ln/>
        </p:spPr>
        <p:txBody>
          <a:bodyPr wrap="square" lIns="0" tIns="0" rIns="0" bIns="0" rtlCol="0" anchor="t">
            <a:spAutoFit/>
          </a:bodyPr>
          <a:lstStyle/>
          <a:p>
            <a:pPr algn="l" indent="0" marL="0">
              <a:lnSpc>
                <a:spcPts val="1400"/>
              </a:lnSpc>
              <a:buNone/>
            </a:pPr>
            <a:r>
              <a:rPr lang="en-US" sz="885" b="1" dirty="0">
                <a:solidFill>
                  <a:srgbClr val="FFD700"/>
                </a:solidFill>
              </a:rPr>
              <a:t>아이템 그리드:</a:t>
            </a:r>
            <a:pPr algn="l" indent="0" marL="0">
              <a:lnSpc>
                <a:spcPts val="1400"/>
              </a:lnSpc>
              <a:buNone/>
            </a:pPr>
            <a:r>
              <a:rPr lang="en-US" sz="942" dirty="0">
                <a:solidFill>
                  <a:srgbClr val="FFFFFF"/>
                </a:solidFill>
              </a:rPr>
              <a:t> 픽셀 스타일의 슬롯 구성. 선택된 아이템은 황금</a:t>
            </a:r>
            <a:pPr algn="l" indent="0" marL="0">
              <a:lnSpc>
                <a:spcPts val="1400"/>
              </a:lnSpc>
              <a:buNone/>
            </a:pPr>
            <a:r>
              <a:rPr lang="en-US" sz="942" dirty="0">
                <a:solidFill>
                  <a:srgbClr val="FFFFFF"/>
                </a:solidFill>
              </a:rPr>
              <a:t>색 테두리로 강조됩니다.</a:t>
            </a:r>
            <a:endParaRPr lang="en-US" sz="885" dirty="0"/>
          </a:p>
        </p:txBody>
      </p:sp>
      <p:pic>
        <p:nvPicPr>
          <p:cNvPr id="16" name="Image 2" descr="preencoded.png">    </p:cNvPr>
          <p:cNvPicPr>
            <a:picLocks noChangeAspect="1"/>
          </p:cNvPicPr>
          <p:nvPr/>
        </p:nvPicPr>
        <p:blipFill>
          <a:blip r:embed="rId3"/>
          <a:stretch>
            <a:fillRect/>
          </a:stretch>
        </p:blipFill>
        <p:spPr>
          <a:xfrm>
            <a:off x="571500" y="3978343"/>
            <a:ext cx="100013" cy="128588"/>
          </a:xfrm>
          <a:prstGeom prst="rect">
            <a:avLst/>
          </a:prstGeom>
        </p:spPr>
      </p:pic>
      <p:sp>
        <p:nvSpPr>
          <p:cNvPr id="17" name="Text 12"/>
          <p:cNvSpPr/>
          <p:nvPr/>
        </p:nvSpPr>
        <p:spPr>
          <a:xfrm>
            <a:off x="742950" y="3978343"/>
            <a:ext cx="3514725" cy="368964"/>
          </a:xfrm>
          <a:prstGeom prst="rect">
            <a:avLst/>
          </a:prstGeom>
          <a:noFill/>
          <a:ln/>
        </p:spPr>
        <p:txBody>
          <a:bodyPr wrap="square" lIns="0" tIns="0" rIns="0" bIns="0" rtlCol="0" anchor="t">
            <a:spAutoFit/>
          </a:bodyPr>
          <a:lstStyle/>
          <a:p>
            <a:pPr algn="l" indent="0" marL="0">
              <a:lnSpc>
                <a:spcPts val="1400"/>
              </a:lnSpc>
              <a:buNone/>
            </a:pPr>
            <a:r>
              <a:rPr lang="en-US" sz="885" b="1" dirty="0">
                <a:solidFill>
                  <a:srgbClr val="FFD700"/>
                </a:solidFill>
              </a:rPr>
              <a:t>상세 설명창:</a:t>
            </a:r>
            <a:pPr algn="l" indent="0" marL="0">
              <a:lnSpc>
                <a:spcPts val="1400"/>
              </a:lnSpc>
              <a:buNone/>
            </a:pPr>
            <a:r>
              <a:rPr lang="en-US" sz="942" dirty="0">
                <a:solidFill>
                  <a:srgbClr val="FFFFFF"/>
                </a:solidFill>
              </a:rPr>
              <a:t> 아이템의 효과, 배경 스토리, 사용법 등을 직관적으</a:t>
            </a:r>
            <a:pPr algn="l" indent="0" marL="0">
              <a:lnSpc>
                <a:spcPts val="1400"/>
              </a:lnSpc>
              <a:buNone/>
            </a:pPr>
            <a:r>
              <a:rPr lang="en-US" sz="942" dirty="0">
                <a:solidFill>
                  <a:srgbClr val="FFFFFF"/>
                </a:solidFill>
              </a:rPr>
              <a:t>로 노출합니다.</a:t>
            </a:r>
            <a:endParaRPr lang="en-US" sz="885" dirty="0"/>
          </a:p>
        </p:txBody>
      </p:sp>
      <p:pic>
        <p:nvPicPr>
          <p:cNvPr id="18" name="Image 3" descr="preencoded.png">    </p:cNvPr>
          <p:cNvPicPr>
            <a:picLocks noChangeAspect="1"/>
          </p:cNvPicPr>
          <p:nvPr/>
        </p:nvPicPr>
        <p:blipFill>
          <a:blip r:embed="rId4"/>
          <a:stretch>
            <a:fillRect/>
          </a:stretch>
        </p:blipFill>
        <p:spPr>
          <a:xfrm>
            <a:off x="571500" y="4433032"/>
            <a:ext cx="100013" cy="128588"/>
          </a:xfrm>
          <a:prstGeom prst="rect">
            <a:avLst/>
          </a:prstGeom>
        </p:spPr>
      </p:pic>
      <p:sp>
        <p:nvSpPr>
          <p:cNvPr id="19" name="Text 13"/>
          <p:cNvSpPr/>
          <p:nvPr/>
        </p:nvSpPr>
        <p:spPr>
          <a:xfrm>
            <a:off x="742950" y="4433032"/>
            <a:ext cx="3514725" cy="368964"/>
          </a:xfrm>
          <a:prstGeom prst="rect">
            <a:avLst/>
          </a:prstGeom>
          <a:noFill/>
          <a:ln/>
        </p:spPr>
        <p:txBody>
          <a:bodyPr wrap="square" lIns="0" tIns="0" rIns="0" bIns="0" rtlCol="0" anchor="t">
            <a:spAutoFit/>
          </a:bodyPr>
          <a:lstStyle/>
          <a:p>
            <a:pPr algn="l" indent="0" marL="0">
              <a:lnSpc>
                <a:spcPts val="1400"/>
              </a:lnSpc>
              <a:buNone/>
            </a:pPr>
            <a:r>
              <a:rPr lang="en-US" sz="885" b="1" dirty="0">
                <a:solidFill>
                  <a:srgbClr val="FFD700"/>
                </a:solidFill>
              </a:rPr>
              <a:t>닫기 버튼:</a:t>
            </a:r>
            <a:pPr algn="l" indent="0" marL="0">
              <a:lnSpc>
                <a:spcPts val="1400"/>
              </a:lnSpc>
              <a:buNone/>
            </a:pPr>
            <a:r>
              <a:rPr lang="en-US" sz="942" dirty="0">
                <a:solidFill>
                  <a:srgbClr val="FFFFFF"/>
                </a:solidFill>
              </a:rPr>
              <a:t> 우측 상단에 배치하여 빠른 창 닫기 기능을 제공합니</a:t>
            </a:r>
            <a:pPr algn="l" indent="0" marL="0">
              <a:lnSpc>
                <a:spcPts val="1400"/>
              </a:lnSpc>
              <a:buNone/>
            </a:pPr>
            <a:r>
              <a:rPr lang="en-US" sz="942" dirty="0">
                <a:solidFill>
                  <a:srgbClr val="FFFFFF"/>
                </a:solidFill>
              </a:rPr>
              <a:t>다.</a:t>
            </a:r>
            <a:endParaRPr lang="en-US" sz="885" dirty="0"/>
          </a:p>
        </p:txBody>
      </p:sp>
      <p:sp>
        <p:nvSpPr>
          <p:cNvPr id="20" name="Shape 14"/>
          <p:cNvSpPr/>
          <p:nvPr/>
        </p:nvSpPr>
        <p:spPr>
          <a:xfrm>
            <a:off x="4686300" y="987623"/>
            <a:ext cx="4029075" cy="4071547"/>
          </a:xfrm>
          <a:prstGeom prst="rect">
            <a:avLst/>
          </a:prstGeom>
          <a:solidFill>
            <a:srgbClr val="FFD700">
              <a:alpha val="5000"/>
            </a:srgbClr>
          </a:solidFill>
          <a:ln w="27432">
            <a:solidFill>
              <a:srgbClr val="FFD700"/>
            </a:solidFill>
            <a:prstDash val="solid"/>
          </a:ln>
        </p:spPr>
      </p:sp>
      <p:sp>
        <p:nvSpPr>
          <p:cNvPr id="21" name="Shape 15"/>
          <p:cNvSpPr/>
          <p:nvPr/>
        </p:nvSpPr>
        <p:spPr>
          <a:xfrm>
            <a:off x="4857750" y="880467"/>
            <a:ext cx="1537357" cy="264319"/>
          </a:xfrm>
          <a:prstGeom prst="rect">
            <a:avLst/>
          </a:prstGeom>
          <a:solidFill>
            <a:srgbClr val="FFD700"/>
          </a:solidFill>
          <a:ln w="18288">
            <a:solidFill>
              <a:srgbClr val="000000"/>
            </a:solidFill>
            <a:prstDash val="solid"/>
          </a:ln>
        </p:spPr>
      </p:sp>
      <p:sp>
        <p:nvSpPr>
          <p:cNvPr id="22" name="Text 16"/>
          <p:cNvSpPr/>
          <p:nvPr/>
        </p:nvSpPr>
        <p:spPr>
          <a:xfrm>
            <a:off x="4857750" y="880467"/>
            <a:ext cx="1537357" cy="264319"/>
          </a:xfrm>
          <a:prstGeom prst="rect">
            <a:avLst/>
          </a:prstGeom>
          <a:noFill/>
          <a:ln/>
        </p:spPr>
        <p:txBody>
          <a:bodyPr wrap="square" lIns="127508" tIns="17018" rIns="127508" bIns="17018" rtlCol="0" anchor="t">
            <a:spAutoFit/>
          </a:bodyPr>
          <a:lstStyle/>
          <a:p>
            <a:pPr algn="l" indent="0" marL="0">
              <a:lnSpc>
                <a:spcPts val="1400"/>
              </a:lnSpc>
              <a:buNone/>
            </a:pPr>
            <a:r>
              <a:rPr lang="en-US" sz="1050" dirty="0">
                <a:solidFill>
                  <a:srgbClr val="1A0D2E"/>
                </a:solidFill>
              </a:rPr>
              <a:t>캐릭터 정보 영역 상세</a:t>
            </a:r>
            <a:endParaRPr lang="en-US" sz="1050" dirty="0"/>
          </a:p>
        </p:txBody>
      </p:sp>
      <p:sp>
        <p:nvSpPr>
          <p:cNvPr id="23" name="Shape 17"/>
          <p:cNvSpPr/>
          <p:nvPr/>
        </p:nvSpPr>
        <p:spPr>
          <a:xfrm>
            <a:off x="4857750" y="1237655"/>
            <a:ext cx="3771900" cy="2200275"/>
          </a:xfrm>
          <a:prstGeom prst="rect">
            <a:avLst/>
          </a:prstGeom>
          <a:solidFill>
            <a:srgbClr val="000000"/>
          </a:solidFill>
          <a:ln w="27432">
            <a:solidFill>
              <a:srgbClr val="FFD700"/>
            </a:solidFill>
            <a:prstDash val="solid"/>
          </a:ln>
        </p:spPr>
      </p:sp>
      <p:sp>
        <p:nvSpPr>
          <p:cNvPr id="24" name="Shape 18"/>
          <p:cNvSpPr/>
          <p:nvPr/>
        </p:nvSpPr>
        <p:spPr>
          <a:xfrm>
            <a:off x="5879306" y="1784152"/>
            <a:ext cx="471488" cy="471488"/>
          </a:xfrm>
          <a:prstGeom prst="rect">
            <a:avLst/>
          </a:prstGeom>
          <a:solidFill>
            <a:srgbClr val="00CED1">
              <a:alpha val="10000"/>
            </a:srgbClr>
          </a:solidFill>
          <a:ln w="18288">
            <a:solidFill>
              <a:srgbClr val="00CED1"/>
            </a:solidFill>
            <a:prstDash val="solid"/>
          </a:ln>
        </p:spPr>
      </p:sp>
      <p:pic>
        <p:nvPicPr>
          <p:cNvPr id="25" name="Image 4" descr="preencoded.png">    </p:cNvPr>
          <p:cNvPicPr>
            <a:picLocks noChangeAspect="1"/>
          </p:cNvPicPr>
          <p:nvPr/>
        </p:nvPicPr>
        <p:blipFill>
          <a:blip r:embed="rId5"/>
          <a:stretch>
            <a:fillRect/>
          </a:stretch>
        </p:blipFill>
        <p:spPr>
          <a:xfrm>
            <a:off x="5986463" y="1934170"/>
            <a:ext cx="214313" cy="171450"/>
          </a:xfrm>
          <a:prstGeom prst="rect">
            <a:avLst/>
          </a:prstGeom>
        </p:spPr>
      </p:pic>
      <p:sp>
        <p:nvSpPr>
          <p:cNvPr id="26" name="Shape 19"/>
          <p:cNvSpPr/>
          <p:nvPr/>
        </p:nvSpPr>
        <p:spPr>
          <a:xfrm>
            <a:off x="5879306" y="2341364"/>
            <a:ext cx="471488" cy="471488"/>
          </a:xfrm>
          <a:prstGeom prst="rect">
            <a:avLst/>
          </a:prstGeom>
          <a:solidFill>
            <a:srgbClr val="00CED1">
              <a:alpha val="10000"/>
            </a:srgbClr>
          </a:solidFill>
          <a:ln w="18288">
            <a:solidFill>
              <a:srgbClr val="00CED1"/>
            </a:solidFill>
            <a:prstDash val="solid"/>
          </a:ln>
        </p:spPr>
      </p:sp>
      <p:pic>
        <p:nvPicPr>
          <p:cNvPr id="27" name="Image 5" descr="preencoded.png">    </p:cNvPr>
          <p:cNvPicPr>
            <a:picLocks noChangeAspect="1"/>
          </p:cNvPicPr>
          <p:nvPr/>
        </p:nvPicPr>
        <p:blipFill>
          <a:blip r:embed="rId6"/>
          <a:stretch>
            <a:fillRect/>
          </a:stretch>
        </p:blipFill>
        <p:spPr>
          <a:xfrm>
            <a:off x="6786563" y="2023467"/>
            <a:ext cx="571500" cy="571500"/>
          </a:xfrm>
          <a:prstGeom prst="rect">
            <a:avLst/>
          </a:prstGeom>
        </p:spPr>
      </p:pic>
      <p:pic>
        <p:nvPicPr>
          <p:cNvPr id="28" name="Image 6" descr="preencoded.png">    </p:cNvPr>
          <p:cNvPicPr>
            <a:picLocks noChangeAspect="1"/>
          </p:cNvPicPr>
          <p:nvPr/>
        </p:nvPicPr>
        <p:blipFill>
          <a:blip r:embed="rId7"/>
          <a:stretch>
            <a:fillRect/>
          </a:stretch>
        </p:blipFill>
        <p:spPr>
          <a:xfrm>
            <a:off x="4857750" y="3523655"/>
            <a:ext cx="100013" cy="128588"/>
          </a:xfrm>
          <a:prstGeom prst="rect">
            <a:avLst/>
          </a:prstGeom>
        </p:spPr>
      </p:pic>
      <p:sp>
        <p:nvSpPr>
          <p:cNvPr id="29" name="Text 20"/>
          <p:cNvSpPr/>
          <p:nvPr/>
        </p:nvSpPr>
        <p:spPr>
          <a:xfrm>
            <a:off x="5029200" y="3523655"/>
            <a:ext cx="3543300" cy="368964"/>
          </a:xfrm>
          <a:prstGeom prst="rect">
            <a:avLst/>
          </a:prstGeom>
          <a:noFill/>
          <a:ln/>
        </p:spPr>
        <p:txBody>
          <a:bodyPr wrap="square" lIns="0" tIns="0" rIns="0" bIns="0" rtlCol="0" anchor="t">
            <a:spAutoFit/>
          </a:bodyPr>
          <a:lstStyle/>
          <a:p>
            <a:pPr algn="l" indent="0" marL="0">
              <a:lnSpc>
                <a:spcPts val="1400"/>
              </a:lnSpc>
              <a:buNone/>
            </a:pPr>
            <a:r>
              <a:rPr lang="en-US" sz="885" b="1" dirty="0">
                <a:solidFill>
                  <a:srgbClr val="FFD700"/>
                </a:solidFill>
              </a:rPr>
              <a:t>장착 슬롯:</a:t>
            </a:r>
            <a:pPr algn="l" indent="0" marL="0">
              <a:lnSpc>
                <a:spcPts val="1400"/>
              </a:lnSpc>
              <a:buNone/>
            </a:pPr>
            <a:r>
              <a:rPr lang="en-US" sz="942" dirty="0">
                <a:solidFill>
                  <a:srgbClr val="FFFFFF"/>
                </a:solidFill>
              </a:rPr>
              <a:t> 코스튬(의상)과 무기 슬롯을 구분하여 현재 장착 상태</a:t>
            </a:r>
            <a:pPr algn="l" indent="0" marL="0">
              <a:lnSpc>
                <a:spcPts val="1400"/>
              </a:lnSpc>
              <a:buNone/>
            </a:pPr>
            <a:r>
              <a:rPr lang="en-US" sz="942" dirty="0">
                <a:solidFill>
                  <a:srgbClr val="FFFFFF"/>
                </a:solidFill>
              </a:rPr>
              <a:t>를 시각화합니다.</a:t>
            </a:r>
            <a:endParaRPr lang="en-US" sz="885" dirty="0"/>
          </a:p>
        </p:txBody>
      </p:sp>
      <p:pic>
        <p:nvPicPr>
          <p:cNvPr id="30" name="Image 7" descr="preencoded.png">    </p:cNvPr>
          <p:cNvPicPr>
            <a:picLocks noChangeAspect="1"/>
          </p:cNvPicPr>
          <p:nvPr/>
        </p:nvPicPr>
        <p:blipFill>
          <a:blip r:embed="rId8"/>
          <a:stretch>
            <a:fillRect/>
          </a:stretch>
        </p:blipFill>
        <p:spPr>
          <a:xfrm>
            <a:off x="4857750" y="3978343"/>
            <a:ext cx="100013" cy="128588"/>
          </a:xfrm>
          <a:prstGeom prst="rect">
            <a:avLst/>
          </a:prstGeom>
        </p:spPr>
      </p:pic>
      <p:sp>
        <p:nvSpPr>
          <p:cNvPr id="31" name="Text 21"/>
          <p:cNvSpPr/>
          <p:nvPr/>
        </p:nvSpPr>
        <p:spPr>
          <a:xfrm>
            <a:off x="5029200" y="3978343"/>
            <a:ext cx="3543300" cy="368964"/>
          </a:xfrm>
          <a:prstGeom prst="rect">
            <a:avLst/>
          </a:prstGeom>
          <a:noFill/>
          <a:ln/>
        </p:spPr>
        <p:txBody>
          <a:bodyPr wrap="square" lIns="0" tIns="0" rIns="0" bIns="0" rtlCol="0" anchor="t">
            <a:spAutoFit/>
          </a:bodyPr>
          <a:lstStyle/>
          <a:p>
            <a:pPr algn="l" indent="0" marL="0">
              <a:lnSpc>
                <a:spcPts val="1400"/>
              </a:lnSpc>
              <a:buNone/>
            </a:pPr>
            <a:r>
              <a:rPr lang="en-US" sz="885" b="1" dirty="0">
                <a:solidFill>
                  <a:srgbClr val="FFD700"/>
                </a:solidFill>
              </a:rPr>
              <a:t>캐릭터 미리보기:</a:t>
            </a:r>
            <a:pPr algn="l" indent="0" marL="0">
              <a:lnSpc>
                <a:spcPts val="1400"/>
              </a:lnSpc>
              <a:buNone/>
            </a:pPr>
            <a:r>
              <a:rPr lang="en-US" sz="942" dirty="0">
                <a:solidFill>
                  <a:srgbClr val="FFFFFF"/>
                </a:solidFill>
              </a:rPr>
              <a:t> 장착한 아이템이 적용된 주인공의 픽셀 모델을 </a:t>
            </a:r>
            <a:pPr algn="l" indent="0" marL="0">
              <a:lnSpc>
                <a:spcPts val="1400"/>
              </a:lnSpc>
              <a:buNone/>
            </a:pPr>
            <a:r>
              <a:rPr lang="en-US" sz="942" dirty="0">
                <a:solidFill>
                  <a:srgbClr val="FFFFFF"/>
                </a:solidFill>
              </a:rPr>
              <a:t>실시간으로 확인합니다.</a:t>
            </a:r>
            <a:endParaRPr lang="en-US" sz="885" dirty="0"/>
          </a:p>
        </p:txBody>
      </p:sp>
      <p:pic>
        <p:nvPicPr>
          <p:cNvPr id="32" name="Image 8" descr="preencoded.png">    </p:cNvPr>
          <p:cNvPicPr>
            <a:picLocks noChangeAspect="1"/>
          </p:cNvPicPr>
          <p:nvPr/>
        </p:nvPicPr>
        <p:blipFill>
          <a:blip r:embed="rId9"/>
          <a:stretch>
            <a:fillRect/>
          </a:stretch>
        </p:blipFill>
        <p:spPr>
          <a:xfrm>
            <a:off x="4857750" y="4433032"/>
            <a:ext cx="100013" cy="128588"/>
          </a:xfrm>
          <a:prstGeom prst="rect">
            <a:avLst/>
          </a:prstGeom>
        </p:spPr>
      </p:pic>
      <p:sp>
        <p:nvSpPr>
          <p:cNvPr id="33" name="Text 22"/>
          <p:cNvSpPr/>
          <p:nvPr/>
        </p:nvSpPr>
        <p:spPr>
          <a:xfrm>
            <a:off x="5029200" y="4433032"/>
            <a:ext cx="3543300" cy="368964"/>
          </a:xfrm>
          <a:prstGeom prst="rect">
            <a:avLst/>
          </a:prstGeom>
          <a:noFill/>
          <a:ln/>
        </p:spPr>
        <p:txBody>
          <a:bodyPr wrap="square" lIns="0" tIns="0" rIns="0" bIns="0" rtlCol="0" anchor="t">
            <a:spAutoFit/>
          </a:bodyPr>
          <a:lstStyle/>
          <a:p>
            <a:pPr algn="l" indent="0" marL="0">
              <a:lnSpc>
                <a:spcPts val="1400"/>
              </a:lnSpc>
              <a:buNone/>
            </a:pPr>
            <a:r>
              <a:rPr lang="en-US" sz="885" b="1" dirty="0">
                <a:solidFill>
                  <a:srgbClr val="FFD700"/>
                </a:solidFill>
              </a:rPr>
              <a:t>스탯 정보:</a:t>
            </a:r>
            <a:pPr algn="l" indent="0" marL="0">
              <a:lnSpc>
                <a:spcPts val="1400"/>
              </a:lnSpc>
              <a:buNone/>
            </a:pPr>
            <a:r>
              <a:rPr lang="en-US" sz="942" dirty="0">
                <a:solidFill>
                  <a:srgbClr val="FFFFFF"/>
                </a:solidFill>
              </a:rPr>
              <a:t> 공격력, 방어력, 자아 마모도 저항력 등 핵심 수치를 </a:t>
            </a:r>
            <a:pPr algn="l" indent="0" marL="0">
              <a:lnSpc>
                <a:spcPts val="1400"/>
              </a:lnSpc>
              <a:buNone/>
            </a:pPr>
            <a:r>
              <a:rPr lang="en-US" sz="942" dirty="0">
                <a:solidFill>
                  <a:srgbClr val="FFFFFF"/>
                </a:solidFill>
              </a:rPr>
              <a:t>하단에 배치합니다.</a:t>
            </a:r>
            <a:endParaRPr lang="en-US" sz="885"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822228" cy="544711"/>
          </a:xfrm>
          <a:prstGeom prst="rect">
            <a:avLst/>
          </a:prstGeom>
          <a:solidFill>
            <a:srgbClr val="FFFFFF"/>
          </a:solidFill>
          <a:ln w="27432">
            <a:solidFill>
              <a:srgbClr val="000000"/>
            </a:solidFill>
            <a:prstDash val="solid"/>
          </a:ln>
        </p:spPr>
      </p:sp>
      <p:sp>
        <p:nvSpPr>
          <p:cNvPr id="4" name="Text 1"/>
          <p:cNvSpPr/>
          <p:nvPr/>
        </p:nvSpPr>
        <p:spPr>
          <a:xfrm>
            <a:off x="642938" y="342900"/>
            <a:ext cx="2336453"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시스템: 플레이 흐름도</a:t>
            </a:r>
            <a:endParaRPr lang="en-US" sz="1808" dirty="0"/>
          </a:p>
        </p:txBody>
      </p:sp>
      <p:sp>
        <p:nvSpPr>
          <p:cNvPr id="5" name="Shape 2"/>
          <p:cNvSpPr/>
          <p:nvPr/>
        </p:nvSpPr>
        <p:spPr>
          <a:xfrm>
            <a:off x="285750" y="1344811"/>
            <a:ext cx="2057400" cy="1915920"/>
          </a:xfrm>
          <a:prstGeom prst="rect">
            <a:avLst/>
          </a:prstGeom>
          <a:solidFill>
            <a:srgbClr val="000000"/>
          </a:solidFill>
          <a:ln w="27432">
            <a:solidFill>
              <a:srgbClr val="00CED1"/>
            </a:solidFill>
            <a:prstDash val="solid"/>
          </a:ln>
        </p:spPr>
      </p:sp>
      <p:sp>
        <p:nvSpPr>
          <p:cNvPr id="6" name="Shape 3"/>
          <p:cNvSpPr/>
          <p:nvPr/>
        </p:nvSpPr>
        <p:spPr>
          <a:xfrm>
            <a:off x="978694" y="1516261"/>
            <a:ext cx="614363" cy="614363"/>
          </a:xfrm>
          <a:prstGeom prst="rect">
            <a:avLst/>
          </a:prstGeom>
          <a:solidFill>
            <a:srgbClr val="00CED1">
              <a:alpha val="10000"/>
            </a:srgbClr>
          </a:solidFill>
          <a:ln w="18288">
            <a:solidFill>
              <a:srgbClr val="00CED1"/>
            </a:solidFill>
            <a:prstDash val="solid"/>
          </a:ln>
        </p:spPr>
      </p:sp>
      <p:pic>
        <p:nvPicPr>
          <p:cNvPr id="7" name="Image 1" descr="preencoded.png">    </p:cNvPr>
          <p:cNvPicPr>
            <a:picLocks noChangeAspect="1"/>
          </p:cNvPicPr>
          <p:nvPr/>
        </p:nvPicPr>
        <p:blipFill>
          <a:blip r:embed="rId2"/>
          <a:stretch>
            <a:fillRect/>
          </a:stretch>
        </p:blipFill>
        <p:spPr>
          <a:xfrm>
            <a:off x="1125141" y="1680567"/>
            <a:ext cx="321469" cy="285750"/>
          </a:xfrm>
          <a:prstGeom prst="rect">
            <a:avLst/>
          </a:prstGeom>
        </p:spPr>
      </p:pic>
      <p:sp>
        <p:nvSpPr>
          <p:cNvPr id="8" name="Text 4"/>
          <p:cNvSpPr/>
          <p:nvPr/>
        </p:nvSpPr>
        <p:spPr>
          <a:xfrm>
            <a:off x="428625" y="2216348"/>
            <a:ext cx="1714500"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팔랑 마을</a:t>
            </a:r>
            <a:endParaRPr lang="en-US" sz="1193" dirty="0"/>
          </a:p>
        </p:txBody>
      </p:sp>
      <p:sp>
        <p:nvSpPr>
          <p:cNvPr id="9" name="Text 5"/>
          <p:cNvSpPr/>
          <p:nvPr/>
        </p:nvSpPr>
        <p:spPr>
          <a:xfrm>
            <a:off x="428625" y="2587823"/>
            <a:ext cx="1714500" cy="480027"/>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NPC 상호작용 및 퀘스트 수주. '착한 아이'로서의 기대와 압박을 마주하는 단계.</a:t>
            </a:r>
            <a:endParaRPr lang="en-US" sz="834" dirty="0"/>
          </a:p>
        </p:txBody>
      </p:sp>
      <p:sp>
        <p:nvSpPr>
          <p:cNvPr id="10" name="Shape 6"/>
          <p:cNvSpPr/>
          <p:nvPr/>
        </p:nvSpPr>
        <p:spPr>
          <a:xfrm>
            <a:off x="2419331" y="1344811"/>
            <a:ext cx="2057400" cy="1915920"/>
          </a:xfrm>
          <a:prstGeom prst="rect">
            <a:avLst/>
          </a:prstGeom>
          <a:solidFill>
            <a:srgbClr val="000000"/>
          </a:solidFill>
          <a:ln w="27432">
            <a:solidFill>
              <a:srgbClr val="FFD700"/>
            </a:solidFill>
            <a:prstDash val="solid"/>
          </a:ln>
        </p:spPr>
      </p:sp>
      <p:sp>
        <p:nvSpPr>
          <p:cNvPr id="11" name="Shape 7"/>
          <p:cNvSpPr/>
          <p:nvPr/>
        </p:nvSpPr>
        <p:spPr>
          <a:xfrm>
            <a:off x="3131334" y="1516261"/>
            <a:ext cx="614363" cy="614363"/>
          </a:xfrm>
          <a:prstGeom prst="rect">
            <a:avLst/>
          </a:prstGeom>
          <a:solidFill>
            <a:srgbClr val="FFD700">
              <a:alpha val="10000"/>
            </a:srgbClr>
          </a:solidFill>
          <a:ln w="18288">
            <a:solidFill>
              <a:srgbClr val="FFD700"/>
            </a:solidFill>
            <a:prstDash val="solid"/>
          </a:ln>
        </p:spPr>
      </p:sp>
      <p:sp>
        <p:nvSpPr>
          <p:cNvPr id="12" name="Text 8"/>
          <p:cNvSpPr/>
          <p:nvPr/>
        </p:nvSpPr>
        <p:spPr>
          <a:xfrm>
            <a:off x="2581266" y="2216348"/>
            <a:ext cx="1714500"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도시 외곽</a:t>
            </a:r>
            <a:endParaRPr lang="en-US" sz="1193" dirty="0"/>
          </a:p>
        </p:txBody>
      </p:sp>
      <p:sp>
        <p:nvSpPr>
          <p:cNvPr id="13" name="Text 9"/>
          <p:cNvSpPr/>
          <p:nvPr/>
        </p:nvSpPr>
        <p:spPr>
          <a:xfrm>
            <a:off x="2581266" y="2587823"/>
            <a:ext cx="1714500" cy="480027"/>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필드 탐색, 퍼즐 해결 및 변이체 전투. 자아 마모도가 실시간으로 누적되는 핵심 플레이 구간.</a:t>
            </a:r>
            <a:endParaRPr lang="en-US" sz="834" dirty="0"/>
          </a:p>
        </p:txBody>
      </p:sp>
      <p:sp>
        <p:nvSpPr>
          <p:cNvPr id="14" name="Shape 10"/>
          <p:cNvSpPr/>
          <p:nvPr/>
        </p:nvSpPr>
        <p:spPr>
          <a:xfrm>
            <a:off x="4591031" y="1344811"/>
            <a:ext cx="2057400" cy="1915920"/>
          </a:xfrm>
          <a:prstGeom prst="rect">
            <a:avLst/>
          </a:prstGeom>
          <a:solidFill>
            <a:srgbClr val="000000"/>
          </a:solidFill>
          <a:ln w="27432">
            <a:solidFill>
              <a:srgbClr val="FF69B4"/>
            </a:solidFill>
            <a:prstDash val="solid"/>
          </a:ln>
        </p:spPr>
      </p:sp>
      <p:sp>
        <p:nvSpPr>
          <p:cNvPr id="15" name="Shape 11"/>
          <p:cNvSpPr/>
          <p:nvPr/>
        </p:nvSpPr>
        <p:spPr>
          <a:xfrm>
            <a:off x="5322094" y="1487686"/>
            <a:ext cx="614363" cy="614363"/>
          </a:xfrm>
          <a:prstGeom prst="rect">
            <a:avLst/>
          </a:prstGeom>
          <a:solidFill>
            <a:srgbClr val="FF69B4">
              <a:alpha val="10000"/>
            </a:srgbClr>
          </a:solidFill>
          <a:ln w="18288">
            <a:solidFill>
              <a:srgbClr val="FF69B4"/>
            </a:solidFill>
            <a:prstDash val="solid"/>
          </a:ln>
        </p:spPr>
      </p:sp>
      <p:pic>
        <p:nvPicPr>
          <p:cNvPr id="16" name="Image 2" descr="preencoded.png">    </p:cNvPr>
          <p:cNvPicPr>
            <a:picLocks noChangeAspect="1"/>
          </p:cNvPicPr>
          <p:nvPr/>
        </p:nvPicPr>
        <p:blipFill>
          <a:blip r:embed="rId3"/>
          <a:stretch>
            <a:fillRect/>
          </a:stretch>
        </p:blipFill>
        <p:spPr>
          <a:xfrm>
            <a:off x="5450681" y="1630561"/>
            <a:ext cx="357188" cy="285750"/>
          </a:xfrm>
          <a:prstGeom prst="rect">
            <a:avLst/>
          </a:prstGeom>
        </p:spPr>
      </p:pic>
      <p:sp>
        <p:nvSpPr>
          <p:cNvPr id="17" name="Text 12"/>
          <p:cNvSpPr/>
          <p:nvPr/>
        </p:nvSpPr>
        <p:spPr>
          <a:xfrm>
            <a:off x="4772025" y="2166342"/>
            <a:ext cx="1714500"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은하 병원</a:t>
            </a:r>
            <a:endParaRPr lang="en-US" sz="1193" dirty="0"/>
          </a:p>
        </p:txBody>
      </p:sp>
      <p:sp>
        <p:nvSpPr>
          <p:cNvPr id="18" name="Text 13"/>
          <p:cNvSpPr/>
          <p:nvPr/>
        </p:nvSpPr>
        <p:spPr>
          <a:xfrm>
            <a:off x="4772025" y="2537817"/>
            <a:ext cx="1714500" cy="480027"/>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최종 보스 '강성과'와의 대결. 진실을 마주하고 최후의 선택을 내리는 클라이맥스.</a:t>
            </a:r>
            <a:endParaRPr lang="en-US" sz="834" dirty="0"/>
          </a:p>
        </p:txBody>
      </p:sp>
      <p:sp>
        <p:nvSpPr>
          <p:cNvPr id="19" name="Shape 14"/>
          <p:cNvSpPr/>
          <p:nvPr/>
        </p:nvSpPr>
        <p:spPr>
          <a:xfrm>
            <a:off x="6800850" y="1374809"/>
            <a:ext cx="2057400" cy="1755911"/>
          </a:xfrm>
          <a:prstGeom prst="rect">
            <a:avLst/>
          </a:prstGeom>
          <a:solidFill>
            <a:srgbClr val="000000"/>
          </a:solidFill>
          <a:ln w="27432">
            <a:solidFill>
              <a:srgbClr val="FFD700"/>
            </a:solidFill>
            <a:prstDash val="solid"/>
          </a:ln>
        </p:spPr>
      </p:sp>
      <p:sp>
        <p:nvSpPr>
          <p:cNvPr id="20" name="Shape 15"/>
          <p:cNvSpPr/>
          <p:nvPr/>
        </p:nvSpPr>
        <p:spPr>
          <a:xfrm>
            <a:off x="7550888" y="1546259"/>
            <a:ext cx="614363" cy="614363"/>
          </a:xfrm>
          <a:prstGeom prst="rect">
            <a:avLst/>
          </a:prstGeom>
          <a:solidFill>
            <a:srgbClr val="FFD700">
              <a:alpha val="10000"/>
            </a:srgbClr>
          </a:solidFill>
          <a:ln w="18288">
            <a:solidFill>
              <a:srgbClr val="FFD700"/>
            </a:solidFill>
            <a:prstDash val="solid"/>
          </a:ln>
        </p:spPr>
      </p:sp>
      <p:pic>
        <p:nvPicPr>
          <p:cNvPr id="21" name="Image 3" descr="preencoded.png">    </p:cNvPr>
          <p:cNvPicPr>
            <a:picLocks noChangeAspect="1"/>
          </p:cNvPicPr>
          <p:nvPr/>
        </p:nvPicPr>
        <p:blipFill>
          <a:blip r:embed="rId4"/>
          <a:stretch>
            <a:fillRect/>
          </a:stretch>
        </p:blipFill>
        <p:spPr>
          <a:xfrm>
            <a:off x="7697335" y="1710565"/>
            <a:ext cx="321469" cy="285750"/>
          </a:xfrm>
          <a:prstGeom prst="rect">
            <a:avLst/>
          </a:prstGeom>
        </p:spPr>
      </p:pic>
      <p:sp>
        <p:nvSpPr>
          <p:cNvPr id="22" name="Text 16"/>
          <p:cNvSpPr/>
          <p:nvPr/>
        </p:nvSpPr>
        <p:spPr>
          <a:xfrm>
            <a:off x="7000819" y="2246347"/>
            <a:ext cx="1714500" cy="300038"/>
          </a:xfrm>
          <a:prstGeom prst="rect">
            <a:avLst/>
          </a:prstGeom>
          <a:noFill/>
          <a:ln/>
        </p:spPr>
        <p:txBody>
          <a:bodyPr wrap="none" lIns="0" tIns="0" rIns="0" bIns="42545" rtlCol="0" anchor="t">
            <a:spAutoFit/>
          </a:bodyPr>
          <a:lstStyle/>
          <a:p>
            <a:pPr algn="ctr" indent="0" marL="0">
              <a:lnSpc>
                <a:spcPts val="1600"/>
              </a:lnSpc>
              <a:buNone/>
            </a:pPr>
            <a:r>
              <a:rPr lang="en-US" sz="1193" b="1" dirty="0">
                <a:solidFill>
                  <a:srgbClr val="FFD700"/>
                </a:solidFill>
              </a:rPr>
              <a:t>엔딩 분기</a:t>
            </a:r>
            <a:endParaRPr lang="en-US" sz="1193" dirty="0"/>
          </a:p>
        </p:txBody>
      </p:sp>
      <p:sp>
        <p:nvSpPr>
          <p:cNvPr id="23" name="Text 17"/>
          <p:cNvSpPr/>
          <p:nvPr/>
        </p:nvSpPr>
        <p:spPr>
          <a:xfrm>
            <a:off x="7000819" y="2617822"/>
            <a:ext cx="1714500" cy="320018"/>
          </a:xfrm>
          <a:prstGeom prst="rect">
            <a:avLst/>
          </a:prstGeom>
          <a:noFill/>
          <a:ln/>
        </p:spPr>
        <p:txBody>
          <a:bodyPr wrap="square" lIns="0" tIns="0" rIns="0" bIns="0" rtlCol="0" anchor="t">
            <a:spAutoFit/>
          </a:bodyPr>
          <a:lstStyle/>
          <a:p>
            <a:pPr algn="ctr" indent="0" marL="0">
              <a:lnSpc>
                <a:spcPts val="1300"/>
              </a:lnSpc>
              <a:buNone/>
            </a:pPr>
            <a:r>
              <a:rPr lang="en-US" sz="834" dirty="0">
                <a:solidFill>
                  <a:srgbClr val="E0E0E0"/>
                </a:solidFill>
              </a:rPr>
              <a:t>누적된 자아 마모도와 선택에 따라 결정되는 3가지 멀티 엔딩.</a:t>
            </a:r>
            <a:endParaRPr lang="en-US" sz="834" dirty="0"/>
          </a:p>
        </p:txBody>
      </p:sp>
      <p:sp>
        <p:nvSpPr>
          <p:cNvPr id="24" name="Shape 18"/>
          <p:cNvSpPr/>
          <p:nvPr/>
        </p:nvSpPr>
        <p:spPr>
          <a:xfrm>
            <a:off x="2400300" y="3489331"/>
            <a:ext cx="28575" cy="71438"/>
          </a:xfrm>
          <a:prstGeom prst="rect">
            <a:avLst/>
          </a:prstGeom>
          <a:solidFill>
            <a:srgbClr val="00CED1"/>
          </a:solidFill>
          <a:ln/>
        </p:spPr>
      </p:sp>
      <p:pic>
        <p:nvPicPr>
          <p:cNvPr id="25" name="Image 4" descr="preencoded.png">    </p:cNvPr>
          <p:cNvPicPr>
            <a:picLocks noChangeAspect="1"/>
          </p:cNvPicPr>
          <p:nvPr/>
        </p:nvPicPr>
        <p:blipFill>
          <a:blip r:embed="rId5"/>
          <a:stretch>
            <a:fillRect/>
          </a:stretch>
        </p:blipFill>
        <p:spPr>
          <a:xfrm>
            <a:off x="3354939" y="3639350"/>
            <a:ext cx="128588" cy="128588"/>
          </a:xfrm>
          <a:prstGeom prst="rect">
            <a:avLst/>
          </a:prstGeom>
        </p:spPr>
      </p:pic>
      <p:sp>
        <p:nvSpPr>
          <p:cNvPr id="26" name="Text 19"/>
          <p:cNvSpPr/>
          <p:nvPr/>
        </p:nvSpPr>
        <p:spPr>
          <a:xfrm>
            <a:off x="3554964" y="3608989"/>
            <a:ext cx="2234096"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00CED1"/>
                </a:solidFill>
              </a:rPr>
              <a:t>핵심 플레이 루프: 탐색 - 전투 - 선택 - 마모</a:t>
            </a:r>
            <a:endParaRPr lang="en-US" sz="942" dirty="0"/>
          </a:p>
        </p:txBody>
      </p:sp>
      <p:sp>
        <p:nvSpPr>
          <p:cNvPr id="27" name="Shape 20"/>
          <p:cNvSpPr/>
          <p:nvPr/>
        </p:nvSpPr>
        <p:spPr>
          <a:xfrm>
            <a:off x="6715125" y="3489331"/>
            <a:ext cx="28575" cy="71438"/>
          </a:xfrm>
          <a:prstGeom prst="rect">
            <a:avLst/>
          </a:prstGeom>
          <a:solidFill>
            <a:srgbClr val="00CED1"/>
          </a:solidFill>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시스템: 게임 구성</a:t>
            </a:r>
            <a:endParaRPr lang="en-US" sz="1808" dirty="0"/>
          </a:p>
        </p:txBody>
      </p:sp>
      <p:sp>
        <p:nvSpPr>
          <p:cNvPr id="5" name="Shape 2"/>
          <p:cNvSpPr/>
          <p:nvPr/>
        </p:nvSpPr>
        <p:spPr>
          <a:xfrm>
            <a:off x="1185863" y="987623"/>
            <a:ext cx="6772275" cy="1114425"/>
          </a:xfrm>
          <a:prstGeom prst="rect">
            <a:avLst/>
          </a:prstGeom>
          <a:solidFill>
            <a:srgbClr val="FFFFFF">
              <a:alpha val="5000"/>
            </a:srgbClr>
          </a:solidFill>
          <a:ln w="27432">
            <a:solidFill>
              <a:srgbClr val="00CED1"/>
            </a:solidFill>
            <a:prstDash val="solid"/>
          </a:ln>
        </p:spPr>
      </p:sp>
      <p:sp>
        <p:nvSpPr>
          <p:cNvPr id="6" name="Shape 3"/>
          <p:cNvSpPr/>
          <p:nvPr/>
        </p:nvSpPr>
        <p:spPr>
          <a:xfrm>
            <a:off x="1357313" y="1130498"/>
            <a:ext cx="771525" cy="771525"/>
          </a:xfrm>
          <a:prstGeom prst="rect">
            <a:avLst/>
          </a:prstGeom>
          <a:solidFill>
            <a:srgbClr val="000000"/>
          </a:solidFill>
          <a:ln w="27432">
            <a:solidFill>
              <a:srgbClr val="FFFFFF"/>
            </a:solidFill>
            <a:prstDash val="solid"/>
          </a:ln>
        </p:spPr>
      </p:sp>
      <p:pic>
        <p:nvPicPr>
          <p:cNvPr id="7" name="Image 1" descr="preencoded.png">    </p:cNvPr>
          <p:cNvPicPr>
            <a:picLocks noChangeAspect="1"/>
          </p:cNvPicPr>
          <p:nvPr/>
        </p:nvPicPr>
        <p:blipFill>
          <a:blip r:embed="rId2"/>
          <a:stretch>
            <a:fillRect/>
          </a:stretch>
        </p:blipFill>
        <p:spPr>
          <a:xfrm>
            <a:off x="1513582" y="1325166"/>
            <a:ext cx="401836" cy="357188"/>
          </a:xfrm>
          <a:prstGeom prst="rect">
            <a:avLst/>
          </a:prstGeom>
        </p:spPr>
      </p:pic>
      <p:sp>
        <p:nvSpPr>
          <p:cNvPr id="8" name="Text 4"/>
          <p:cNvSpPr/>
          <p:nvPr/>
        </p:nvSpPr>
        <p:spPr>
          <a:xfrm>
            <a:off x="2286000" y="1130498"/>
            <a:ext cx="1762246" cy="289322"/>
          </a:xfrm>
          <a:prstGeom prst="rect">
            <a:avLst/>
          </a:prstGeom>
          <a:noFill/>
          <a:ln/>
        </p:spPr>
        <p:txBody>
          <a:bodyPr wrap="none" lIns="0" tIns="0" rIns="0" bIns="0" rtlCol="0" anchor="t">
            <a:spAutoFit/>
          </a:bodyPr>
          <a:lstStyle/>
          <a:p>
            <a:pPr algn="l" indent="0" marL="0">
              <a:lnSpc>
                <a:spcPts val="1900"/>
              </a:lnSpc>
              <a:buNone/>
            </a:pPr>
            <a:r>
              <a:rPr lang="en-US" sz="1486" dirty="0">
                <a:solidFill>
                  <a:srgbClr val="FFD700"/>
                </a:solidFill>
              </a:rPr>
              <a:t>STAGE 01: 팔랑 마을</a:t>
            </a:r>
            <a:endParaRPr lang="en-US" sz="1486" dirty="0"/>
          </a:p>
        </p:txBody>
      </p:sp>
      <p:sp>
        <p:nvSpPr>
          <p:cNvPr id="9" name="Shape 5"/>
          <p:cNvSpPr/>
          <p:nvPr/>
        </p:nvSpPr>
        <p:spPr>
          <a:xfrm>
            <a:off x="7030008" y="1164431"/>
            <a:ext cx="756679" cy="221456"/>
          </a:xfrm>
          <a:prstGeom prst="rect">
            <a:avLst/>
          </a:prstGeom>
          <a:solidFill>
            <a:srgbClr val="FFD700"/>
          </a:solidFill>
          <a:ln w="18288">
            <a:solidFill>
              <a:srgbClr val="000000"/>
            </a:solidFill>
            <a:prstDash val="solid"/>
          </a:ln>
        </p:spPr>
      </p:sp>
      <p:sp>
        <p:nvSpPr>
          <p:cNvPr id="10" name="Text 6"/>
          <p:cNvSpPr/>
          <p:nvPr/>
        </p:nvSpPr>
        <p:spPr>
          <a:xfrm>
            <a:off x="7030008" y="1164431"/>
            <a:ext cx="756679" cy="221456"/>
          </a:xfrm>
          <a:prstGeom prst="rect">
            <a:avLst/>
          </a:prstGeom>
          <a:noFill/>
          <a:ln/>
        </p:spPr>
        <p:txBody>
          <a:bodyPr wrap="square" lIns="85090" tIns="17018" rIns="85090" bIns="17018" rtlCol="0" anchor="t">
            <a:spAutoFit/>
          </a:bodyPr>
          <a:lstStyle/>
          <a:p>
            <a:pPr algn="l" indent="0" marL="0">
              <a:lnSpc>
                <a:spcPts val="1100"/>
              </a:lnSpc>
              <a:buNone/>
            </a:pPr>
            <a:r>
              <a:rPr lang="en-US" sz="834" dirty="0">
                <a:solidFill>
                  <a:srgbClr val="1A0D2E"/>
                </a:solidFill>
              </a:rPr>
              <a:t>도입 및 탐색</a:t>
            </a:r>
            <a:endParaRPr lang="en-US" sz="834" dirty="0"/>
          </a:p>
        </p:txBody>
      </p:sp>
      <p:sp>
        <p:nvSpPr>
          <p:cNvPr id="11" name="Text 7"/>
          <p:cNvSpPr/>
          <p:nvPr/>
        </p:nvSpPr>
        <p:spPr>
          <a:xfrm>
            <a:off x="2286000" y="1491258"/>
            <a:ext cx="5500688" cy="385763"/>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E0E0E0"/>
                </a:solidFill>
              </a:rPr>
              <a:t>생존자들이 모여 사는 작은 공동체. 평화로워 보이지만 타인의 기대와 부탁이 끊이지 않는 공간입니다. 주인공은 마을 사람들의 요구를 들어주며 '착한 아이'로서의 역할을 수행하기 시작합니다.</a:t>
            </a:r>
            <a:endParaRPr lang="en-US" sz="942" dirty="0"/>
          </a:p>
        </p:txBody>
      </p:sp>
      <p:sp>
        <p:nvSpPr>
          <p:cNvPr id="12" name="Shape 8"/>
          <p:cNvSpPr/>
          <p:nvPr/>
        </p:nvSpPr>
        <p:spPr>
          <a:xfrm>
            <a:off x="1185863" y="2234208"/>
            <a:ext cx="6772275" cy="1114425"/>
          </a:xfrm>
          <a:prstGeom prst="rect">
            <a:avLst/>
          </a:prstGeom>
          <a:solidFill>
            <a:srgbClr val="FFD700">
              <a:alpha val="5000"/>
            </a:srgbClr>
          </a:solidFill>
          <a:ln w="27432">
            <a:solidFill>
              <a:srgbClr val="FFD700"/>
            </a:solidFill>
            <a:prstDash val="solid"/>
          </a:ln>
        </p:spPr>
      </p:sp>
      <p:sp>
        <p:nvSpPr>
          <p:cNvPr id="13" name="Shape 9"/>
          <p:cNvSpPr/>
          <p:nvPr/>
        </p:nvSpPr>
        <p:spPr>
          <a:xfrm>
            <a:off x="1357313" y="2377083"/>
            <a:ext cx="771525" cy="771525"/>
          </a:xfrm>
          <a:prstGeom prst="rect">
            <a:avLst/>
          </a:prstGeom>
          <a:solidFill>
            <a:srgbClr val="000000"/>
          </a:solidFill>
          <a:ln w="27432">
            <a:solidFill>
              <a:srgbClr val="FFD700"/>
            </a:solidFill>
            <a:prstDash val="solid"/>
          </a:ln>
        </p:spPr>
      </p:sp>
      <p:pic>
        <p:nvPicPr>
          <p:cNvPr id="14" name="Image 2" descr="preencoded.png">    </p:cNvPr>
          <p:cNvPicPr>
            <a:picLocks noChangeAspect="1"/>
          </p:cNvPicPr>
          <p:nvPr/>
        </p:nvPicPr>
        <p:blipFill>
          <a:blip r:embed="rId3"/>
          <a:stretch>
            <a:fillRect/>
          </a:stretch>
        </p:blipFill>
        <p:spPr>
          <a:xfrm>
            <a:off x="1491258" y="2571750"/>
            <a:ext cx="446484" cy="357188"/>
          </a:xfrm>
          <a:prstGeom prst="rect">
            <a:avLst/>
          </a:prstGeom>
        </p:spPr>
      </p:pic>
      <p:sp>
        <p:nvSpPr>
          <p:cNvPr id="15" name="Text 10"/>
          <p:cNvSpPr/>
          <p:nvPr/>
        </p:nvSpPr>
        <p:spPr>
          <a:xfrm>
            <a:off x="2286000" y="2377083"/>
            <a:ext cx="1762246" cy="289322"/>
          </a:xfrm>
          <a:prstGeom prst="rect">
            <a:avLst/>
          </a:prstGeom>
          <a:noFill/>
          <a:ln/>
        </p:spPr>
        <p:txBody>
          <a:bodyPr wrap="none" lIns="0" tIns="0" rIns="0" bIns="0" rtlCol="0" anchor="t">
            <a:spAutoFit/>
          </a:bodyPr>
          <a:lstStyle/>
          <a:p>
            <a:pPr algn="l" indent="0" marL="0">
              <a:lnSpc>
                <a:spcPts val="1900"/>
              </a:lnSpc>
              <a:buNone/>
            </a:pPr>
            <a:r>
              <a:rPr lang="en-US" sz="1486" dirty="0">
                <a:solidFill>
                  <a:srgbClr val="FFD700"/>
                </a:solidFill>
              </a:rPr>
              <a:t>STAGE 02: 은하 병원</a:t>
            </a:r>
            <a:endParaRPr lang="en-US" sz="1486" dirty="0"/>
          </a:p>
        </p:txBody>
      </p:sp>
      <p:sp>
        <p:nvSpPr>
          <p:cNvPr id="16" name="Shape 11"/>
          <p:cNvSpPr/>
          <p:nvPr/>
        </p:nvSpPr>
        <p:spPr>
          <a:xfrm>
            <a:off x="7059727" y="2411016"/>
            <a:ext cx="726960" cy="221456"/>
          </a:xfrm>
          <a:prstGeom prst="rect">
            <a:avLst/>
          </a:prstGeom>
          <a:solidFill>
            <a:srgbClr val="FFD700"/>
          </a:solidFill>
          <a:ln w="18288">
            <a:solidFill>
              <a:srgbClr val="000000"/>
            </a:solidFill>
            <a:prstDash val="solid"/>
          </a:ln>
        </p:spPr>
      </p:sp>
      <p:sp>
        <p:nvSpPr>
          <p:cNvPr id="17" name="Text 12"/>
          <p:cNvSpPr/>
          <p:nvPr/>
        </p:nvSpPr>
        <p:spPr>
          <a:xfrm>
            <a:off x="7059727" y="2411016"/>
            <a:ext cx="726960" cy="221456"/>
          </a:xfrm>
          <a:prstGeom prst="rect">
            <a:avLst/>
          </a:prstGeom>
          <a:noFill/>
          <a:ln/>
        </p:spPr>
        <p:txBody>
          <a:bodyPr wrap="square" lIns="85090" tIns="17018" rIns="85090" bIns="17018" rtlCol="0" anchor="t">
            <a:spAutoFit/>
          </a:bodyPr>
          <a:lstStyle/>
          <a:p>
            <a:pPr algn="l" indent="0" marL="0">
              <a:lnSpc>
                <a:spcPts val="1100"/>
              </a:lnSpc>
              <a:buNone/>
            </a:pPr>
            <a:r>
              <a:rPr lang="en-US" sz="834" dirty="0">
                <a:solidFill>
                  <a:srgbClr val="1A0D2E"/>
                </a:solidFill>
              </a:rPr>
              <a:t>진실과 갈등</a:t>
            </a:r>
            <a:endParaRPr lang="en-US" sz="834" dirty="0"/>
          </a:p>
        </p:txBody>
      </p:sp>
      <p:sp>
        <p:nvSpPr>
          <p:cNvPr id="18" name="Text 13"/>
          <p:cNvSpPr/>
          <p:nvPr/>
        </p:nvSpPr>
        <p:spPr>
          <a:xfrm>
            <a:off x="2286000" y="2737842"/>
            <a:ext cx="5500688" cy="385763"/>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E0E0E0"/>
                </a:solidFill>
              </a:rPr>
              <a:t>바이러스 사태의 발단이 된 거대 연구 시설. 강성과와의 조우를 통해 세계 붕괴의 진실을 마주합니다. 반복되는 전투와 선택 속에서 주인공의 자아 마모도가 급격히 상승하는 핵심 구간입니다.</a:t>
            </a:r>
            <a:endParaRPr lang="en-US" sz="942" dirty="0"/>
          </a:p>
        </p:txBody>
      </p:sp>
      <p:sp>
        <p:nvSpPr>
          <p:cNvPr id="19" name="Shape 14"/>
          <p:cNvSpPr/>
          <p:nvPr/>
        </p:nvSpPr>
        <p:spPr>
          <a:xfrm>
            <a:off x="1185863" y="3480792"/>
            <a:ext cx="6772275" cy="1114425"/>
          </a:xfrm>
          <a:prstGeom prst="rect">
            <a:avLst/>
          </a:prstGeom>
          <a:solidFill>
            <a:srgbClr val="FFFFFF">
              <a:alpha val="5000"/>
            </a:srgbClr>
          </a:solidFill>
          <a:ln w="27432">
            <a:solidFill>
              <a:srgbClr val="00CED1"/>
            </a:solidFill>
            <a:prstDash val="solid"/>
          </a:ln>
        </p:spPr>
      </p:sp>
      <p:sp>
        <p:nvSpPr>
          <p:cNvPr id="20" name="Shape 15"/>
          <p:cNvSpPr/>
          <p:nvPr/>
        </p:nvSpPr>
        <p:spPr>
          <a:xfrm>
            <a:off x="1357313" y="3623667"/>
            <a:ext cx="771525" cy="771525"/>
          </a:xfrm>
          <a:prstGeom prst="rect">
            <a:avLst/>
          </a:prstGeom>
          <a:solidFill>
            <a:srgbClr val="000000"/>
          </a:solidFill>
          <a:ln w="27432">
            <a:solidFill>
              <a:srgbClr val="FFFFFF"/>
            </a:solidFill>
            <a:prstDash val="solid"/>
          </a:ln>
        </p:spPr>
      </p:sp>
      <p:pic>
        <p:nvPicPr>
          <p:cNvPr id="21" name="Image 3" descr="preencoded.png">    </p:cNvPr>
          <p:cNvPicPr>
            <a:picLocks noChangeAspect="1"/>
          </p:cNvPicPr>
          <p:nvPr/>
        </p:nvPicPr>
        <p:blipFill>
          <a:blip r:embed="rId4"/>
          <a:stretch>
            <a:fillRect/>
          </a:stretch>
        </p:blipFill>
        <p:spPr>
          <a:xfrm>
            <a:off x="1513582" y="3818334"/>
            <a:ext cx="401836" cy="357188"/>
          </a:xfrm>
          <a:prstGeom prst="rect">
            <a:avLst/>
          </a:prstGeom>
        </p:spPr>
      </p:pic>
      <p:sp>
        <p:nvSpPr>
          <p:cNvPr id="22" name="Text 16"/>
          <p:cNvSpPr/>
          <p:nvPr/>
        </p:nvSpPr>
        <p:spPr>
          <a:xfrm>
            <a:off x="2286000" y="3623667"/>
            <a:ext cx="1526195" cy="289322"/>
          </a:xfrm>
          <a:prstGeom prst="rect">
            <a:avLst/>
          </a:prstGeom>
          <a:noFill/>
          <a:ln/>
        </p:spPr>
        <p:txBody>
          <a:bodyPr wrap="none" lIns="0" tIns="0" rIns="0" bIns="0" rtlCol="0" anchor="t">
            <a:spAutoFit/>
          </a:bodyPr>
          <a:lstStyle/>
          <a:p>
            <a:pPr algn="l" indent="0" marL="0">
              <a:lnSpc>
                <a:spcPts val="1900"/>
              </a:lnSpc>
              <a:buNone/>
            </a:pPr>
            <a:r>
              <a:rPr lang="en-US" sz="1486" dirty="0">
                <a:solidFill>
                  <a:srgbClr val="FFD700"/>
                </a:solidFill>
              </a:rPr>
              <a:t>STAGE 03: 최종장</a:t>
            </a:r>
            <a:endParaRPr lang="en-US" sz="1486" dirty="0"/>
          </a:p>
        </p:txBody>
      </p:sp>
      <p:sp>
        <p:nvSpPr>
          <p:cNvPr id="23" name="Shape 17"/>
          <p:cNvSpPr/>
          <p:nvPr/>
        </p:nvSpPr>
        <p:spPr>
          <a:xfrm>
            <a:off x="7030008" y="3657600"/>
            <a:ext cx="756679" cy="221456"/>
          </a:xfrm>
          <a:prstGeom prst="rect">
            <a:avLst/>
          </a:prstGeom>
          <a:solidFill>
            <a:srgbClr val="FFD700"/>
          </a:solidFill>
          <a:ln w="18288">
            <a:solidFill>
              <a:srgbClr val="000000"/>
            </a:solidFill>
            <a:prstDash val="solid"/>
          </a:ln>
        </p:spPr>
      </p:sp>
      <p:sp>
        <p:nvSpPr>
          <p:cNvPr id="24" name="Text 18"/>
          <p:cNvSpPr/>
          <p:nvPr/>
        </p:nvSpPr>
        <p:spPr>
          <a:xfrm>
            <a:off x="7030008" y="3657600"/>
            <a:ext cx="756679" cy="221456"/>
          </a:xfrm>
          <a:prstGeom prst="rect">
            <a:avLst/>
          </a:prstGeom>
          <a:noFill/>
          <a:ln/>
        </p:spPr>
        <p:txBody>
          <a:bodyPr wrap="square" lIns="85090" tIns="17018" rIns="85090" bIns="17018" rtlCol="0" anchor="t">
            <a:spAutoFit/>
          </a:bodyPr>
          <a:lstStyle/>
          <a:p>
            <a:pPr algn="l" indent="0" marL="0">
              <a:lnSpc>
                <a:spcPts val="1100"/>
              </a:lnSpc>
              <a:buNone/>
            </a:pPr>
            <a:r>
              <a:rPr lang="en-US" sz="834" dirty="0">
                <a:solidFill>
                  <a:srgbClr val="1A0D2E"/>
                </a:solidFill>
              </a:rPr>
              <a:t>결정 및 엔딩</a:t>
            </a:r>
            <a:endParaRPr lang="en-US" sz="834" dirty="0"/>
          </a:p>
        </p:txBody>
      </p:sp>
      <p:sp>
        <p:nvSpPr>
          <p:cNvPr id="25" name="Text 19"/>
          <p:cNvSpPr/>
          <p:nvPr/>
        </p:nvSpPr>
        <p:spPr>
          <a:xfrm>
            <a:off x="2286000" y="3984427"/>
            <a:ext cx="5500688" cy="385763"/>
          </a:xfrm>
          <a:prstGeom prst="rect">
            <a:avLst/>
          </a:prstGeom>
          <a:noFill/>
          <a:ln/>
        </p:spPr>
        <p:txBody>
          <a:bodyPr wrap="square" lIns="0" tIns="0" rIns="0" bIns="0" rtlCol="0" anchor="t">
            <a:spAutoFit/>
          </a:bodyPr>
          <a:lstStyle/>
          <a:p>
            <a:pPr algn="l" indent="0" marL="0">
              <a:lnSpc>
                <a:spcPts val="1500"/>
              </a:lnSpc>
              <a:buNone/>
            </a:pPr>
            <a:r>
              <a:rPr lang="en-US" sz="942" dirty="0">
                <a:solidFill>
                  <a:srgbClr val="E0E0E0"/>
                </a:solidFill>
              </a:rPr>
              <a:t>누적된 선택과 자아 마모도 수치가 결과로 나타나는 공간. 강성과와의 최종 결전을 통해 주인공은 자신과 세계의 운명을 결정짓는 마지막 판정을 내리게 됩니다.</a:t>
            </a:r>
            <a:endParaRPr lang="en-US" sz="942"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설계: 자아 마모도</a:t>
            </a:r>
            <a:endParaRPr lang="en-US" sz="1808" dirty="0"/>
          </a:p>
        </p:txBody>
      </p:sp>
      <p:sp>
        <p:nvSpPr>
          <p:cNvPr id="5" name="Shape 2"/>
          <p:cNvSpPr/>
          <p:nvPr/>
        </p:nvSpPr>
        <p:spPr>
          <a:xfrm>
            <a:off x="828675" y="916186"/>
            <a:ext cx="7486650" cy="1157288"/>
          </a:xfrm>
          <a:prstGeom prst="rect">
            <a:avLst/>
          </a:prstGeom>
          <a:solidFill>
            <a:srgbClr val="00CED1">
              <a:alpha val="10000"/>
            </a:srgbClr>
          </a:solidFill>
          <a:ln w="27432">
            <a:solidFill>
              <a:srgbClr val="00CED1"/>
            </a:solidFill>
            <a:prstDash val="solid"/>
          </a:ln>
        </p:spPr>
      </p:sp>
      <p:sp>
        <p:nvSpPr>
          <p:cNvPr id="6" name="Text 3"/>
          <p:cNvSpPr/>
          <p:nvPr/>
        </p:nvSpPr>
        <p:spPr>
          <a:xfrm>
            <a:off x="1000125" y="1059061"/>
            <a:ext cx="7143750" cy="289322"/>
          </a:xfrm>
          <a:prstGeom prst="rect">
            <a:avLst/>
          </a:prstGeom>
          <a:noFill/>
          <a:ln/>
        </p:spPr>
        <p:txBody>
          <a:bodyPr wrap="none" lIns="0" tIns="0" rIns="0" bIns="0" rtlCol="0" anchor="t">
            <a:spAutoFit/>
          </a:bodyPr>
          <a:lstStyle/>
          <a:p>
            <a:pPr algn="ctr" indent="0" marL="0">
              <a:lnSpc>
                <a:spcPts val="1900"/>
              </a:lnSpc>
              <a:buNone/>
            </a:pPr>
            <a:r>
              <a:rPr lang="en-US" sz="1397" b="1" dirty="0">
                <a:solidFill>
                  <a:srgbClr val="00CED1"/>
                </a:solidFill>
              </a:rPr>
              <a:t>자아 마모도 (Self-Wear System)</a:t>
            </a:r>
            <a:endParaRPr lang="en-US" sz="1397" dirty="0"/>
          </a:p>
        </p:txBody>
      </p:sp>
      <p:sp>
        <p:nvSpPr>
          <p:cNvPr id="7" name="Text 4"/>
          <p:cNvSpPr/>
          <p:nvPr/>
        </p:nvSpPr>
        <p:spPr>
          <a:xfrm>
            <a:off x="1000125" y="1419820"/>
            <a:ext cx="7143750" cy="453628"/>
          </a:xfrm>
          <a:prstGeom prst="rect">
            <a:avLst/>
          </a:prstGeom>
          <a:noFill/>
          <a:ln/>
        </p:spPr>
        <p:txBody>
          <a:bodyPr wrap="square" lIns="0" tIns="0" rIns="0" bIns="0" rtlCol="0" anchor="t">
            <a:spAutoFit/>
          </a:bodyPr>
          <a:lstStyle/>
          <a:p>
            <a:pPr algn="ctr" indent="0" marL="0">
              <a:lnSpc>
                <a:spcPts val="1500"/>
              </a:lnSpc>
              <a:buNone/>
            </a:pPr>
            <a:r>
              <a:rPr lang="en-US" sz="1159" dirty="0">
                <a:solidFill>
                  <a:srgbClr val="FFFFFF"/>
                </a:solidFill>
              </a:rPr>
              <a:t>타인의 기대에 부응하고 '착한 아이'로서 행동할수록 소모되는 주인공의 심리적 에너지를 수치화한 핵심 시스템입니다.</a:t>
            </a:r>
            <a:endParaRPr lang="en-US" sz="1159" dirty="0"/>
          </a:p>
        </p:txBody>
      </p:sp>
      <p:sp>
        <p:nvSpPr>
          <p:cNvPr id="8" name="Shape 5"/>
          <p:cNvSpPr/>
          <p:nvPr/>
        </p:nvSpPr>
        <p:spPr>
          <a:xfrm>
            <a:off x="957263" y="2302073"/>
            <a:ext cx="7229475" cy="514350"/>
          </a:xfrm>
          <a:prstGeom prst="rect">
            <a:avLst/>
          </a:prstGeom>
          <a:solidFill>
            <a:srgbClr val="000000"/>
          </a:solidFill>
          <a:ln w="45720">
            <a:solidFill>
              <a:srgbClr val="FFFFFF"/>
            </a:solidFill>
            <a:prstDash val="solid"/>
          </a:ln>
        </p:spPr>
      </p:sp>
      <p:sp>
        <p:nvSpPr>
          <p:cNvPr id="9" name="Shape 6"/>
          <p:cNvSpPr/>
          <p:nvPr/>
        </p:nvSpPr>
        <p:spPr>
          <a:xfrm>
            <a:off x="1000125" y="2302073"/>
            <a:ext cx="4643438" cy="428625"/>
          </a:xfrm>
          <a:prstGeom prst="rect">
            <a:avLst/>
          </a:prstGeom>
          <a:solidFill>
            <a:srgbClr val="00CED1"/>
          </a:solidFill>
          <a:ln/>
        </p:spPr>
      </p:sp>
      <p:sp>
        <p:nvSpPr>
          <p:cNvPr id="10" name="Text 7"/>
          <p:cNvSpPr/>
          <p:nvPr/>
        </p:nvSpPr>
        <p:spPr>
          <a:xfrm>
            <a:off x="5286375" y="2016323"/>
            <a:ext cx="714375" cy="364331"/>
          </a:xfrm>
          <a:prstGeom prst="rect">
            <a:avLst/>
          </a:prstGeom>
          <a:noFill/>
          <a:ln/>
        </p:spPr>
        <p:txBody>
          <a:bodyPr wrap="square" lIns="0" tIns="0" rIns="0" bIns="0" rtlCol="0" anchor="t">
            <a:spAutoFit/>
          </a:bodyPr>
          <a:lstStyle/>
          <a:p>
            <a:pPr algn="ctr" indent="0" marL="0">
              <a:lnSpc>
                <a:spcPts val="1200"/>
              </a:lnSpc>
              <a:buNone/>
            </a:pPr>
            <a:r>
              <a:rPr lang="en-US" sz="942" dirty="0">
                <a:solidFill>
                  <a:srgbClr val="FFD700"/>
                </a:solidFill>
              </a:rPr>
              <a:t>현재 마모도: 65%</a:t>
            </a:r>
            <a:endParaRPr lang="en-US" sz="942" dirty="0"/>
          </a:p>
        </p:txBody>
      </p:sp>
      <p:sp>
        <p:nvSpPr>
          <p:cNvPr id="11" name="Text 8"/>
          <p:cNvSpPr/>
          <p:nvPr/>
        </p:nvSpPr>
        <p:spPr>
          <a:xfrm>
            <a:off x="1000125" y="2816423"/>
            <a:ext cx="468976"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888888"/>
                </a:solidFill>
              </a:rPr>
              <a:t>0% (안정)</a:t>
            </a:r>
            <a:endParaRPr lang="en-US" sz="834" dirty="0"/>
          </a:p>
        </p:txBody>
      </p:sp>
      <p:sp>
        <p:nvSpPr>
          <p:cNvPr id="12" name="Text 9"/>
          <p:cNvSpPr/>
          <p:nvPr/>
        </p:nvSpPr>
        <p:spPr>
          <a:xfrm>
            <a:off x="3143250" y="2816423"/>
            <a:ext cx="534358"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888888"/>
                </a:solidFill>
              </a:rPr>
              <a:t>30% (불안)</a:t>
            </a:r>
            <a:endParaRPr lang="en-US" sz="834" dirty="0"/>
          </a:p>
        </p:txBody>
      </p:sp>
      <p:sp>
        <p:nvSpPr>
          <p:cNvPr id="13" name="Text 10"/>
          <p:cNvSpPr/>
          <p:nvPr/>
        </p:nvSpPr>
        <p:spPr>
          <a:xfrm>
            <a:off x="6000750" y="2816423"/>
            <a:ext cx="534358"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888888"/>
                </a:solidFill>
              </a:rPr>
              <a:t>70% (위험)</a:t>
            </a:r>
            <a:endParaRPr lang="en-US" sz="834" dirty="0"/>
          </a:p>
        </p:txBody>
      </p:sp>
      <p:sp>
        <p:nvSpPr>
          <p:cNvPr id="14" name="Text 11"/>
          <p:cNvSpPr/>
          <p:nvPr/>
        </p:nvSpPr>
        <p:spPr>
          <a:xfrm>
            <a:off x="7544135" y="2816423"/>
            <a:ext cx="599740" cy="164306"/>
          </a:xfrm>
          <a:prstGeom prst="rect">
            <a:avLst/>
          </a:prstGeom>
          <a:noFill/>
          <a:ln/>
        </p:spPr>
        <p:txBody>
          <a:bodyPr wrap="none" lIns="0" tIns="0" rIns="0" bIns="0" rtlCol="0" anchor="t">
            <a:spAutoFit/>
          </a:bodyPr>
          <a:lstStyle/>
          <a:p>
            <a:pPr algn="l" indent="0" marL="0">
              <a:lnSpc>
                <a:spcPts val="1100"/>
              </a:lnSpc>
              <a:buNone/>
            </a:pPr>
            <a:r>
              <a:rPr lang="en-US" sz="834" dirty="0">
                <a:solidFill>
                  <a:srgbClr val="888888"/>
                </a:solidFill>
              </a:rPr>
              <a:t>100% (붕괴)</a:t>
            </a:r>
            <a:endParaRPr lang="en-US" sz="834" dirty="0"/>
          </a:p>
        </p:txBody>
      </p:sp>
      <p:sp>
        <p:nvSpPr>
          <p:cNvPr id="15" name="Shape 12"/>
          <p:cNvSpPr/>
          <p:nvPr/>
        </p:nvSpPr>
        <p:spPr>
          <a:xfrm>
            <a:off x="642938" y="3159323"/>
            <a:ext cx="2476509" cy="1754125"/>
          </a:xfrm>
          <a:prstGeom prst="rect">
            <a:avLst/>
          </a:prstGeom>
          <a:solidFill>
            <a:srgbClr val="FFFFFF">
              <a:alpha val="5000"/>
            </a:srgbClr>
          </a:solidFill>
          <a:ln w="27432">
            <a:solidFill>
              <a:srgbClr val="FFD700"/>
            </a:solidFill>
            <a:prstDash val="solid"/>
          </a:ln>
        </p:spPr>
      </p:sp>
      <p:pic>
        <p:nvPicPr>
          <p:cNvPr id="16" name="Image 1" descr="preencoded.png">    </p:cNvPr>
          <p:cNvPicPr>
            <a:picLocks noChangeAspect="1"/>
          </p:cNvPicPr>
          <p:nvPr/>
        </p:nvPicPr>
        <p:blipFill>
          <a:blip r:embed="rId2"/>
          <a:stretch>
            <a:fillRect/>
          </a:stretch>
        </p:blipFill>
        <p:spPr>
          <a:xfrm>
            <a:off x="785813" y="3337024"/>
            <a:ext cx="157163" cy="157163"/>
          </a:xfrm>
          <a:prstGeom prst="rect">
            <a:avLst/>
          </a:prstGeom>
        </p:spPr>
      </p:pic>
      <p:sp>
        <p:nvSpPr>
          <p:cNvPr id="17" name="Text 13"/>
          <p:cNvSpPr/>
          <p:nvPr/>
        </p:nvSpPr>
        <p:spPr>
          <a:xfrm>
            <a:off x="1014413" y="3302198"/>
            <a:ext cx="619246" cy="226814"/>
          </a:xfrm>
          <a:prstGeom prst="rect">
            <a:avLst/>
          </a:prstGeom>
          <a:noFill/>
          <a:ln/>
        </p:spPr>
        <p:txBody>
          <a:bodyPr wrap="none" lIns="0" tIns="0" rIns="0" bIns="0" rtlCol="0" anchor="t">
            <a:spAutoFit/>
          </a:bodyPr>
          <a:lstStyle/>
          <a:p>
            <a:pPr algn="l" indent="0" marL="0">
              <a:lnSpc>
                <a:spcPts val="1500"/>
              </a:lnSpc>
              <a:buNone/>
            </a:pPr>
            <a:r>
              <a:rPr lang="en-US" sz="1159" dirty="0">
                <a:solidFill>
                  <a:srgbClr val="FFD700"/>
                </a:solidFill>
              </a:rPr>
              <a:t>마모 원인</a:t>
            </a:r>
            <a:endParaRPr lang="en-US" sz="1159" dirty="0"/>
          </a:p>
        </p:txBody>
      </p:sp>
      <p:sp>
        <p:nvSpPr>
          <p:cNvPr id="18" name="Text 14"/>
          <p:cNvSpPr/>
          <p:nvPr/>
        </p:nvSpPr>
        <p:spPr>
          <a:xfrm>
            <a:off x="785813" y="3707606"/>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19" name="Text 15"/>
          <p:cNvSpPr/>
          <p:nvPr/>
        </p:nvSpPr>
        <p:spPr>
          <a:xfrm>
            <a:off x="928688" y="3709392"/>
            <a:ext cx="1671665"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마을 사람들의 무리한 부탁 수락</a:t>
            </a:r>
            <a:endParaRPr lang="en-US" sz="942" dirty="0"/>
          </a:p>
        </p:txBody>
      </p:sp>
      <p:sp>
        <p:nvSpPr>
          <p:cNvPr id="20" name="Text 16"/>
          <p:cNvSpPr/>
          <p:nvPr/>
        </p:nvSpPr>
        <p:spPr>
          <a:xfrm>
            <a:off x="785813" y="3959061"/>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21" name="Text 17"/>
          <p:cNvSpPr/>
          <p:nvPr/>
        </p:nvSpPr>
        <p:spPr>
          <a:xfrm>
            <a:off x="928688" y="3960847"/>
            <a:ext cx="1908246"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자신의 감정을 숨기고 타인에게 맞춤</a:t>
            </a:r>
            <a:endParaRPr lang="en-US" sz="942" dirty="0"/>
          </a:p>
        </p:txBody>
      </p:sp>
      <p:sp>
        <p:nvSpPr>
          <p:cNvPr id="22" name="Text 18"/>
          <p:cNvSpPr/>
          <p:nvPr/>
        </p:nvSpPr>
        <p:spPr>
          <a:xfrm>
            <a:off x="785813" y="4210515"/>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23" name="Text 19"/>
          <p:cNvSpPr/>
          <p:nvPr/>
        </p:nvSpPr>
        <p:spPr>
          <a:xfrm>
            <a:off x="928688" y="4212301"/>
            <a:ext cx="1908246"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사회적 기대에 부응하는 선택지 선택</a:t>
            </a:r>
            <a:endParaRPr lang="en-US" sz="942" dirty="0"/>
          </a:p>
        </p:txBody>
      </p:sp>
      <p:sp>
        <p:nvSpPr>
          <p:cNvPr id="24" name="Text 20"/>
          <p:cNvSpPr/>
          <p:nvPr/>
        </p:nvSpPr>
        <p:spPr>
          <a:xfrm>
            <a:off x="785813" y="4461970"/>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25" name="Text 21"/>
          <p:cNvSpPr/>
          <p:nvPr/>
        </p:nvSpPr>
        <p:spPr>
          <a:xfrm>
            <a:off x="928688" y="4463755"/>
            <a:ext cx="1597075"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특정 아이템(기대의 증표) 소지</a:t>
            </a:r>
            <a:endParaRPr lang="en-US" sz="942" dirty="0"/>
          </a:p>
        </p:txBody>
      </p:sp>
      <p:sp>
        <p:nvSpPr>
          <p:cNvPr id="26" name="Shape 22"/>
          <p:cNvSpPr/>
          <p:nvPr/>
        </p:nvSpPr>
        <p:spPr>
          <a:xfrm>
            <a:off x="3295641" y="3159323"/>
            <a:ext cx="2495541" cy="1754125"/>
          </a:xfrm>
          <a:prstGeom prst="rect">
            <a:avLst/>
          </a:prstGeom>
          <a:solidFill>
            <a:srgbClr val="FFFFFF">
              <a:alpha val="5000"/>
            </a:srgbClr>
          </a:solidFill>
          <a:ln w="27432">
            <a:solidFill>
              <a:srgbClr val="FFD700"/>
            </a:solidFill>
            <a:prstDash val="solid"/>
          </a:ln>
        </p:spPr>
      </p:sp>
      <p:pic>
        <p:nvPicPr>
          <p:cNvPr id="27" name="Image 2" descr="preencoded.png">    </p:cNvPr>
          <p:cNvPicPr>
            <a:picLocks noChangeAspect="1"/>
          </p:cNvPicPr>
          <p:nvPr/>
        </p:nvPicPr>
        <p:blipFill>
          <a:blip r:embed="rId3"/>
          <a:stretch>
            <a:fillRect/>
          </a:stretch>
        </p:blipFill>
        <p:spPr>
          <a:xfrm>
            <a:off x="3457575" y="3337024"/>
            <a:ext cx="157163" cy="157163"/>
          </a:xfrm>
          <a:prstGeom prst="rect">
            <a:avLst/>
          </a:prstGeom>
        </p:spPr>
      </p:pic>
      <p:sp>
        <p:nvSpPr>
          <p:cNvPr id="28" name="Text 23"/>
          <p:cNvSpPr/>
          <p:nvPr/>
        </p:nvSpPr>
        <p:spPr>
          <a:xfrm>
            <a:off x="3686175" y="3302198"/>
            <a:ext cx="619246" cy="226814"/>
          </a:xfrm>
          <a:prstGeom prst="rect">
            <a:avLst/>
          </a:prstGeom>
          <a:noFill/>
          <a:ln/>
        </p:spPr>
        <p:txBody>
          <a:bodyPr wrap="none" lIns="0" tIns="0" rIns="0" bIns="0" rtlCol="0" anchor="t">
            <a:spAutoFit/>
          </a:bodyPr>
          <a:lstStyle/>
          <a:p>
            <a:pPr algn="l" indent="0" marL="0">
              <a:lnSpc>
                <a:spcPts val="1500"/>
              </a:lnSpc>
              <a:buNone/>
            </a:pPr>
            <a:r>
              <a:rPr lang="en-US" sz="1159" dirty="0">
                <a:solidFill>
                  <a:srgbClr val="FFD700"/>
                </a:solidFill>
              </a:rPr>
              <a:t>마모 효과</a:t>
            </a:r>
            <a:endParaRPr lang="en-US" sz="1159" dirty="0"/>
          </a:p>
        </p:txBody>
      </p:sp>
      <p:sp>
        <p:nvSpPr>
          <p:cNvPr id="29" name="Text 24"/>
          <p:cNvSpPr/>
          <p:nvPr/>
        </p:nvSpPr>
        <p:spPr>
          <a:xfrm>
            <a:off x="3457575" y="3707606"/>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30" name="Text 25"/>
          <p:cNvSpPr/>
          <p:nvPr/>
        </p:nvSpPr>
        <p:spPr>
          <a:xfrm>
            <a:off x="3600450" y="3709392"/>
            <a:ext cx="1586778"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화면 노이즈 및 시야 왜곡 발생</a:t>
            </a:r>
            <a:endParaRPr lang="en-US" sz="942" dirty="0"/>
          </a:p>
        </p:txBody>
      </p:sp>
      <p:sp>
        <p:nvSpPr>
          <p:cNvPr id="31" name="Text 26"/>
          <p:cNvSpPr/>
          <p:nvPr/>
        </p:nvSpPr>
        <p:spPr>
          <a:xfrm>
            <a:off x="3457575" y="3959061"/>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32" name="Text 27"/>
          <p:cNvSpPr/>
          <p:nvPr/>
        </p:nvSpPr>
        <p:spPr>
          <a:xfrm>
            <a:off x="3600450" y="3960847"/>
            <a:ext cx="1756525"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주인공의 독백이 냉소적으로 변화</a:t>
            </a:r>
            <a:endParaRPr lang="en-US" sz="942" dirty="0"/>
          </a:p>
        </p:txBody>
      </p:sp>
      <p:sp>
        <p:nvSpPr>
          <p:cNvPr id="33" name="Text 28"/>
          <p:cNvSpPr/>
          <p:nvPr/>
        </p:nvSpPr>
        <p:spPr>
          <a:xfrm>
            <a:off x="3457575" y="4210515"/>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34" name="Text 29"/>
          <p:cNvSpPr/>
          <p:nvPr/>
        </p:nvSpPr>
        <p:spPr>
          <a:xfrm>
            <a:off x="3600450" y="4212301"/>
            <a:ext cx="1519917"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일부 선택지가 강제로 고정됨</a:t>
            </a:r>
            <a:endParaRPr lang="en-US" sz="942" dirty="0"/>
          </a:p>
        </p:txBody>
      </p:sp>
      <p:sp>
        <p:nvSpPr>
          <p:cNvPr id="35" name="Text 30"/>
          <p:cNvSpPr/>
          <p:nvPr/>
        </p:nvSpPr>
        <p:spPr>
          <a:xfrm>
            <a:off x="3457575" y="4461970"/>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36" name="Text 31"/>
          <p:cNvSpPr/>
          <p:nvPr/>
        </p:nvSpPr>
        <p:spPr>
          <a:xfrm>
            <a:off x="3600450" y="4463755"/>
            <a:ext cx="1540120"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특정 NPC와의 상호작용 차단</a:t>
            </a:r>
            <a:endParaRPr lang="en-US" sz="942" dirty="0"/>
          </a:p>
        </p:txBody>
      </p:sp>
      <p:sp>
        <p:nvSpPr>
          <p:cNvPr id="37" name="Shape 32"/>
          <p:cNvSpPr/>
          <p:nvPr/>
        </p:nvSpPr>
        <p:spPr>
          <a:xfrm>
            <a:off x="5986463" y="3159323"/>
            <a:ext cx="2514600" cy="1754125"/>
          </a:xfrm>
          <a:prstGeom prst="rect">
            <a:avLst/>
          </a:prstGeom>
          <a:solidFill>
            <a:srgbClr val="FFFFFF">
              <a:alpha val="5000"/>
            </a:srgbClr>
          </a:solidFill>
          <a:ln w="27432">
            <a:solidFill>
              <a:srgbClr val="FFD700"/>
            </a:solidFill>
            <a:prstDash val="solid"/>
          </a:ln>
        </p:spPr>
      </p:sp>
      <p:pic>
        <p:nvPicPr>
          <p:cNvPr id="38" name="Image 3" descr="preencoded.png">    </p:cNvPr>
          <p:cNvPicPr>
            <a:picLocks noChangeAspect="1"/>
          </p:cNvPicPr>
          <p:nvPr/>
        </p:nvPicPr>
        <p:blipFill>
          <a:blip r:embed="rId4"/>
          <a:stretch>
            <a:fillRect/>
          </a:stretch>
        </p:blipFill>
        <p:spPr>
          <a:xfrm>
            <a:off x="6167456" y="3337024"/>
            <a:ext cx="157163" cy="157163"/>
          </a:xfrm>
          <a:prstGeom prst="rect">
            <a:avLst/>
          </a:prstGeom>
        </p:spPr>
      </p:pic>
      <p:sp>
        <p:nvSpPr>
          <p:cNvPr id="39" name="Text 33"/>
          <p:cNvSpPr/>
          <p:nvPr/>
        </p:nvSpPr>
        <p:spPr>
          <a:xfrm>
            <a:off x="6396056" y="3302198"/>
            <a:ext cx="804676" cy="226814"/>
          </a:xfrm>
          <a:prstGeom prst="rect">
            <a:avLst/>
          </a:prstGeom>
          <a:noFill/>
          <a:ln/>
        </p:spPr>
        <p:txBody>
          <a:bodyPr wrap="none" lIns="0" tIns="0" rIns="0" bIns="0" rtlCol="0" anchor="t">
            <a:spAutoFit/>
          </a:bodyPr>
          <a:lstStyle/>
          <a:p>
            <a:pPr algn="l" indent="0" marL="0">
              <a:lnSpc>
                <a:spcPts val="1500"/>
              </a:lnSpc>
              <a:buNone/>
            </a:pPr>
            <a:r>
              <a:rPr lang="en-US" sz="1159" dirty="0">
                <a:solidFill>
                  <a:srgbClr val="FFD700"/>
                </a:solidFill>
              </a:rPr>
              <a:t>회복 및 관리</a:t>
            </a:r>
            <a:endParaRPr lang="en-US" sz="1159" dirty="0"/>
          </a:p>
        </p:txBody>
      </p:sp>
      <p:sp>
        <p:nvSpPr>
          <p:cNvPr id="40" name="Text 34"/>
          <p:cNvSpPr/>
          <p:nvPr/>
        </p:nvSpPr>
        <p:spPr>
          <a:xfrm>
            <a:off x="6167456" y="3707606"/>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41" name="Text 35"/>
          <p:cNvSpPr/>
          <p:nvPr/>
        </p:nvSpPr>
        <p:spPr>
          <a:xfrm>
            <a:off x="6310331" y="3709392"/>
            <a:ext cx="1368196"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부탁을 단호하게 거절하기</a:t>
            </a:r>
            <a:endParaRPr lang="en-US" sz="942" dirty="0"/>
          </a:p>
        </p:txBody>
      </p:sp>
      <p:sp>
        <p:nvSpPr>
          <p:cNvPr id="42" name="Text 36"/>
          <p:cNvSpPr/>
          <p:nvPr/>
        </p:nvSpPr>
        <p:spPr>
          <a:xfrm>
            <a:off x="6167456" y="3959061"/>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43" name="Text 37"/>
          <p:cNvSpPr/>
          <p:nvPr/>
        </p:nvSpPr>
        <p:spPr>
          <a:xfrm>
            <a:off x="6310331" y="3960847"/>
            <a:ext cx="1597075"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자신만을 위한 시간(휴식) 갖기</a:t>
            </a:r>
            <a:endParaRPr lang="en-US" sz="942" dirty="0"/>
          </a:p>
        </p:txBody>
      </p:sp>
      <p:sp>
        <p:nvSpPr>
          <p:cNvPr id="44" name="Text 38"/>
          <p:cNvSpPr/>
          <p:nvPr/>
        </p:nvSpPr>
        <p:spPr>
          <a:xfrm>
            <a:off x="6167456" y="4210515"/>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45" name="Text 39"/>
          <p:cNvSpPr/>
          <p:nvPr/>
        </p:nvSpPr>
        <p:spPr>
          <a:xfrm>
            <a:off x="6310331" y="4212301"/>
            <a:ext cx="1492904"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'자아 성찰' 관련 소모품 사용</a:t>
            </a:r>
            <a:endParaRPr lang="en-US" sz="942" dirty="0"/>
          </a:p>
        </p:txBody>
      </p:sp>
      <p:sp>
        <p:nvSpPr>
          <p:cNvPr id="46" name="Text 40"/>
          <p:cNvSpPr/>
          <p:nvPr/>
        </p:nvSpPr>
        <p:spPr>
          <a:xfrm>
            <a:off x="6167456" y="4461970"/>
            <a:ext cx="100013" cy="140001"/>
          </a:xfrm>
          <a:prstGeom prst="rect">
            <a:avLst/>
          </a:prstGeom>
          <a:noFill/>
          <a:ln/>
        </p:spPr>
        <p:txBody>
          <a:bodyPr wrap="none" lIns="0" tIns="0" rIns="0" bIns="0" rtlCol="0" anchor="t">
            <a:spAutoFit/>
          </a:bodyPr>
          <a:lstStyle/>
          <a:p>
            <a:pPr algn="l" indent="0" marL="0">
              <a:lnSpc>
                <a:spcPts val="1100"/>
              </a:lnSpc>
              <a:buNone/>
            </a:pPr>
            <a:r>
              <a:rPr lang="en-US" sz="727" dirty="0">
                <a:solidFill>
                  <a:srgbClr val="00CED1"/>
                </a:solidFill>
              </a:rPr>
              <a:t>▶</a:t>
            </a:r>
            <a:endParaRPr lang="en-US" sz="727" dirty="0"/>
          </a:p>
        </p:txBody>
      </p:sp>
      <p:sp>
        <p:nvSpPr>
          <p:cNvPr id="47" name="Text 41"/>
          <p:cNvSpPr/>
          <p:nvPr/>
        </p:nvSpPr>
        <p:spPr>
          <a:xfrm>
            <a:off x="6310331" y="4463755"/>
            <a:ext cx="1401626" cy="175022"/>
          </a:xfrm>
          <a:prstGeom prst="rect">
            <a:avLst/>
          </a:prstGeom>
          <a:noFill/>
          <a:ln/>
        </p:spPr>
        <p:txBody>
          <a:bodyPr wrap="none" lIns="0" tIns="0" rIns="0" bIns="0" rtlCol="0" anchor="t">
            <a:spAutoFit/>
          </a:bodyPr>
          <a:lstStyle/>
          <a:p>
            <a:pPr algn="l" indent="0" marL="0">
              <a:lnSpc>
                <a:spcPts val="1400"/>
              </a:lnSpc>
              <a:buNone/>
            </a:pPr>
            <a:r>
              <a:rPr lang="en-US" sz="942" dirty="0">
                <a:solidFill>
                  <a:srgbClr val="FFFFFF"/>
                </a:solidFill>
              </a:rPr>
              <a:t>진실을 마주하는 퍼즐 해결</a:t>
            </a:r>
            <a:endParaRPr lang="en-US" sz="942"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889089" cy="544711"/>
          </a:xfrm>
          <a:prstGeom prst="rect">
            <a:avLst/>
          </a:prstGeom>
          <a:solidFill>
            <a:srgbClr val="FFFFFF"/>
          </a:solidFill>
          <a:ln w="27432">
            <a:solidFill>
              <a:srgbClr val="000000"/>
            </a:solidFill>
            <a:prstDash val="solid"/>
          </a:ln>
        </p:spPr>
      </p:sp>
      <p:sp>
        <p:nvSpPr>
          <p:cNvPr id="4" name="Text 1"/>
          <p:cNvSpPr/>
          <p:nvPr/>
        </p:nvSpPr>
        <p:spPr>
          <a:xfrm>
            <a:off x="642938" y="342900"/>
            <a:ext cx="240331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설계: 자아 마모도 연출</a:t>
            </a:r>
            <a:endParaRPr lang="en-US" sz="1808" dirty="0"/>
          </a:p>
        </p:txBody>
      </p:sp>
      <p:sp>
        <p:nvSpPr>
          <p:cNvPr id="5" name="Shape 2"/>
          <p:cNvSpPr/>
          <p:nvPr/>
        </p:nvSpPr>
        <p:spPr>
          <a:xfrm>
            <a:off x="428625" y="987623"/>
            <a:ext cx="8343900" cy="485775"/>
          </a:xfrm>
          <a:prstGeom prst="rect">
            <a:avLst/>
          </a:prstGeom>
          <a:solidFill>
            <a:srgbClr val="000000"/>
          </a:solidFill>
          <a:ln w="27432">
            <a:solidFill>
              <a:srgbClr val="00CED1"/>
            </a:solidFill>
            <a:prstDash val="solid"/>
          </a:ln>
        </p:spPr>
      </p:sp>
      <p:sp>
        <p:nvSpPr>
          <p:cNvPr id="6" name="Shape 3"/>
          <p:cNvSpPr/>
          <p:nvPr/>
        </p:nvSpPr>
        <p:spPr>
          <a:xfrm>
            <a:off x="428625" y="916186"/>
            <a:ext cx="28575" cy="571500"/>
          </a:xfrm>
          <a:prstGeom prst="rect">
            <a:avLst/>
          </a:prstGeom>
          <a:solidFill>
            <a:srgbClr val="FFFFFF"/>
          </a:solidFill>
          <a:ln/>
        </p:spPr>
      </p:sp>
      <p:sp>
        <p:nvSpPr>
          <p:cNvPr id="7" name="Text 4"/>
          <p:cNvSpPr/>
          <p:nvPr/>
        </p:nvSpPr>
        <p:spPr>
          <a:xfrm>
            <a:off x="338407" y="666155"/>
            <a:ext cx="180435" cy="175022"/>
          </a:xfrm>
          <a:prstGeom prst="rect">
            <a:avLst/>
          </a:prstGeom>
          <a:noFill/>
          <a:ln/>
        </p:spPr>
        <p:txBody>
          <a:bodyPr wrap="none" lIns="0" tIns="0" rIns="0" bIns="0" rtlCol="0" anchor="t">
            <a:spAutoFit/>
          </a:bodyPr>
          <a:lstStyle/>
          <a:p>
            <a:pPr algn="l" indent="0" marL="0">
              <a:lnSpc>
                <a:spcPts val="1200"/>
              </a:lnSpc>
              <a:buNone/>
            </a:pPr>
            <a:r>
              <a:rPr lang="en-US" sz="942" dirty="0">
                <a:solidFill>
                  <a:srgbClr val="00CED1"/>
                </a:solidFill>
              </a:rPr>
              <a:t>0%</a:t>
            </a:r>
            <a:endParaRPr lang="en-US" sz="942" dirty="0"/>
          </a:p>
        </p:txBody>
      </p:sp>
      <p:sp>
        <p:nvSpPr>
          <p:cNvPr id="8" name="Shape 5"/>
          <p:cNvSpPr/>
          <p:nvPr/>
        </p:nvSpPr>
        <p:spPr>
          <a:xfrm>
            <a:off x="2914650" y="916186"/>
            <a:ext cx="28575" cy="571500"/>
          </a:xfrm>
          <a:prstGeom prst="rect">
            <a:avLst/>
          </a:prstGeom>
          <a:solidFill>
            <a:srgbClr val="FFFFFF"/>
          </a:solidFill>
          <a:ln/>
        </p:spPr>
      </p:sp>
      <p:sp>
        <p:nvSpPr>
          <p:cNvPr id="9" name="Text 6"/>
          <p:cNvSpPr/>
          <p:nvPr/>
        </p:nvSpPr>
        <p:spPr>
          <a:xfrm>
            <a:off x="2787667" y="666155"/>
            <a:ext cx="253966" cy="175022"/>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D700"/>
                </a:solidFill>
              </a:rPr>
              <a:t>30%</a:t>
            </a:r>
            <a:endParaRPr lang="en-US" sz="942" dirty="0"/>
          </a:p>
        </p:txBody>
      </p:sp>
      <p:sp>
        <p:nvSpPr>
          <p:cNvPr id="10" name="Shape 7"/>
          <p:cNvSpPr/>
          <p:nvPr/>
        </p:nvSpPr>
        <p:spPr>
          <a:xfrm>
            <a:off x="6229350" y="916186"/>
            <a:ext cx="28575" cy="571500"/>
          </a:xfrm>
          <a:prstGeom prst="rect">
            <a:avLst/>
          </a:prstGeom>
          <a:solidFill>
            <a:srgbClr val="FFFFFF"/>
          </a:solidFill>
          <a:ln/>
        </p:spPr>
      </p:sp>
      <p:sp>
        <p:nvSpPr>
          <p:cNvPr id="11" name="Text 8"/>
          <p:cNvSpPr/>
          <p:nvPr/>
        </p:nvSpPr>
        <p:spPr>
          <a:xfrm>
            <a:off x="6102367" y="666155"/>
            <a:ext cx="253966" cy="175022"/>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69B4"/>
                </a:solidFill>
              </a:rPr>
              <a:t>70%</a:t>
            </a:r>
            <a:endParaRPr lang="en-US" sz="942" dirty="0"/>
          </a:p>
        </p:txBody>
      </p:sp>
      <p:sp>
        <p:nvSpPr>
          <p:cNvPr id="12" name="Shape 9"/>
          <p:cNvSpPr/>
          <p:nvPr/>
        </p:nvSpPr>
        <p:spPr>
          <a:xfrm>
            <a:off x="8715375" y="916186"/>
            <a:ext cx="28575" cy="571500"/>
          </a:xfrm>
          <a:prstGeom prst="rect">
            <a:avLst/>
          </a:prstGeom>
          <a:solidFill>
            <a:srgbClr val="FFFFFF"/>
          </a:solidFill>
          <a:ln/>
        </p:spPr>
      </p:sp>
      <p:sp>
        <p:nvSpPr>
          <p:cNvPr id="13" name="Text 10"/>
          <p:cNvSpPr/>
          <p:nvPr/>
        </p:nvSpPr>
        <p:spPr>
          <a:xfrm>
            <a:off x="8551613" y="666155"/>
            <a:ext cx="327524" cy="175022"/>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69B4"/>
                </a:solidFill>
              </a:rPr>
              <a:t>100%</a:t>
            </a:r>
            <a:endParaRPr lang="en-US" sz="942" dirty="0"/>
          </a:p>
        </p:txBody>
      </p:sp>
      <p:sp>
        <p:nvSpPr>
          <p:cNvPr id="14" name="Shape 11"/>
          <p:cNvSpPr/>
          <p:nvPr/>
        </p:nvSpPr>
        <p:spPr>
          <a:xfrm>
            <a:off x="428625" y="1701998"/>
            <a:ext cx="2666991" cy="1972680"/>
          </a:xfrm>
          <a:prstGeom prst="rect">
            <a:avLst/>
          </a:prstGeom>
          <a:solidFill>
            <a:srgbClr val="FFFFFF">
              <a:alpha val="5000"/>
            </a:srgbClr>
          </a:solidFill>
          <a:ln w="27432">
            <a:solidFill>
              <a:srgbClr val="00CED1"/>
            </a:solidFill>
            <a:prstDash val="solid"/>
          </a:ln>
        </p:spPr>
      </p:sp>
      <p:sp>
        <p:nvSpPr>
          <p:cNvPr id="15" name="Text 12"/>
          <p:cNvSpPr/>
          <p:nvPr/>
        </p:nvSpPr>
        <p:spPr>
          <a:xfrm>
            <a:off x="571500" y="1844873"/>
            <a:ext cx="2343150" cy="321469"/>
          </a:xfrm>
          <a:prstGeom prst="rect">
            <a:avLst/>
          </a:prstGeom>
          <a:noFill/>
          <a:ln/>
        </p:spPr>
        <p:txBody>
          <a:bodyPr wrap="square" lIns="0" tIns="0" rIns="0" bIns="68072" rtlCol="0" anchor="t">
            <a:spAutoFit/>
          </a:bodyPr>
          <a:lstStyle/>
          <a:p>
            <a:pPr algn="ctr" indent="0" marL="0">
              <a:lnSpc>
                <a:spcPts val="1600"/>
              </a:lnSpc>
              <a:buNone/>
            </a:pPr>
            <a:r>
              <a:rPr lang="en-US" sz="1269" dirty="0">
                <a:solidFill>
                  <a:srgbClr val="FFD700"/>
                </a:solidFill>
              </a:rPr>
              <a:t>안정 (0-30%)</a:t>
            </a:r>
            <a:endParaRPr lang="en-US" sz="1269" dirty="0"/>
          </a:p>
        </p:txBody>
      </p:sp>
      <p:pic>
        <p:nvPicPr>
          <p:cNvPr id="16" name="Image 1" descr="preencoded.png">    </p:cNvPr>
          <p:cNvPicPr>
            <a:picLocks noChangeAspect="1"/>
          </p:cNvPicPr>
          <p:nvPr/>
        </p:nvPicPr>
        <p:blipFill>
          <a:blip r:embed="rId2"/>
          <a:stretch>
            <a:fillRect/>
          </a:stretch>
        </p:blipFill>
        <p:spPr>
          <a:xfrm>
            <a:off x="571500" y="2273498"/>
            <a:ext cx="160734" cy="171450"/>
          </a:xfrm>
          <a:prstGeom prst="rect">
            <a:avLst/>
          </a:prstGeom>
        </p:spPr>
      </p:pic>
      <p:sp>
        <p:nvSpPr>
          <p:cNvPr id="17" name="Text 13"/>
          <p:cNvSpPr/>
          <p:nvPr/>
        </p:nvSpPr>
        <p:spPr>
          <a:xfrm>
            <a:off x="817959" y="2273498"/>
            <a:ext cx="2096691"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시각:</a:t>
            </a:r>
            <a:pPr algn="l" indent="0" marL="0">
              <a:lnSpc>
                <a:spcPts val="1300"/>
              </a:lnSpc>
              <a:buNone/>
            </a:pPr>
            <a:r>
              <a:rPr lang="en-US" sz="834" dirty="0">
                <a:solidFill>
                  <a:srgbClr val="E0E0E0"/>
                </a:solidFill>
              </a:rPr>
              <a:t> 선명한 화면과 안정적인 UI. 주인공의 </a:t>
            </a:r>
            <a:pPr algn="l" indent="0" marL="0">
              <a:lnSpc>
                <a:spcPts val="1300"/>
              </a:lnSpc>
              <a:buNone/>
            </a:pPr>
            <a:r>
              <a:rPr lang="en-US" sz="834" dirty="0">
                <a:solidFill>
                  <a:srgbClr val="E0E0E0"/>
                </a:solidFill>
              </a:rPr>
              <a:t>색감이 밝게 유지됨.</a:t>
            </a:r>
            <a:endParaRPr lang="en-US" sz="784" dirty="0"/>
          </a:p>
        </p:txBody>
      </p:sp>
      <p:pic>
        <p:nvPicPr>
          <p:cNvPr id="18" name="Image 2" descr="preencoded.png">    </p:cNvPr>
          <p:cNvPicPr>
            <a:picLocks noChangeAspect="1"/>
          </p:cNvPicPr>
          <p:nvPr/>
        </p:nvPicPr>
        <p:blipFill>
          <a:blip r:embed="rId3"/>
          <a:stretch>
            <a:fillRect/>
          </a:stretch>
        </p:blipFill>
        <p:spPr>
          <a:xfrm>
            <a:off x="571500" y="2709602"/>
            <a:ext cx="142875" cy="171450"/>
          </a:xfrm>
          <a:prstGeom prst="rect">
            <a:avLst/>
          </a:prstGeom>
        </p:spPr>
      </p:pic>
      <p:sp>
        <p:nvSpPr>
          <p:cNvPr id="19" name="Text 14"/>
          <p:cNvSpPr/>
          <p:nvPr/>
        </p:nvSpPr>
        <p:spPr>
          <a:xfrm>
            <a:off x="800100" y="2709602"/>
            <a:ext cx="2114550"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청각:</a:t>
            </a:r>
            <a:pPr algn="l" indent="0" marL="0">
              <a:lnSpc>
                <a:spcPts val="1300"/>
              </a:lnSpc>
              <a:buNone/>
            </a:pPr>
            <a:r>
              <a:rPr lang="en-US" sz="834" dirty="0">
                <a:solidFill>
                  <a:srgbClr val="E0E0E0"/>
                </a:solidFill>
              </a:rPr>
              <a:t> 평온하고 서정적인 배경음악. 명확한 </a:t>
            </a:r>
            <a:pPr algn="l" indent="0" marL="0">
              <a:lnSpc>
                <a:spcPts val="1300"/>
              </a:lnSpc>
              <a:buNone/>
            </a:pPr>
            <a:r>
              <a:rPr lang="en-US" sz="834" dirty="0">
                <a:solidFill>
                  <a:srgbClr val="E0E0E0"/>
                </a:solidFill>
              </a:rPr>
              <a:t>효과음 제공.</a:t>
            </a:r>
            <a:endParaRPr lang="en-US" sz="784" dirty="0"/>
          </a:p>
        </p:txBody>
      </p:sp>
      <p:pic>
        <p:nvPicPr>
          <p:cNvPr id="20" name="Image 3" descr="preencoded.png">    </p:cNvPr>
          <p:cNvPicPr>
            <a:picLocks noChangeAspect="1"/>
          </p:cNvPicPr>
          <p:nvPr/>
        </p:nvPicPr>
        <p:blipFill>
          <a:blip r:embed="rId4"/>
          <a:stretch>
            <a:fillRect/>
          </a:stretch>
        </p:blipFill>
        <p:spPr>
          <a:xfrm>
            <a:off x="571500" y="3145706"/>
            <a:ext cx="178594" cy="171450"/>
          </a:xfrm>
          <a:prstGeom prst="rect">
            <a:avLst/>
          </a:prstGeom>
        </p:spPr>
      </p:pic>
      <p:sp>
        <p:nvSpPr>
          <p:cNvPr id="21" name="Text 15"/>
          <p:cNvSpPr/>
          <p:nvPr/>
        </p:nvSpPr>
        <p:spPr>
          <a:xfrm>
            <a:off x="835819" y="3145706"/>
            <a:ext cx="2078831"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플레이:</a:t>
            </a:r>
            <a:pPr algn="l" indent="0" marL="0">
              <a:lnSpc>
                <a:spcPts val="1300"/>
              </a:lnSpc>
              <a:buNone/>
            </a:pPr>
            <a:r>
              <a:rPr lang="en-US" sz="834" dirty="0">
                <a:solidFill>
                  <a:srgbClr val="E0E0E0"/>
                </a:solidFill>
              </a:rPr>
              <a:t> 즉각적인 조작 반응. 모든 선택지가 </a:t>
            </a:r>
            <a:pPr algn="l" indent="0" marL="0">
              <a:lnSpc>
                <a:spcPts val="1300"/>
              </a:lnSpc>
              <a:buNone/>
            </a:pPr>
            <a:r>
              <a:rPr lang="en-US" sz="834" dirty="0">
                <a:solidFill>
                  <a:srgbClr val="E0E0E0"/>
                </a:solidFill>
              </a:rPr>
              <a:t>자유롭게 활성화됨.</a:t>
            </a:r>
            <a:endParaRPr lang="en-US" sz="784" dirty="0"/>
          </a:p>
        </p:txBody>
      </p:sp>
      <p:sp>
        <p:nvSpPr>
          <p:cNvPr id="22" name="Shape 16"/>
          <p:cNvSpPr/>
          <p:nvPr/>
        </p:nvSpPr>
        <p:spPr>
          <a:xfrm>
            <a:off x="3200400" y="1701998"/>
            <a:ext cx="2686050" cy="1972680"/>
          </a:xfrm>
          <a:prstGeom prst="rect">
            <a:avLst/>
          </a:prstGeom>
          <a:solidFill>
            <a:srgbClr val="FFD700">
              <a:alpha val="5000"/>
            </a:srgbClr>
          </a:solidFill>
          <a:ln w="27432">
            <a:solidFill>
              <a:srgbClr val="FFD700"/>
            </a:solidFill>
            <a:prstDash val="solid"/>
          </a:ln>
        </p:spPr>
      </p:sp>
      <p:sp>
        <p:nvSpPr>
          <p:cNvPr id="23" name="Text 17"/>
          <p:cNvSpPr/>
          <p:nvPr/>
        </p:nvSpPr>
        <p:spPr>
          <a:xfrm>
            <a:off x="3362334" y="1844873"/>
            <a:ext cx="2362209" cy="321469"/>
          </a:xfrm>
          <a:prstGeom prst="rect">
            <a:avLst/>
          </a:prstGeom>
          <a:noFill/>
          <a:ln/>
        </p:spPr>
        <p:txBody>
          <a:bodyPr wrap="square" lIns="0" tIns="0" rIns="0" bIns="68072" rtlCol="0" anchor="t">
            <a:spAutoFit/>
          </a:bodyPr>
          <a:lstStyle/>
          <a:p>
            <a:pPr algn="ctr" indent="0" marL="0">
              <a:lnSpc>
                <a:spcPts val="1600"/>
              </a:lnSpc>
              <a:buNone/>
            </a:pPr>
            <a:r>
              <a:rPr lang="en-US" sz="1269" dirty="0">
                <a:solidFill>
                  <a:srgbClr val="FFD700"/>
                </a:solidFill>
              </a:rPr>
              <a:t>경고 (31-70%)</a:t>
            </a:r>
            <a:endParaRPr lang="en-US" sz="1269" dirty="0"/>
          </a:p>
        </p:txBody>
      </p:sp>
      <p:pic>
        <p:nvPicPr>
          <p:cNvPr id="24" name="Image 4" descr="preencoded.png">    </p:cNvPr>
          <p:cNvPicPr>
            <a:picLocks noChangeAspect="1"/>
          </p:cNvPicPr>
          <p:nvPr/>
        </p:nvPicPr>
        <p:blipFill>
          <a:blip r:embed="rId5"/>
          <a:stretch>
            <a:fillRect/>
          </a:stretch>
        </p:blipFill>
        <p:spPr>
          <a:xfrm>
            <a:off x="3362334" y="2273498"/>
            <a:ext cx="107156" cy="171450"/>
          </a:xfrm>
          <a:prstGeom prst="rect">
            <a:avLst/>
          </a:prstGeom>
        </p:spPr>
      </p:pic>
      <p:sp>
        <p:nvSpPr>
          <p:cNvPr id="25" name="Text 18"/>
          <p:cNvSpPr/>
          <p:nvPr/>
        </p:nvSpPr>
        <p:spPr>
          <a:xfrm>
            <a:off x="3555216" y="2273498"/>
            <a:ext cx="2169328"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시각:</a:t>
            </a:r>
            <a:pPr algn="l" indent="0" marL="0">
              <a:lnSpc>
                <a:spcPts val="1300"/>
              </a:lnSpc>
              <a:buNone/>
            </a:pPr>
            <a:r>
              <a:rPr lang="en-US" sz="834" dirty="0">
                <a:solidFill>
                  <a:srgbClr val="E0E0E0"/>
                </a:solidFill>
              </a:rPr>
              <a:t> 간헐적인 화면 노이즈 발생. UI가 미세</a:t>
            </a:r>
            <a:pPr algn="l" indent="0" marL="0">
              <a:lnSpc>
                <a:spcPts val="1300"/>
              </a:lnSpc>
              <a:buNone/>
            </a:pPr>
            <a:r>
              <a:rPr lang="en-US" sz="834" dirty="0">
                <a:solidFill>
                  <a:srgbClr val="E0E0E0"/>
                </a:solidFill>
              </a:rPr>
              <a:t>하게 흔들리기 시작함.</a:t>
            </a:r>
            <a:endParaRPr lang="en-US" sz="784" dirty="0"/>
          </a:p>
        </p:txBody>
      </p:sp>
      <p:pic>
        <p:nvPicPr>
          <p:cNvPr id="26" name="Image 5" descr="preencoded.png">    </p:cNvPr>
          <p:cNvPicPr>
            <a:picLocks noChangeAspect="1"/>
          </p:cNvPicPr>
          <p:nvPr/>
        </p:nvPicPr>
        <p:blipFill>
          <a:blip r:embed="rId6"/>
          <a:stretch>
            <a:fillRect/>
          </a:stretch>
        </p:blipFill>
        <p:spPr>
          <a:xfrm>
            <a:off x="3362334" y="2709602"/>
            <a:ext cx="125016" cy="171450"/>
          </a:xfrm>
          <a:prstGeom prst="rect">
            <a:avLst/>
          </a:prstGeom>
        </p:spPr>
      </p:pic>
      <p:sp>
        <p:nvSpPr>
          <p:cNvPr id="27" name="Text 19"/>
          <p:cNvSpPr/>
          <p:nvPr/>
        </p:nvSpPr>
        <p:spPr>
          <a:xfrm>
            <a:off x="3573075" y="2709602"/>
            <a:ext cx="2151469"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청각:</a:t>
            </a:r>
            <a:pPr algn="l" indent="0" marL="0">
              <a:lnSpc>
                <a:spcPts val="1300"/>
              </a:lnSpc>
              <a:buNone/>
            </a:pPr>
            <a:r>
              <a:rPr lang="en-US" sz="834" dirty="0">
                <a:solidFill>
                  <a:srgbClr val="E0E0E0"/>
                </a:solidFill>
              </a:rPr>
              <a:t> 음악에 미세한 노이즈 삽입. 불협화음</a:t>
            </a:r>
            <a:pPr algn="l" indent="0" marL="0">
              <a:lnSpc>
                <a:spcPts val="1300"/>
              </a:lnSpc>
              <a:buNone/>
            </a:pPr>
            <a:r>
              <a:rPr lang="en-US" sz="834" dirty="0">
                <a:solidFill>
                  <a:srgbClr val="E0E0E0"/>
                </a:solidFill>
              </a:rPr>
              <a:t>이 섞인 멜로디로 변화.</a:t>
            </a:r>
            <a:endParaRPr lang="en-US" sz="784" dirty="0"/>
          </a:p>
        </p:txBody>
      </p:sp>
      <p:pic>
        <p:nvPicPr>
          <p:cNvPr id="28" name="Image 6" descr="preencoded.png">    </p:cNvPr>
          <p:cNvPicPr>
            <a:picLocks noChangeAspect="1"/>
          </p:cNvPicPr>
          <p:nvPr/>
        </p:nvPicPr>
        <p:blipFill>
          <a:blip r:embed="rId7"/>
          <a:stretch>
            <a:fillRect/>
          </a:stretch>
        </p:blipFill>
        <p:spPr>
          <a:xfrm>
            <a:off x="3362334" y="3145706"/>
            <a:ext cx="142875" cy="171450"/>
          </a:xfrm>
          <a:prstGeom prst="rect">
            <a:avLst/>
          </a:prstGeom>
        </p:spPr>
      </p:pic>
      <p:sp>
        <p:nvSpPr>
          <p:cNvPr id="29" name="Text 20"/>
          <p:cNvSpPr/>
          <p:nvPr/>
        </p:nvSpPr>
        <p:spPr>
          <a:xfrm>
            <a:off x="3590934" y="3145706"/>
            <a:ext cx="2133609"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플레이:</a:t>
            </a:r>
            <a:pPr algn="l" indent="0" marL="0">
              <a:lnSpc>
                <a:spcPts val="1300"/>
              </a:lnSpc>
              <a:buNone/>
            </a:pPr>
            <a:r>
              <a:rPr lang="en-US" sz="834" dirty="0">
                <a:solidFill>
                  <a:srgbClr val="E0E0E0"/>
                </a:solidFill>
              </a:rPr>
              <a:t> 조작 시 미세한 지연 발생. 특정 선</a:t>
            </a:r>
            <a:pPr algn="l" indent="0" marL="0">
              <a:lnSpc>
                <a:spcPts val="1300"/>
              </a:lnSpc>
              <a:buNone/>
            </a:pPr>
            <a:r>
              <a:rPr lang="en-US" sz="834" dirty="0">
                <a:solidFill>
                  <a:srgbClr val="E0E0E0"/>
                </a:solidFill>
              </a:rPr>
              <a:t>택지가 흐릿하게 보임.</a:t>
            </a:r>
            <a:endParaRPr lang="en-US" sz="784" dirty="0"/>
          </a:p>
        </p:txBody>
      </p:sp>
      <p:sp>
        <p:nvSpPr>
          <p:cNvPr id="30" name="Shape 21"/>
          <p:cNvSpPr/>
          <p:nvPr/>
        </p:nvSpPr>
        <p:spPr>
          <a:xfrm>
            <a:off x="6010294" y="1701998"/>
            <a:ext cx="2705109" cy="1972680"/>
          </a:xfrm>
          <a:prstGeom prst="rect">
            <a:avLst/>
          </a:prstGeom>
          <a:solidFill>
            <a:srgbClr val="FF69B4">
              <a:alpha val="5000"/>
            </a:srgbClr>
          </a:solidFill>
          <a:ln w="27432">
            <a:solidFill>
              <a:srgbClr val="FF69B4"/>
            </a:solidFill>
            <a:prstDash val="solid"/>
          </a:ln>
        </p:spPr>
      </p:sp>
      <p:sp>
        <p:nvSpPr>
          <p:cNvPr id="31" name="Text 22"/>
          <p:cNvSpPr/>
          <p:nvPr/>
        </p:nvSpPr>
        <p:spPr>
          <a:xfrm>
            <a:off x="6191231" y="1844873"/>
            <a:ext cx="2381241" cy="321469"/>
          </a:xfrm>
          <a:prstGeom prst="rect">
            <a:avLst/>
          </a:prstGeom>
          <a:noFill/>
          <a:ln/>
        </p:spPr>
        <p:txBody>
          <a:bodyPr wrap="square" lIns="0" tIns="0" rIns="0" bIns="68072" rtlCol="0" anchor="t">
            <a:spAutoFit/>
          </a:bodyPr>
          <a:lstStyle/>
          <a:p>
            <a:pPr algn="ctr" indent="0" marL="0">
              <a:lnSpc>
                <a:spcPts val="1600"/>
              </a:lnSpc>
              <a:buNone/>
            </a:pPr>
            <a:r>
              <a:rPr lang="en-US" sz="1269" dirty="0">
                <a:solidFill>
                  <a:srgbClr val="FF69B4"/>
                </a:solidFill>
              </a:rPr>
              <a:t>임계 (71-100%)</a:t>
            </a:r>
            <a:endParaRPr lang="en-US" sz="1269" dirty="0"/>
          </a:p>
        </p:txBody>
      </p:sp>
      <p:pic>
        <p:nvPicPr>
          <p:cNvPr id="32" name="Image 7" descr="preencoded.png">    </p:cNvPr>
          <p:cNvPicPr>
            <a:picLocks noChangeAspect="1"/>
          </p:cNvPicPr>
          <p:nvPr/>
        </p:nvPicPr>
        <p:blipFill>
          <a:blip r:embed="rId8"/>
          <a:stretch>
            <a:fillRect/>
          </a:stretch>
        </p:blipFill>
        <p:spPr>
          <a:xfrm>
            <a:off x="6191231" y="2273498"/>
            <a:ext cx="160734" cy="171450"/>
          </a:xfrm>
          <a:prstGeom prst="rect">
            <a:avLst/>
          </a:prstGeom>
        </p:spPr>
      </p:pic>
      <p:sp>
        <p:nvSpPr>
          <p:cNvPr id="33" name="Text 23"/>
          <p:cNvSpPr/>
          <p:nvPr/>
        </p:nvSpPr>
        <p:spPr>
          <a:xfrm>
            <a:off x="6437691" y="2273498"/>
            <a:ext cx="2134781"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시각:</a:t>
            </a:r>
            <a:pPr algn="l" indent="0" marL="0">
              <a:lnSpc>
                <a:spcPts val="1300"/>
              </a:lnSpc>
              <a:buNone/>
            </a:pPr>
            <a:r>
              <a:rPr lang="en-US" sz="834" dirty="0">
                <a:solidFill>
                  <a:srgbClr val="E0E0E0"/>
                </a:solidFill>
              </a:rPr>
              <a:t> 강한 색수차 및 글리치 효과. 화면 전</a:t>
            </a:r>
            <a:pPr algn="l" indent="0" marL="0">
              <a:lnSpc>
                <a:spcPts val="1300"/>
              </a:lnSpc>
              <a:buNone/>
            </a:pPr>
            <a:r>
              <a:rPr lang="en-US" sz="834" dirty="0">
                <a:solidFill>
                  <a:srgbClr val="E0E0E0"/>
                </a:solidFill>
              </a:rPr>
              <a:t>체가 붉게 점멸함.</a:t>
            </a:r>
            <a:endParaRPr lang="en-US" sz="784" dirty="0"/>
          </a:p>
        </p:txBody>
      </p:sp>
      <p:pic>
        <p:nvPicPr>
          <p:cNvPr id="34" name="Image 8" descr="preencoded.png">    </p:cNvPr>
          <p:cNvPicPr>
            <a:picLocks noChangeAspect="1"/>
          </p:cNvPicPr>
          <p:nvPr/>
        </p:nvPicPr>
        <p:blipFill>
          <a:blip r:embed="rId9"/>
          <a:stretch>
            <a:fillRect/>
          </a:stretch>
        </p:blipFill>
        <p:spPr>
          <a:xfrm>
            <a:off x="6191231" y="2709602"/>
            <a:ext cx="107156" cy="171450"/>
          </a:xfrm>
          <a:prstGeom prst="rect">
            <a:avLst/>
          </a:prstGeom>
        </p:spPr>
      </p:pic>
      <p:sp>
        <p:nvSpPr>
          <p:cNvPr id="35" name="Text 24"/>
          <p:cNvSpPr/>
          <p:nvPr/>
        </p:nvSpPr>
        <p:spPr>
          <a:xfrm>
            <a:off x="6384113" y="2709602"/>
            <a:ext cx="2188359"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청각:</a:t>
            </a:r>
            <a:pPr algn="l" indent="0" marL="0">
              <a:lnSpc>
                <a:spcPts val="1300"/>
              </a:lnSpc>
              <a:buNone/>
            </a:pPr>
            <a:r>
              <a:rPr lang="en-US" sz="834" dirty="0">
                <a:solidFill>
                  <a:srgbClr val="E0E0E0"/>
                </a:solidFill>
              </a:rPr>
              <a:t> 기괴하게 왜곡된 사운드. 환청과 같은 </a:t>
            </a:r>
            <a:pPr algn="l" indent="0" marL="0">
              <a:lnSpc>
                <a:spcPts val="1300"/>
              </a:lnSpc>
              <a:buNone/>
            </a:pPr>
            <a:r>
              <a:rPr lang="en-US" sz="834" dirty="0">
                <a:solidFill>
                  <a:srgbClr val="E0E0E0"/>
                </a:solidFill>
              </a:rPr>
              <a:t>효과음이 반복됨.</a:t>
            </a:r>
            <a:endParaRPr lang="en-US" sz="784" dirty="0"/>
          </a:p>
        </p:txBody>
      </p:sp>
      <p:pic>
        <p:nvPicPr>
          <p:cNvPr id="36" name="Image 9" descr="preencoded.png">    </p:cNvPr>
          <p:cNvPicPr>
            <a:picLocks noChangeAspect="1"/>
          </p:cNvPicPr>
          <p:nvPr/>
        </p:nvPicPr>
        <p:blipFill>
          <a:blip r:embed="rId10"/>
          <a:stretch>
            <a:fillRect/>
          </a:stretch>
        </p:blipFill>
        <p:spPr>
          <a:xfrm>
            <a:off x="6191231" y="3145706"/>
            <a:ext cx="142875" cy="171450"/>
          </a:xfrm>
          <a:prstGeom prst="rect">
            <a:avLst/>
          </a:prstGeom>
        </p:spPr>
      </p:pic>
      <p:sp>
        <p:nvSpPr>
          <p:cNvPr id="37" name="Text 25"/>
          <p:cNvSpPr/>
          <p:nvPr/>
        </p:nvSpPr>
        <p:spPr>
          <a:xfrm>
            <a:off x="6419831" y="3145706"/>
            <a:ext cx="2152641" cy="328947"/>
          </a:xfrm>
          <a:prstGeom prst="rect">
            <a:avLst/>
          </a:prstGeom>
          <a:noFill/>
          <a:ln/>
        </p:spPr>
        <p:txBody>
          <a:bodyPr wrap="square" lIns="0" tIns="0" rIns="0" bIns="0" rtlCol="0" anchor="t">
            <a:spAutoFit/>
          </a:bodyPr>
          <a:lstStyle/>
          <a:p>
            <a:pPr algn="l" indent="0" marL="0">
              <a:lnSpc>
                <a:spcPts val="1300"/>
              </a:lnSpc>
              <a:buNone/>
            </a:pPr>
            <a:r>
              <a:rPr lang="en-US" sz="784" b="1" dirty="0">
                <a:solidFill>
                  <a:srgbClr val="FFD700"/>
                </a:solidFill>
              </a:rPr>
              <a:t>플레이:</a:t>
            </a:r>
            <a:pPr algn="l" indent="0" marL="0">
              <a:lnSpc>
                <a:spcPts val="1300"/>
              </a:lnSpc>
              <a:buNone/>
            </a:pPr>
            <a:r>
              <a:rPr lang="en-US" sz="834" dirty="0">
                <a:solidFill>
                  <a:srgbClr val="E0E0E0"/>
                </a:solidFill>
              </a:rPr>
              <a:t> 조작 불능 상태 빈번 발생. '거절' 선</a:t>
            </a:r>
            <a:pPr algn="l" indent="0" marL="0">
              <a:lnSpc>
                <a:spcPts val="1300"/>
              </a:lnSpc>
              <a:buNone/>
            </a:pPr>
            <a:r>
              <a:rPr lang="en-US" sz="834" dirty="0">
                <a:solidFill>
                  <a:srgbClr val="E0E0E0"/>
                </a:solidFill>
              </a:rPr>
              <a:t>택지가 강제로 차단됨.</a:t>
            </a:r>
            <a:endParaRPr lang="en-US" sz="784"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설계: 선택과 해석</a:t>
            </a:r>
            <a:endParaRPr lang="en-US" sz="1808" dirty="0"/>
          </a:p>
        </p:txBody>
      </p:sp>
      <p:sp>
        <p:nvSpPr>
          <p:cNvPr id="5" name="Shape 2"/>
          <p:cNvSpPr/>
          <p:nvPr/>
        </p:nvSpPr>
        <p:spPr>
          <a:xfrm>
            <a:off x="428625" y="987623"/>
            <a:ext cx="8286750" cy="600075"/>
          </a:xfrm>
          <a:prstGeom prst="rect">
            <a:avLst/>
          </a:prstGeom>
          <a:solidFill>
            <a:srgbClr val="FFD700">
              <a:alpha val="10000"/>
            </a:srgbClr>
          </a:solidFill>
          <a:ln/>
        </p:spPr>
      </p:sp>
      <p:sp>
        <p:nvSpPr>
          <p:cNvPr id="6" name="Shape 3"/>
          <p:cNvSpPr/>
          <p:nvPr/>
        </p:nvSpPr>
        <p:spPr>
          <a:xfrm>
            <a:off x="428625" y="987623"/>
            <a:ext cx="42863" cy="600075"/>
          </a:xfrm>
          <a:prstGeom prst="rect">
            <a:avLst/>
          </a:prstGeom>
          <a:solidFill>
            <a:srgbClr val="FFD700"/>
          </a:solidFill>
          <a:ln/>
        </p:spPr>
      </p:sp>
      <p:sp>
        <p:nvSpPr>
          <p:cNvPr id="7" name="Text 4"/>
          <p:cNvSpPr/>
          <p:nvPr/>
        </p:nvSpPr>
        <p:spPr>
          <a:xfrm>
            <a:off x="428625" y="987623"/>
            <a:ext cx="8286750" cy="600075"/>
          </a:xfrm>
          <a:prstGeom prst="rect">
            <a:avLst/>
          </a:prstGeom>
          <a:noFill/>
          <a:ln/>
        </p:spPr>
        <p:txBody>
          <a:bodyPr wrap="square" lIns="127508" tIns="127508" rIns="127508" bIns="127508" rtlCol="0" anchor="t">
            <a:spAutoFit/>
          </a:bodyPr>
          <a:lstStyle/>
          <a:p>
            <a:pPr algn="l" indent="0" marL="0">
              <a:lnSpc>
                <a:spcPts val="1500"/>
              </a:lnSpc>
              <a:buNone/>
            </a:pPr>
            <a:r>
              <a:rPr lang="en-US" sz="885" b="1" dirty="0">
                <a:solidFill>
                  <a:srgbClr val="FFD700"/>
                </a:solidFill>
              </a:rPr>
              <a:t>자아 마모도 연동 시스템:</a:t>
            </a:r>
            <a:pPr algn="l" indent="0" marL="0">
              <a:lnSpc>
                <a:spcPts val="1500"/>
              </a:lnSpc>
              <a:buNone/>
            </a:pPr>
            <a:r>
              <a:rPr lang="en-US" sz="942" dirty="0">
                <a:solidFill>
                  <a:srgbClr val="FFFFFF"/>
                </a:solidFill>
              </a:rPr>
              <a:t> 주인공의 심리적 소모 상태에 따라 </a:t>
            </a:r>
            <a:pPr algn="l" indent="0" marL="0">
              <a:lnSpc>
                <a:spcPts val="1500"/>
              </a:lnSpc>
              <a:buNone/>
            </a:pPr>
            <a:r>
              <a:rPr lang="en-US" sz="885" b="1" dirty="0">
                <a:solidFill>
                  <a:srgbClr val="FFD700"/>
                </a:solidFill>
              </a:rPr>
              <a:t>내면 독백</a:t>
            </a:r>
            <a:pPr algn="l" indent="0" marL="0">
              <a:lnSpc>
                <a:spcPts val="1500"/>
              </a:lnSpc>
              <a:buNone/>
            </a:pPr>
            <a:r>
              <a:rPr lang="en-US" sz="942" dirty="0">
                <a:solidFill>
                  <a:srgbClr val="FFFFFF"/>
                </a:solidFill>
              </a:rPr>
              <a:t>과 </a:t>
            </a:r>
            <a:pPr algn="l" indent="0" marL="0">
              <a:lnSpc>
                <a:spcPts val="1500"/>
              </a:lnSpc>
              <a:buNone/>
            </a:pPr>
            <a:r>
              <a:rPr lang="en-US" sz="885" b="1" dirty="0">
                <a:solidFill>
                  <a:srgbClr val="FFD700"/>
                </a:solidFill>
              </a:rPr>
              <a:t>외부 선택지</a:t>
            </a:r>
            <a:pPr algn="l" indent="0" marL="0">
              <a:lnSpc>
                <a:spcPts val="1500"/>
              </a:lnSpc>
              <a:buNone/>
            </a:pPr>
            <a:r>
              <a:rPr lang="en-US" sz="942" dirty="0">
                <a:solidFill>
                  <a:srgbClr val="FFFFFF"/>
                </a:solidFill>
              </a:rPr>
              <a:t>가 실시간으로 변화하여 플레이어에게 주인공의 심리 변화를 직접적</a:t>
            </a:r>
            <a:pPr algn="l" indent="0" marL="0">
              <a:lnSpc>
                <a:spcPts val="1500"/>
              </a:lnSpc>
              <a:buNone/>
            </a:pPr>
            <a:r>
              <a:rPr lang="en-US" sz="942" dirty="0">
                <a:solidFill>
                  <a:srgbClr val="FFFFFF"/>
                </a:solidFill>
              </a:rPr>
              <a:t>으로 전달합니다.</a:t>
            </a:r>
            <a:endParaRPr lang="en-US" sz="885" dirty="0"/>
          </a:p>
        </p:txBody>
      </p:sp>
      <p:sp>
        <p:nvSpPr>
          <p:cNvPr id="8" name="Shape 5"/>
          <p:cNvSpPr/>
          <p:nvPr/>
        </p:nvSpPr>
        <p:spPr>
          <a:xfrm>
            <a:off x="428625" y="1802011"/>
            <a:ext cx="4036219" cy="2728913"/>
          </a:xfrm>
          <a:prstGeom prst="rect">
            <a:avLst/>
          </a:prstGeom>
          <a:solidFill>
            <a:srgbClr val="FFFFFF">
              <a:alpha val="5000"/>
            </a:srgbClr>
          </a:solidFill>
          <a:ln w="27432">
            <a:solidFill>
              <a:srgbClr val="00CED1"/>
            </a:solidFill>
            <a:prstDash val="solid"/>
          </a:ln>
        </p:spPr>
      </p:sp>
      <p:pic>
        <p:nvPicPr>
          <p:cNvPr id="9" name="Image 1" descr="preencoded.png">    </p:cNvPr>
          <p:cNvPicPr>
            <a:picLocks noChangeAspect="1"/>
          </p:cNvPicPr>
          <p:nvPr/>
        </p:nvPicPr>
        <p:blipFill>
          <a:blip r:embed="rId2"/>
          <a:stretch>
            <a:fillRect/>
          </a:stretch>
        </p:blipFill>
        <p:spPr>
          <a:xfrm>
            <a:off x="571500" y="1993106"/>
            <a:ext cx="171450" cy="171450"/>
          </a:xfrm>
          <a:prstGeom prst="rect">
            <a:avLst/>
          </a:prstGeom>
        </p:spPr>
      </p:pic>
      <p:sp>
        <p:nvSpPr>
          <p:cNvPr id="10" name="Text 6"/>
          <p:cNvSpPr/>
          <p:nvPr/>
        </p:nvSpPr>
        <p:spPr>
          <a:xfrm>
            <a:off x="742950" y="1960959"/>
            <a:ext cx="1560044" cy="233958"/>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00CED1"/>
                </a:solidFill>
              </a:rPr>
              <a:t>낮은 마모도 (0~30%)</a:t>
            </a:r>
            <a:endParaRPr lang="en-US" sz="1269" dirty="0"/>
          </a:p>
        </p:txBody>
      </p:sp>
      <p:sp>
        <p:nvSpPr>
          <p:cNvPr id="11" name="Shape 7"/>
          <p:cNvSpPr/>
          <p:nvPr/>
        </p:nvSpPr>
        <p:spPr>
          <a:xfrm>
            <a:off x="3407569" y="2012752"/>
            <a:ext cx="885825" cy="114300"/>
          </a:xfrm>
          <a:prstGeom prst="rect">
            <a:avLst/>
          </a:prstGeom>
          <a:solidFill>
            <a:srgbClr val="333333"/>
          </a:solidFill>
          <a:ln w="18288">
            <a:solidFill>
              <a:srgbClr val="FFFFFF"/>
            </a:solidFill>
            <a:prstDash val="solid"/>
          </a:ln>
        </p:spPr>
      </p:sp>
      <p:sp>
        <p:nvSpPr>
          <p:cNvPr id="12" name="Shape 8"/>
          <p:cNvSpPr/>
          <p:nvPr/>
        </p:nvSpPr>
        <p:spPr>
          <a:xfrm>
            <a:off x="571500" y="2387798"/>
            <a:ext cx="3721894" cy="1114425"/>
          </a:xfrm>
          <a:prstGeom prst="rect">
            <a:avLst/>
          </a:prstGeom>
          <a:solidFill>
            <a:srgbClr val="000000"/>
          </a:solidFill>
          <a:ln w="18288">
            <a:solidFill>
              <a:srgbClr val="FFFFFF"/>
            </a:solidFill>
            <a:prstDash val="solid"/>
          </a:ln>
        </p:spPr>
      </p:sp>
      <p:sp>
        <p:nvSpPr>
          <p:cNvPr id="13" name="Text 9"/>
          <p:cNvSpPr/>
          <p:nvPr/>
        </p:nvSpPr>
        <p:spPr>
          <a:xfrm>
            <a:off x="678656" y="2494955"/>
            <a:ext cx="3507581"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D700"/>
                </a:solidFill>
              </a:rPr>
              <a:t>차한해 (독백)</a:t>
            </a:r>
            <a:endParaRPr lang="en-US" sz="942" dirty="0"/>
          </a:p>
        </p:txBody>
      </p:sp>
      <p:sp>
        <p:nvSpPr>
          <p:cNvPr id="14" name="Text 10"/>
          <p:cNvSpPr/>
          <p:nvPr/>
        </p:nvSpPr>
        <p:spPr>
          <a:xfrm>
            <a:off x="678656" y="2741414"/>
            <a:ext cx="3507581" cy="400050"/>
          </a:xfrm>
          <a:prstGeom prst="rect">
            <a:avLst/>
          </a:prstGeom>
          <a:noFill/>
          <a:ln/>
        </p:spPr>
        <p:txBody>
          <a:bodyPr wrap="square" lIns="0" tIns="0" rIns="0" bIns="0" rtlCol="0" anchor="t">
            <a:spAutoFit/>
          </a:bodyPr>
          <a:lstStyle/>
          <a:p>
            <a:pPr algn="l" indent="0" marL="0">
              <a:lnSpc>
                <a:spcPts val="1600"/>
              </a:lnSpc>
              <a:buNone/>
            </a:pPr>
            <a:r>
              <a:rPr lang="en-US" sz="1050" dirty="0">
                <a:solidFill>
                  <a:srgbClr val="FFFFFF"/>
                </a:solidFill>
              </a:rPr>
              <a:t>"마을 사람들이 나를 믿고 있어. 조금 힘들지만 도와드리는 게 맞겠지."</a:t>
            </a:r>
            <a:endParaRPr lang="en-US" sz="1050" dirty="0"/>
          </a:p>
        </p:txBody>
      </p:sp>
      <p:sp>
        <p:nvSpPr>
          <p:cNvPr id="15" name="Shape 11"/>
          <p:cNvSpPr/>
          <p:nvPr/>
        </p:nvSpPr>
        <p:spPr>
          <a:xfrm>
            <a:off x="571500" y="3566517"/>
            <a:ext cx="3721894" cy="332184"/>
          </a:xfrm>
          <a:prstGeom prst="rect">
            <a:avLst/>
          </a:prstGeom>
          <a:solidFill>
            <a:srgbClr val="FFD700"/>
          </a:solidFill>
          <a:ln w="18288">
            <a:solidFill>
              <a:srgbClr val="000000"/>
            </a:solidFill>
            <a:prstDash val="solid"/>
          </a:ln>
        </p:spPr>
      </p:sp>
      <p:sp>
        <p:nvSpPr>
          <p:cNvPr id="16" name="Text 12"/>
          <p:cNvSpPr/>
          <p:nvPr/>
        </p:nvSpPr>
        <p:spPr>
          <a:xfrm>
            <a:off x="571500" y="3566517"/>
            <a:ext cx="3721894" cy="332184"/>
          </a:xfrm>
          <a:prstGeom prst="rect">
            <a:avLst/>
          </a:prstGeom>
          <a:noFill/>
          <a:ln/>
        </p:spPr>
        <p:txBody>
          <a:bodyPr wrap="square" lIns="127508" tIns="68072" rIns="127508" bIns="68072" rtlCol="0" anchor="t">
            <a:spAutoFit/>
          </a:bodyPr>
          <a:lstStyle/>
          <a:p>
            <a:pPr algn="l" indent="0" marL="0">
              <a:lnSpc>
                <a:spcPts val="1200"/>
              </a:lnSpc>
              <a:buNone/>
            </a:pPr>
            <a:r>
              <a:rPr lang="en-US" sz="942" dirty="0">
                <a:solidFill>
                  <a:srgbClr val="1A0D2E"/>
                </a:solidFill>
              </a:rPr>
              <a:t>▶ 네, 제가 도와드릴게요.</a:t>
            </a:r>
            <a:endParaRPr lang="en-US" sz="942" dirty="0"/>
          </a:p>
        </p:txBody>
      </p:sp>
      <p:sp>
        <p:nvSpPr>
          <p:cNvPr id="17" name="Shape 13"/>
          <p:cNvSpPr/>
          <p:nvPr/>
        </p:nvSpPr>
        <p:spPr>
          <a:xfrm>
            <a:off x="571500" y="3927277"/>
            <a:ext cx="3721894" cy="332184"/>
          </a:xfrm>
          <a:prstGeom prst="rect">
            <a:avLst/>
          </a:prstGeom>
          <a:solidFill>
            <a:srgbClr val="FFFFFF">
              <a:alpha val="10000"/>
            </a:srgbClr>
          </a:solidFill>
          <a:ln w="18288">
            <a:solidFill>
              <a:srgbClr val="FFFFFF"/>
            </a:solidFill>
            <a:prstDash val="solid"/>
          </a:ln>
        </p:spPr>
      </p:sp>
      <p:sp>
        <p:nvSpPr>
          <p:cNvPr id="18" name="Text 14"/>
          <p:cNvSpPr/>
          <p:nvPr/>
        </p:nvSpPr>
        <p:spPr>
          <a:xfrm>
            <a:off x="571500" y="3927277"/>
            <a:ext cx="3721894" cy="332184"/>
          </a:xfrm>
          <a:prstGeom prst="rect">
            <a:avLst/>
          </a:prstGeom>
          <a:noFill/>
          <a:ln/>
        </p:spPr>
        <p:txBody>
          <a:bodyPr wrap="square" lIns="127508" tIns="68072" rIns="127508" bIns="68072" rtlCol="0" anchor="t">
            <a:spAutoFit/>
          </a:bodyPr>
          <a:lstStyle/>
          <a:p>
            <a:pPr algn="l" indent="0" marL="0">
              <a:lnSpc>
                <a:spcPts val="1200"/>
              </a:lnSpc>
              <a:buNone/>
            </a:pPr>
            <a:r>
              <a:rPr lang="en-US" sz="942" dirty="0">
                <a:solidFill>
                  <a:srgbClr val="FFFFFF"/>
                </a:solidFill>
              </a:rPr>
              <a:t>□ 죄송하지만 지금은 어려워요.</a:t>
            </a:r>
            <a:endParaRPr lang="en-US" sz="942" dirty="0"/>
          </a:p>
        </p:txBody>
      </p:sp>
      <p:sp>
        <p:nvSpPr>
          <p:cNvPr id="19" name="Shape 15"/>
          <p:cNvSpPr/>
          <p:nvPr/>
        </p:nvSpPr>
        <p:spPr>
          <a:xfrm>
            <a:off x="4650581" y="1802011"/>
            <a:ext cx="4064794" cy="2728913"/>
          </a:xfrm>
          <a:prstGeom prst="rect">
            <a:avLst/>
          </a:prstGeom>
          <a:solidFill>
            <a:srgbClr val="FF69B4">
              <a:alpha val="5000"/>
            </a:srgbClr>
          </a:solidFill>
          <a:ln w="27432">
            <a:solidFill>
              <a:srgbClr val="FF69B4"/>
            </a:solidFill>
            <a:prstDash val="solid"/>
          </a:ln>
        </p:spPr>
      </p:sp>
      <p:pic>
        <p:nvPicPr>
          <p:cNvPr id="20" name="Image 2" descr="preencoded.png">    </p:cNvPr>
          <p:cNvPicPr>
            <a:picLocks noChangeAspect="1"/>
          </p:cNvPicPr>
          <p:nvPr/>
        </p:nvPicPr>
        <p:blipFill>
          <a:blip r:embed="rId3"/>
          <a:stretch>
            <a:fillRect/>
          </a:stretch>
        </p:blipFill>
        <p:spPr>
          <a:xfrm>
            <a:off x="4822031" y="1993106"/>
            <a:ext cx="171450" cy="171450"/>
          </a:xfrm>
          <a:prstGeom prst="rect">
            <a:avLst/>
          </a:prstGeom>
        </p:spPr>
      </p:pic>
      <p:sp>
        <p:nvSpPr>
          <p:cNvPr id="21" name="Text 16"/>
          <p:cNvSpPr/>
          <p:nvPr/>
        </p:nvSpPr>
        <p:spPr>
          <a:xfrm>
            <a:off x="4993481" y="1960959"/>
            <a:ext cx="1756163" cy="233958"/>
          </a:xfrm>
          <a:prstGeom prst="rect">
            <a:avLst/>
          </a:prstGeom>
          <a:noFill/>
          <a:ln/>
        </p:spPr>
        <p:txBody>
          <a:bodyPr wrap="none" lIns="0" tIns="0" rIns="0" bIns="0" rtlCol="0" anchor="t">
            <a:spAutoFit/>
          </a:bodyPr>
          <a:lstStyle/>
          <a:p>
            <a:pPr algn="l" indent="0" marL="0">
              <a:lnSpc>
                <a:spcPts val="1600"/>
              </a:lnSpc>
              <a:buNone/>
            </a:pPr>
            <a:r>
              <a:rPr lang="en-US" sz="1269" dirty="0">
                <a:solidFill>
                  <a:srgbClr val="FF69B4"/>
                </a:solidFill>
              </a:rPr>
              <a:t>높은 마모도 (70~100%)</a:t>
            </a:r>
            <a:endParaRPr lang="en-US" sz="1269" dirty="0"/>
          </a:p>
        </p:txBody>
      </p:sp>
      <p:sp>
        <p:nvSpPr>
          <p:cNvPr id="22" name="Shape 17"/>
          <p:cNvSpPr/>
          <p:nvPr/>
        </p:nvSpPr>
        <p:spPr>
          <a:xfrm>
            <a:off x="7686675" y="2012752"/>
            <a:ext cx="885825" cy="114300"/>
          </a:xfrm>
          <a:prstGeom prst="rect">
            <a:avLst/>
          </a:prstGeom>
          <a:solidFill>
            <a:srgbClr val="333333"/>
          </a:solidFill>
          <a:ln w="18288">
            <a:solidFill>
              <a:srgbClr val="FFFFFF"/>
            </a:solidFill>
            <a:prstDash val="solid"/>
          </a:ln>
        </p:spPr>
      </p:sp>
      <p:sp>
        <p:nvSpPr>
          <p:cNvPr id="23" name="Shape 18"/>
          <p:cNvSpPr/>
          <p:nvPr/>
        </p:nvSpPr>
        <p:spPr>
          <a:xfrm>
            <a:off x="4822031" y="2387798"/>
            <a:ext cx="3750469" cy="1114425"/>
          </a:xfrm>
          <a:prstGeom prst="rect">
            <a:avLst/>
          </a:prstGeom>
          <a:solidFill>
            <a:srgbClr val="000000"/>
          </a:solidFill>
          <a:ln w="18288">
            <a:solidFill>
              <a:srgbClr val="FF69B4"/>
            </a:solidFill>
            <a:prstDash val="solid"/>
          </a:ln>
        </p:spPr>
      </p:sp>
      <p:sp>
        <p:nvSpPr>
          <p:cNvPr id="24" name="Text 19"/>
          <p:cNvSpPr/>
          <p:nvPr/>
        </p:nvSpPr>
        <p:spPr>
          <a:xfrm>
            <a:off x="4929188" y="2494955"/>
            <a:ext cx="3536156" cy="189309"/>
          </a:xfrm>
          <a:prstGeom prst="rect">
            <a:avLst/>
          </a:prstGeom>
          <a:noFill/>
          <a:ln/>
        </p:spPr>
        <p:txBody>
          <a:bodyPr wrap="none" lIns="0" tIns="0" rIns="0" bIns="0" rtlCol="0" anchor="t">
            <a:spAutoFit/>
          </a:bodyPr>
          <a:lstStyle/>
          <a:p>
            <a:pPr algn="l" indent="0" marL="0">
              <a:lnSpc>
                <a:spcPts val="1200"/>
              </a:lnSpc>
              <a:buNone/>
            </a:pPr>
            <a:r>
              <a:rPr lang="en-US" sz="942" dirty="0">
                <a:solidFill>
                  <a:srgbClr val="FFD700"/>
                </a:solidFill>
              </a:rPr>
              <a:t>차한해 (독백)</a:t>
            </a:r>
            <a:endParaRPr lang="en-US" sz="942" dirty="0"/>
          </a:p>
        </p:txBody>
      </p:sp>
      <p:sp>
        <p:nvSpPr>
          <p:cNvPr id="25" name="Text 20"/>
          <p:cNvSpPr/>
          <p:nvPr/>
        </p:nvSpPr>
        <p:spPr>
          <a:xfrm>
            <a:off x="4929188" y="2741414"/>
            <a:ext cx="3536156" cy="400050"/>
          </a:xfrm>
          <a:prstGeom prst="rect">
            <a:avLst/>
          </a:prstGeom>
          <a:noFill/>
          <a:ln/>
        </p:spPr>
        <p:txBody>
          <a:bodyPr wrap="square" lIns="0" tIns="0" rIns="0" bIns="0" rtlCol="0" anchor="t">
            <a:spAutoFit/>
          </a:bodyPr>
          <a:lstStyle/>
          <a:p>
            <a:pPr algn="l" indent="0" marL="0">
              <a:lnSpc>
                <a:spcPts val="1600"/>
              </a:lnSpc>
              <a:buNone/>
            </a:pPr>
            <a:r>
              <a:rPr lang="en-US" sz="1050" dirty="0">
                <a:solidFill>
                  <a:srgbClr val="FF69B4"/>
                </a:solidFill>
              </a:rPr>
              <a:t>"왜 다들 나한테만... 숨이 막혀. 그냥 다 사라져 버렸으면 좋겠어."</a:t>
            </a:r>
            <a:endParaRPr lang="en-US" sz="1050" dirty="0"/>
          </a:p>
        </p:txBody>
      </p:sp>
      <p:sp>
        <p:nvSpPr>
          <p:cNvPr id="26" name="Shape 21"/>
          <p:cNvSpPr/>
          <p:nvPr/>
        </p:nvSpPr>
        <p:spPr>
          <a:xfrm>
            <a:off x="4822031" y="3566517"/>
            <a:ext cx="3750469" cy="332184"/>
          </a:xfrm>
          <a:prstGeom prst="rect">
            <a:avLst/>
          </a:prstGeom>
          <a:solidFill>
            <a:srgbClr val="FF69B4"/>
          </a:solidFill>
          <a:ln w="18288">
            <a:solidFill>
              <a:srgbClr val="000000"/>
            </a:solidFill>
            <a:prstDash val="solid"/>
          </a:ln>
        </p:spPr>
      </p:sp>
      <p:sp>
        <p:nvSpPr>
          <p:cNvPr id="27" name="Text 22"/>
          <p:cNvSpPr/>
          <p:nvPr/>
        </p:nvSpPr>
        <p:spPr>
          <a:xfrm>
            <a:off x="4822031" y="3566517"/>
            <a:ext cx="3750469" cy="332184"/>
          </a:xfrm>
          <a:prstGeom prst="rect">
            <a:avLst/>
          </a:prstGeom>
          <a:noFill/>
          <a:ln/>
        </p:spPr>
        <p:txBody>
          <a:bodyPr wrap="square" lIns="127508" tIns="68072" rIns="127508" bIns="68072" rtlCol="0" anchor="t">
            <a:spAutoFit/>
          </a:bodyPr>
          <a:lstStyle/>
          <a:p>
            <a:pPr algn="l" indent="0" marL="0">
              <a:lnSpc>
                <a:spcPts val="1200"/>
              </a:lnSpc>
              <a:buNone/>
            </a:pPr>
            <a:r>
              <a:rPr lang="en-US" sz="942" dirty="0">
                <a:solidFill>
                  <a:srgbClr val="FFFFFF"/>
                </a:solidFill>
              </a:rPr>
              <a:t>▶ 알겠어요, 하면 되잖아요. (강제)</a:t>
            </a:r>
            <a:endParaRPr lang="en-US" sz="942" dirty="0"/>
          </a:p>
        </p:txBody>
      </p:sp>
      <p:sp>
        <p:nvSpPr>
          <p:cNvPr id="28" name="Shape 23"/>
          <p:cNvSpPr/>
          <p:nvPr/>
        </p:nvSpPr>
        <p:spPr>
          <a:xfrm>
            <a:off x="4822031" y="3927277"/>
            <a:ext cx="3750469" cy="332184"/>
          </a:xfrm>
          <a:prstGeom prst="rect">
            <a:avLst/>
          </a:prstGeom>
          <a:solidFill>
            <a:srgbClr val="FFFFFF">
              <a:alpha val="5000"/>
            </a:srgbClr>
          </a:solidFill>
          <a:ln w="18288">
            <a:solidFill>
              <a:srgbClr val="FF69B4">
                <a:alpha val="50000"/>
              </a:srgbClr>
            </a:solidFill>
            <a:prstDash val="solid"/>
          </a:ln>
        </p:spPr>
      </p:sp>
      <p:sp>
        <p:nvSpPr>
          <p:cNvPr id="29" name="Text 24"/>
          <p:cNvSpPr/>
          <p:nvPr/>
        </p:nvSpPr>
        <p:spPr>
          <a:xfrm>
            <a:off x="4822031" y="3927277"/>
            <a:ext cx="3750469" cy="332184"/>
          </a:xfrm>
          <a:prstGeom prst="rect">
            <a:avLst/>
          </a:prstGeom>
          <a:noFill/>
          <a:ln/>
        </p:spPr>
        <p:txBody>
          <a:bodyPr wrap="square" lIns="127508" tIns="68072" rIns="127508" bIns="68072" rtlCol="0" anchor="t">
            <a:spAutoFit/>
          </a:bodyPr>
          <a:lstStyle/>
          <a:p>
            <a:pPr algn="l" indent="0" marL="0">
              <a:lnSpc>
                <a:spcPts val="1200"/>
              </a:lnSpc>
              <a:buNone/>
            </a:pPr>
            <a:r>
              <a:rPr lang="en-US" sz="942" strike="sngStrike" dirty="0">
                <a:solidFill>
                  <a:srgbClr val="FF69B4">
                    <a:alpha val="50000"/>
                  </a:srgbClr>
                </a:solidFill>
              </a:rPr>
              <a:t>□ [거절 불가]</a:t>
            </a:r>
            <a:endParaRPr lang="en-US" sz="942"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설계: 결말 전개</a:t>
            </a:r>
            <a:endParaRPr lang="en-US" sz="1808" dirty="0"/>
          </a:p>
        </p:txBody>
      </p:sp>
      <p:sp>
        <p:nvSpPr>
          <p:cNvPr id="5" name="Shape 2"/>
          <p:cNvSpPr/>
          <p:nvPr/>
        </p:nvSpPr>
        <p:spPr>
          <a:xfrm>
            <a:off x="428625" y="1059061"/>
            <a:ext cx="2619384" cy="3771900"/>
          </a:xfrm>
          <a:prstGeom prst="rect">
            <a:avLst/>
          </a:prstGeom>
          <a:solidFill>
            <a:srgbClr val="000000">
              <a:alpha val="50000"/>
            </a:srgbClr>
          </a:solidFill>
          <a:ln w="27432">
            <a:solidFill>
              <a:srgbClr val="FFD700"/>
            </a:solidFill>
            <a:prstDash val="solid"/>
          </a:ln>
        </p:spPr>
      </p:sp>
      <p:sp>
        <p:nvSpPr>
          <p:cNvPr id="6" name="Shape 3"/>
          <p:cNvSpPr/>
          <p:nvPr/>
        </p:nvSpPr>
        <p:spPr>
          <a:xfrm>
            <a:off x="1412063" y="1201936"/>
            <a:ext cx="614363" cy="614363"/>
          </a:xfrm>
          <a:prstGeom prst="rect">
            <a:avLst/>
          </a:prstGeom>
          <a:solidFill>
            <a:srgbClr val="222222"/>
          </a:solidFill>
          <a:ln w="18288">
            <a:solidFill>
              <a:srgbClr val="FFD700"/>
            </a:solidFill>
            <a:prstDash val="solid"/>
          </a:ln>
        </p:spPr>
      </p:sp>
      <p:pic>
        <p:nvPicPr>
          <p:cNvPr id="7" name="Image 1" descr="preencoded.png">    </p:cNvPr>
          <p:cNvPicPr>
            <a:picLocks noChangeAspect="1"/>
          </p:cNvPicPr>
          <p:nvPr/>
        </p:nvPicPr>
        <p:blipFill>
          <a:blip r:embed="rId2"/>
          <a:stretch>
            <a:fillRect/>
          </a:stretch>
        </p:blipFill>
        <p:spPr>
          <a:xfrm>
            <a:off x="1576369" y="1344811"/>
            <a:ext cx="285750" cy="285750"/>
          </a:xfrm>
          <a:prstGeom prst="rect">
            <a:avLst/>
          </a:prstGeom>
        </p:spPr>
      </p:pic>
      <p:sp>
        <p:nvSpPr>
          <p:cNvPr id="8" name="Text 4"/>
          <p:cNvSpPr/>
          <p:nvPr/>
        </p:nvSpPr>
        <p:spPr>
          <a:xfrm>
            <a:off x="571500" y="1916311"/>
            <a:ext cx="2295516" cy="375047"/>
          </a:xfrm>
          <a:prstGeom prst="rect">
            <a:avLst/>
          </a:prstGeom>
          <a:noFill/>
          <a:ln/>
        </p:spPr>
        <p:txBody>
          <a:bodyPr wrap="square" lIns="0" tIns="0" rIns="0" bIns="85090" rtlCol="0" anchor="t">
            <a:spAutoFit/>
          </a:bodyPr>
          <a:lstStyle/>
          <a:p>
            <a:pPr algn="ctr" indent="0" marL="0">
              <a:lnSpc>
                <a:spcPts val="1900"/>
              </a:lnSpc>
              <a:buNone/>
            </a:pPr>
            <a:r>
              <a:rPr lang="en-US" sz="1397" b="1" dirty="0">
                <a:solidFill>
                  <a:srgbClr val="FFD700"/>
                </a:solidFill>
              </a:rPr>
              <a:t>자아의 빛</a:t>
            </a:r>
            <a:endParaRPr lang="en-US" sz="1397" dirty="0"/>
          </a:p>
        </p:txBody>
      </p:sp>
      <p:sp>
        <p:nvSpPr>
          <p:cNvPr id="9" name="Shape 5"/>
          <p:cNvSpPr/>
          <p:nvPr/>
        </p:nvSpPr>
        <p:spPr>
          <a:xfrm>
            <a:off x="1108035" y="2398514"/>
            <a:ext cx="1222446" cy="221456"/>
          </a:xfrm>
          <a:prstGeom prst="rect">
            <a:avLst/>
          </a:prstGeom>
          <a:solidFill>
            <a:srgbClr val="FFD700"/>
          </a:solidFill>
          <a:ln w="18288">
            <a:solidFill>
              <a:srgbClr val="000000"/>
            </a:solidFill>
            <a:prstDash val="solid"/>
          </a:ln>
        </p:spPr>
      </p:sp>
      <p:sp>
        <p:nvSpPr>
          <p:cNvPr id="10" name="Text 6"/>
          <p:cNvSpPr/>
          <p:nvPr/>
        </p:nvSpPr>
        <p:spPr>
          <a:xfrm>
            <a:off x="1108035" y="2398514"/>
            <a:ext cx="1222446" cy="221456"/>
          </a:xfrm>
          <a:prstGeom prst="rect">
            <a:avLst/>
          </a:prstGeom>
          <a:noFill/>
          <a:ln/>
        </p:spPr>
        <p:txBody>
          <a:bodyPr wrap="square" lIns="85090" tIns="17018" rIns="85090" bIns="17018" rtlCol="0" anchor="t">
            <a:spAutoFit/>
          </a:bodyPr>
          <a:lstStyle/>
          <a:p>
            <a:pPr algn="ctr" indent="0" marL="0">
              <a:lnSpc>
                <a:spcPts val="1100"/>
              </a:lnSpc>
              <a:buNone/>
            </a:pPr>
            <a:r>
              <a:rPr lang="en-US" sz="834" dirty="0">
                <a:solidFill>
                  <a:srgbClr val="000000"/>
                </a:solidFill>
              </a:rPr>
              <a:t>자아 마모도 30% 이하</a:t>
            </a:r>
            <a:endParaRPr lang="en-US" sz="834" dirty="0"/>
          </a:p>
        </p:txBody>
      </p:sp>
      <p:sp>
        <p:nvSpPr>
          <p:cNvPr id="11" name="Text 7"/>
          <p:cNvSpPr/>
          <p:nvPr/>
        </p:nvSpPr>
        <p:spPr>
          <a:xfrm>
            <a:off x="571500" y="2734270"/>
            <a:ext cx="2295516" cy="1028588"/>
          </a:xfrm>
          <a:prstGeom prst="rect">
            <a:avLst/>
          </a:prstGeom>
          <a:noFill/>
          <a:ln/>
        </p:spPr>
        <p:txBody>
          <a:bodyPr wrap="square" lIns="0" tIns="0" rIns="0" bIns="0" rtlCol="0" anchor="t">
            <a:spAutoFit/>
          </a:bodyPr>
          <a:lstStyle/>
          <a:p>
            <a:pPr algn="ctr" indent="0" marL="0">
              <a:lnSpc>
                <a:spcPts val="1600"/>
              </a:lnSpc>
              <a:buNone/>
            </a:pPr>
            <a:r>
              <a:rPr lang="en-US" sz="942" dirty="0">
                <a:solidFill>
                  <a:srgbClr val="E0E0E0"/>
                </a:solidFill>
              </a:rPr>
              <a:t>타인의 무리한 기대를 거절하고 자신의 가치를 지켜낸 결말입니다. 주인공은 '착한 아이'라는 굴레에서 벗어나 진정한 자아를 찾고, 자신만의 방식으로 세계를 재건하기 시작합니다.</a:t>
            </a:r>
            <a:endParaRPr lang="en-US" sz="942" dirty="0"/>
          </a:p>
        </p:txBody>
      </p:sp>
      <p:sp>
        <p:nvSpPr>
          <p:cNvPr id="12" name="Shape 8"/>
          <p:cNvSpPr/>
          <p:nvPr/>
        </p:nvSpPr>
        <p:spPr>
          <a:xfrm>
            <a:off x="3224203" y="1059061"/>
            <a:ext cx="2638416" cy="3771900"/>
          </a:xfrm>
          <a:prstGeom prst="rect">
            <a:avLst/>
          </a:prstGeom>
          <a:solidFill>
            <a:srgbClr val="000000">
              <a:alpha val="50000"/>
            </a:srgbClr>
          </a:solidFill>
          <a:ln w="27432">
            <a:solidFill>
              <a:srgbClr val="00CED1"/>
            </a:solidFill>
            <a:prstDash val="solid"/>
          </a:ln>
        </p:spPr>
      </p:sp>
      <p:sp>
        <p:nvSpPr>
          <p:cNvPr id="13" name="Shape 9"/>
          <p:cNvSpPr/>
          <p:nvPr/>
        </p:nvSpPr>
        <p:spPr>
          <a:xfrm>
            <a:off x="4236244" y="1201936"/>
            <a:ext cx="614363" cy="614363"/>
          </a:xfrm>
          <a:prstGeom prst="rect">
            <a:avLst/>
          </a:prstGeom>
          <a:solidFill>
            <a:srgbClr val="222222"/>
          </a:solidFill>
          <a:ln w="18288">
            <a:solidFill>
              <a:srgbClr val="00CED1"/>
            </a:solidFill>
            <a:prstDash val="solid"/>
          </a:ln>
        </p:spPr>
      </p:sp>
      <p:pic>
        <p:nvPicPr>
          <p:cNvPr id="14" name="Image 2" descr="preencoded.png">    </p:cNvPr>
          <p:cNvPicPr>
            <a:picLocks noChangeAspect="1"/>
          </p:cNvPicPr>
          <p:nvPr/>
        </p:nvPicPr>
        <p:blipFill>
          <a:blip r:embed="rId3"/>
          <a:stretch>
            <a:fillRect/>
          </a:stretch>
        </p:blipFill>
        <p:spPr>
          <a:xfrm>
            <a:off x="4364831" y="1344811"/>
            <a:ext cx="357188" cy="285750"/>
          </a:xfrm>
          <a:prstGeom prst="rect">
            <a:avLst/>
          </a:prstGeom>
        </p:spPr>
      </p:pic>
      <p:sp>
        <p:nvSpPr>
          <p:cNvPr id="15" name="Text 10"/>
          <p:cNvSpPr/>
          <p:nvPr/>
        </p:nvSpPr>
        <p:spPr>
          <a:xfrm>
            <a:off x="3386138" y="1916311"/>
            <a:ext cx="2314575" cy="375047"/>
          </a:xfrm>
          <a:prstGeom prst="rect">
            <a:avLst/>
          </a:prstGeom>
          <a:noFill/>
          <a:ln/>
        </p:spPr>
        <p:txBody>
          <a:bodyPr wrap="square" lIns="0" tIns="0" rIns="0" bIns="85090" rtlCol="0" anchor="t">
            <a:spAutoFit/>
          </a:bodyPr>
          <a:lstStyle/>
          <a:p>
            <a:pPr algn="ctr" indent="0" marL="0">
              <a:lnSpc>
                <a:spcPts val="1900"/>
              </a:lnSpc>
              <a:buNone/>
            </a:pPr>
            <a:r>
              <a:rPr lang="en-US" sz="1397" b="1" dirty="0">
                <a:solidFill>
                  <a:srgbClr val="00CED1"/>
                </a:solidFill>
              </a:rPr>
              <a:t>기대의 무게</a:t>
            </a:r>
            <a:endParaRPr lang="en-US" sz="1397" dirty="0"/>
          </a:p>
        </p:txBody>
      </p:sp>
      <p:sp>
        <p:nvSpPr>
          <p:cNvPr id="16" name="Shape 11"/>
          <p:cNvSpPr/>
          <p:nvPr/>
        </p:nvSpPr>
        <p:spPr>
          <a:xfrm>
            <a:off x="3876935" y="2398514"/>
            <a:ext cx="1332979" cy="221456"/>
          </a:xfrm>
          <a:prstGeom prst="rect">
            <a:avLst/>
          </a:prstGeom>
          <a:solidFill>
            <a:srgbClr val="00CED1"/>
          </a:solidFill>
          <a:ln w="18288">
            <a:solidFill>
              <a:srgbClr val="000000"/>
            </a:solidFill>
            <a:prstDash val="solid"/>
          </a:ln>
        </p:spPr>
      </p:sp>
      <p:sp>
        <p:nvSpPr>
          <p:cNvPr id="17" name="Text 12"/>
          <p:cNvSpPr/>
          <p:nvPr/>
        </p:nvSpPr>
        <p:spPr>
          <a:xfrm>
            <a:off x="3876935" y="2398514"/>
            <a:ext cx="1332979" cy="221456"/>
          </a:xfrm>
          <a:prstGeom prst="rect">
            <a:avLst/>
          </a:prstGeom>
          <a:noFill/>
          <a:ln/>
        </p:spPr>
        <p:txBody>
          <a:bodyPr wrap="square" lIns="85090" tIns="17018" rIns="85090" bIns="17018" rtlCol="0" anchor="t">
            <a:spAutoFit/>
          </a:bodyPr>
          <a:lstStyle/>
          <a:p>
            <a:pPr algn="ctr" indent="0" marL="0">
              <a:lnSpc>
                <a:spcPts val="1100"/>
              </a:lnSpc>
              <a:buNone/>
            </a:pPr>
            <a:r>
              <a:rPr lang="en-US" sz="834" dirty="0">
                <a:solidFill>
                  <a:srgbClr val="000000"/>
                </a:solidFill>
              </a:rPr>
              <a:t>자아 마모도 31% ~ 70%</a:t>
            </a:r>
            <a:endParaRPr lang="en-US" sz="834" dirty="0"/>
          </a:p>
        </p:txBody>
      </p:sp>
      <p:sp>
        <p:nvSpPr>
          <p:cNvPr id="18" name="Text 13"/>
          <p:cNvSpPr/>
          <p:nvPr/>
        </p:nvSpPr>
        <p:spPr>
          <a:xfrm>
            <a:off x="3386138" y="2734270"/>
            <a:ext cx="2314575" cy="1028588"/>
          </a:xfrm>
          <a:prstGeom prst="rect">
            <a:avLst/>
          </a:prstGeom>
          <a:noFill/>
          <a:ln/>
        </p:spPr>
        <p:txBody>
          <a:bodyPr wrap="square" lIns="0" tIns="0" rIns="0" bIns="0" rtlCol="0" anchor="t">
            <a:spAutoFit/>
          </a:bodyPr>
          <a:lstStyle/>
          <a:p>
            <a:pPr algn="ctr" indent="0" marL="0">
              <a:lnSpc>
                <a:spcPts val="1600"/>
              </a:lnSpc>
              <a:buNone/>
            </a:pPr>
            <a:r>
              <a:rPr lang="en-US" sz="942" dirty="0">
                <a:solidFill>
                  <a:srgbClr val="E0E0E0"/>
                </a:solidFill>
              </a:rPr>
              <a:t>타인의 기대를 짊어진 채 마을을 지켜내지만, 그 과정에서 자신의 일부를 잃어버린 결말입니다. 주인공은 여전히 '착한 영웅'으로 칭송받지만, 공허함 속에서 타인의 시선에 갇힌 삶을 이어갑니다.</a:t>
            </a:r>
            <a:endParaRPr lang="en-US" sz="942" dirty="0"/>
          </a:p>
        </p:txBody>
      </p:sp>
      <p:sp>
        <p:nvSpPr>
          <p:cNvPr id="19" name="Shape 14"/>
          <p:cNvSpPr/>
          <p:nvPr/>
        </p:nvSpPr>
        <p:spPr>
          <a:xfrm>
            <a:off x="6057900" y="1059061"/>
            <a:ext cx="2657475" cy="3771900"/>
          </a:xfrm>
          <a:prstGeom prst="rect">
            <a:avLst/>
          </a:prstGeom>
          <a:solidFill>
            <a:srgbClr val="000000">
              <a:alpha val="50000"/>
            </a:srgbClr>
          </a:solidFill>
          <a:ln w="27432">
            <a:solidFill>
              <a:srgbClr val="FF69B4"/>
            </a:solidFill>
            <a:prstDash val="solid"/>
          </a:ln>
        </p:spPr>
      </p:sp>
      <p:sp>
        <p:nvSpPr>
          <p:cNvPr id="20" name="Shape 15"/>
          <p:cNvSpPr/>
          <p:nvPr/>
        </p:nvSpPr>
        <p:spPr>
          <a:xfrm>
            <a:off x="7098516" y="1201936"/>
            <a:ext cx="614363" cy="614363"/>
          </a:xfrm>
          <a:prstGeom prst="rect">
            <a:avLst/>
          </a:prstGeom>
          <a:solidFill>
            <a:srgbClr val="222222"/>
          </a:solidFill>
          <a:ln w="18288">
            <a:solidFill>
              <a:srgbClr val="FF69B4"/>
            </a:solidFill>
            <a:prstDash val="solid"/>
          </a:ln>
        </p:spPr>
      </p:sp>
      <p:pic>
        <p:nvPicPr>
          <p:cNvPr id="21" name="Image 3" descr="preencoded.png">    </p:cNvPr>
          <p:cNvPicPr>
            <a:picLocks noChangeAspect="1"/>
          </p:cNvPicPr>
          <p:nvPr/>
        </p:nvPicPr>
        <p:blipFill>
          <a:blip r:embed="rId4"/>
          <a:stretch>
            <a:fillRect/>
          </a:stretch>
        </p:blipFill>
        <p:spPr>
          <a:xfrm>
            <a:off x="7262822" y="1344811"/>
            <a:ext cx="285750" cy="285750"/>
          </a:xfrm>
          <a:prstGeom prst="rect">
            <a:avLst/>
          </a:prstGeom>
        </p:spPr>
      </p:pic>
      <p:sp>
        <p:nvSpPr>
          <p:cNvPr id="22" name="Text 16"/>
          <p:cNvSpPr/>
          <p:nvPr/>
        </p:nvSpPr>
        <p:spPr>
          <a:xfrm>
            <a:off x="6238894" y="1916311"/>
            <a:ext cx="2333634" cy="375047"/>
          </a:xfrm>
          <a:prstGeom prst="rect">
            <a:avLst/>
          </a:prstGeom>
          <a:noFill/>
          <a:ln/>
        </p:spPr>
        <p:txBody>
          <a:bodyPr wrap="square" lIns="0" tIns="0" rIns="0" bIns="85090" rtlCol="0" anchor="t">
            <a:spAutoFit/>
          </a:bodyPr>
          <a:lstStyle/>
          <a:p>
            <a:pPr algn="ctr" indent="0" marL="0">
              <a:lnSpc>
                <a:spcPts val="1900"/>
              </a:lnSpc>
              <a:buNone/>
            </a:pPr>
            <a:r>
              <a:rPr lang="en-US" sz="1397" b="1" dirty="0">
                <a:solidFill>
                  <a:srgbClr val="FF69B4"/>
                </a:solidFill>
              </a:rPr>
              <a:t>마모된 영혼</a:t>
            </a:r>
            <a:endParaRPr lang="en-US" sz="1397" dirty="0"/>
          </a:p>
        </p:txBody>
      </p:sp>
      <p:sp>
        <p:nvSpPr>
          <p:cNvPr id="23" name="Shape 17"/>
          <p:cNvSpPr/>
          <p:nvPr/>
        </p:nvSpPr>
        <p:spPr>
          <a:xfrm>
            <a:off x="6794488" y="2398514"/>
            <a:ext cx="1222446" cy="221456"/>
          </a:xfrm>
          <a:prstGeom prst="rect">
            <a:avLst/>
          </a:prstGeom>
          <a:solidFill>
            <a:srgbClr val="FF69B4"/>
          </a:solidFill>
          <a:ln w="18288">
            <a:solidFill>
              <a:srgbClr val="000000"/>
            </a:solidFill>
            <a:prstDash val="solid"/>
          </a:ln>
        </p:spPr>
      </p:sp>
      <p:sp>
        <p:nvSpPr>
          <p:cNvPr id="24" name="Text 18"/>
          <p:cNvSpPr/>
          <p:nvPr/>
        </p:nvSpPr>
        <p:spPr>
          <a:xfrm>
            <a:off x="6794488" y="2398514"/>
            <a:ext cx="1222446" cy="221456"/>
          </a:xfrm>
          <a:prstGeom prst="rect">
            <a:avLst/>
          </a:prstGeom>
          <a:noFill/>
          <a:ln/>
        </p:spPr>
        <p:txBody>
          <a:bodyPr wrap="square" lIns="85090" tIns="17018" rIns="85090" bIns="17018" rtlCol="0" anchor="t">
            <a:spAutoFit/>
          </a:bodyPr>
          <a:lstStyle/>
          <a:p>
            <a:pPr algn="ctr" indent="0" marL="0">
              <a:lnSpc>
                <a:spcPts val="1100"/>
              </a:lnSpc>
              <a:buNone/>
            </a:pPr>
            <a:r>
              <a:rPr lang="en-US" sz="834" dirty="0">
                <a:solidFill>
                  <a:srgbClr val="000000"/>
                </a:solidFill>
              </a:rPr>
              <a:t>자아 마모도 71% 이상</a:t>
            </a:r>
            <a:endParaRPr lang="en-US" sz="834" dirty="0"/>
          </a:p>
        </p:txBody>
      </p:sp>
      <p:sp>
        <p:nvSpPr>
          <p:cNvPr id="25" name="Text 19"/>
          <p:cNvSpPr/>
          <p:nvPr/>
        </p:nvSpPr>
        <p:spPr>
          <a:xfrm>
            <a:off x="6238894" y="2734270"/>
            <a:ext cx="2333634" cy="1028588"/>
          </a:xfrm>
          <a:prstGeom prst="rect">
            <a:avLst/>
          </a:prstGeom>
          <a:noFill/>
          <a:ln/>
        </p:spPr>
        <p:txBody>
          <a:bodyPr wrap="square" lIns="0" tIns="0" rIns="0" bIns="0" rtlCol="0" anchor="t">
            <a:spAutoFit/>
          </a:bodyPr>
          <a:lstStyle/>
          <a:p>
            <a:pPr algn="ctr" indent="0" marL="0">
              <a:lnSpc>
                <a:spcPts val="1600"/>
              </a:lnSpc>
              <a:buNone/>
            </a:pPr>
            <a:r>
              <a:rPr lang="en-US" sz="942" dirty="0">
                <a:solidFill>
                  <a:srgbClr val="E0E0E0"/>
                </a:solidFill>
              </a:rPr>
              <a:t>끊임없는 요구와 압박에 자아가 완전히 마모되어버린 결말입니다. 주인공은 자신의 의지를 잃고 타인의 기대를 수행하는 기계적인 도구로 전락하며, 결국 세계의 시스템 속으로 흡수되어 사라집니다.</a:t>
            </a:r>
            <a:endParaRPr lang="en-US" sz="942"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72953" cy="544711"/>
          </a:xfrm>
          <a:prstGeom prst="rect">
            <a:avLst/>
          </a:prstGeom>
          <a:solidFill>
            <a:srgbClr val="FFFFFF"/>
          </a:solidFill>
          <a:ln w="27432">
            <a:solidFill>
              <a:srgbClr val="000000"/>
            </a:solidFill>
            <a:prstDash val="solid"/>
          </a:ln>
        </p:spPr>
      </p:sp>
      <p:sp>
        <p:nvSpPr>
          <p:cNvPr id="4" name="Text 1"/>
          <p:cNvSpPr/>
          <p:nvPr/>
        </p:nvSpPr>
        <p:spPr>
          <a:xfrm>
            <a:off x="642938" y="342900"/>
            <a:ext cx="1887178"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분석: SWOT 분석</a:t>
            </a:r>
            <a:endParaRPr lang="en-US" sz="1808" dirty="0"/>
          </a:p>
        </p:txBody>
      </p:sp>
      <p:sp>
        <p:nvSpPr>
          <p:cNvPr id="5" name="Shape 2"/>
          <p:cNvSpPr/>
          <p:nvPr/>
        </p:nvSpPr>
        <p:spPr>
          <a:xfrm>
            <a:off x="428625" y="987623"/>
            <a:ext cx="4100513" cy="1943100"/>
          </a:xfrm>
          <a:prstGeom prst="rect">
            <a:avLst/>
          </a:prstGeom>
          <a:solidFill>
            <a:srgbClr val="FFFFFF">
              <a:alpha val="5000"/>
            </a:srgbClr>
          </a:solidFill>
          <a:ln w="27432">
            <a:solidFill>
              <a:srgbClr val="00CED1"/>
            </a:solidFill>
            <a:prstDash val="solid"/>
          </a:ln>
        </p:spPr>
      </p:sp>
      <p:sp>
        <p:nvSpPr>
          <p:cNvPr id="6" name="Text 3"/>
          <p:cNvSpPr/>
          <p:nvPr/>
        </p:nvSpPr>
        <p:spPr>
          <a:xfrm>
            <a:off x="542925" y="1159966"/>
            <a:ext cx="1156562" cy="273248"/>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FFD700"/>
                </a:solidFill>
              </a:rPr>
              <a:t>STRENGTHS</a:t>
            </a:r>
            <a:endParaRPr lang="en-US" sz="1397" dirty="0"/>
          </a:p>
        </p:txBody>
      </p:sp>
      <p:sp>
        <p:nvSpPr>
          <p:cNvPr id="7" name="Text 4"/>
          <p:cNvSpPr/>
          <p:nvPr/>
        </p:nvSpPr>
        <p:spPr>
          <a:xfrm>
            <a:off x="4257368" y="1101923"/>
            <a:ext cx="157469" cy="389334"/>
          </a:xfrm>
          <a:prstGeom prst="rect">
            <a:avLst/>
          </a:prstGeom>
          <a:noFill/>
          <a:ln/>
        </p:spPr>
        <p:txBody>
          <a:bodyPr wrap="none" lIns="0" tIns="0" rIns="0" bIns="0" rtlCol="0" anchor="t">
            <a:spAutoFit/>
          </a:bodyPr>
          <a:lstStyle/>
          <a:p>
            <a:pPr algn="l" indent="0" marL="0">
              <a:lnSpc>
                <a:spcPts val="2700"/>
              </a:lnSpc>
              <a:buNone/>
            </a:pPr>
            <a:r>
              <a:rPr lang="en-US" sz="2016" b="1" dirty="0">
                <a:solidFill>
                  <a:srgbClr val="FFFFFF">
                    <a:alpha val="30000"/>
                  </a:srgbClr>
                </a:solidFill>
              </a:rPr>
              <a:t>S</a:t>
            </a:r>
            <a:endParaRPr lang="en-US" sz="2016" dirty="0"/>
          </a:p>
        </p:txBody>
      </p:sp>
      <p:pic>
        <p:nvPicPr>
          <p:cNvPr id="8" name="Image 1" descr="preencoded.png">    </p:cNvPr>
          <p:cNvPicPr>
            <a:picLocks noChangeAspect="1"/>
          </p:cNvPicPr>
          <p:nvPr/>
        </p:nvPicPr>
        <p:blipFill>
          <a:blip r:embed="rId2"/>
          <a:stretch>
            <a:fillRect/>
          </a:stretch>
        </p:blipFill>
        <p:spPr>
          <a:xfrm>
            <a:off x="542925" y="1691283"/>
            <a:ext cx="75009" cy="85725"/>
          </a:xfrm>
          <a:prstGeom prst="rect">
            <a:avLst/>
          </a:prstGeom>
        </p:spPr>
      </p:pic>
      <p:sp>
        <p:nvSpPr>
          <p:cNvPr id="9" name="Text 5"/>
          <p:cNvSpPr/>
          <p:nvPr/>
        </p:nvSpPr>
        <p:spPr>
          <a:xfrm>
            <a:off x="689372" y="1648420"/>
            <a:ext cx="2321021"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'자아 마모도'라는 독창적인 심리적 메커니즘</a:t>
            </a:r>
            <a:endParaRPr lang="en-US" sz="942" dirty="0"/>
          </a:p>
        </p:txBody>
      </p:sp>
      <p:pic>
        <p:nvPicPr>
          <p:cNvPr id="10" name="Image 2" descr="preencoded.png">    </p:cNvPr>
          <p:cNvPicPr>
            <a:picLocks noChangeAspect="1"/>
          </p:cNvPicPr>
          <p:nvPr/>
        </p:nvPicPr>
        <p:blipFill>
          <a:blip r:embed="rId3"/>
          <a:stretch>
            <a:fillRect/>
          </a:stretch>
        </p:blipFill>
        <p:spPr>
          <a:xfrm>
            <a:off x="542925" y="1968438"/>
            <a:ext cx="75009" cy="85725"/>
          </a:xfrm>
          <a:prstGeom prst="rect">
            <a:avLst/>
          </a:prstGeom>
        </p:spPr>
      </p:pic>
      <p:sp>
        <p:nvSpPr>
          <p:cNvPr id="11" name="Text 6"/>
          <p:cNvSpPr/>
          <p:nvPr/>
        </p:nvSpPr>
        <p:spPr>
          <a:xfrm>
            <a:off x="689372" y="1925575"/>
            <a:ext cx="229657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감성적이고 몰입감 높은 고퀄리티 픽셀 아트</a:t>
            </a:r>
            <a:endParaRPr lang="en-US" sz="942" dirty="0"/>
          </a:p>
        </p:txBody>
      </p:sp>
      <p:pic>
        <p:nvPicPr>
          <p:cNvPr id="12" name="Image 3" descr="preencoded.png">    </p:cNvPr>
          <p:cNvPicPr>
            <a:picLocks noChangeAspect="1"/>
          </p:cNvPicPr>
          <p:nvPr/>
        </p:nvPicPr>
        <p:blipFill>
          <a:blip r:embed="rId4"/>
          <a:stretch>
            <a:fillRect/>
          </a:stretch>
        </p:blipFill>
        <p:spPr>
          <a:xfrm>
            <a:off x="542925" y="2245593"/>
            <a:ext cx="75009" cy="85725"/>
          </a:xfrm>
          <a:prstGeom prst="rect">
            <a:avLst/>
          </a:prstGeom>
        </p:spPr>
      </p:pic>
      <p:sp>
        <p:nvSpPr>
          <p:cNvPr id="13" name="Text 7"/>
          <p:cNvSpPr/>
          <p:nvPr/>
        </p:nvSpPr>
        <p:spPr>
          <a:xfrm>
            <a:off x="689372" y="2202731"/>
            <a:ext cx="217828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철학적 메시지를 담은 깊이 있는 내러티브</a:t>
            </a:r>
            <a:endParaRPr lang="en-US" sz="942" dirty="0"/>
          </a:p>
        </p:txBody>
      </p:sp>
      <p:sp>
        <p:nvSpPr>
          <p:cNvPr id="14" name="Shape 8"/>
          <p:cNvSpPr/>
          <p:nvPr/>
        </p:nvSpPr>
        <p:spPr>
          <a:xfrm>
            <a:off x="4614863" y="987623"/>
            <a:ext cx="4100513" cy="1943100"/>
          </a:xfrm>
          <a:prstGeom prst="rect">
            <a:avLst/>
          </a:prstGeom>
          <a:solidFill>
            <a:srgbClr val="FFFFFF">
              <a:alpha val="5000"/>
            </a:srgbClr>
          </a:solidFill>
          <a:ln w="27432">
            <a:solidFill>
              <a:srgbClr val="FF69B4"/>
            </a:solidFill>
            <a:prstDash val="solid"/>
          </a:ln>
        </p:spPr>
      </p:sp>
      <p:sp>
        <p:nvSpPr>
          <p:cNvPr id="15" name="Text 9"/>
          <p:cNvSpPr/>
          <p:nvPr/>
        </p:nvSpPr>
        <p:spPr>
          <a:xfrm>
            <a:off x="4729163" y="1159966"/>
            <a:ext cx="1293577" cy="273248"/>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FF69B4"/>
                </a:solidFill>
              </a:rPr>
              <a:t>WEAKNESSES</a:t>
            </a:r>
            <a:endParaRPr lang="en-US" sz="1397" dirty="0"/>
          </a:p>
        </p:txBody>
      </p:sp>
      <p:sp>
        <p:nvSpPr>
          <p:cNvPr id="16" name="Text 10"/>
          <p:cNvSpPr/>
          <p:nvPr/>
        </p:nvSpPr>
        <p:spPr>
          <a:xfrm>
            <a:off x="8324729" y="1101923"/>
            <a:ext cx="276346" cy="389334"/>
          </a:xfrm>
          <a:prstGeom prst="rect">
            <a:avLst/>
          </a:prstGeom>
          <a:noFill/>
          <a:ln/>
        </p:spPr>
        <p:txBody>
          <a:bodyPr wrap="none" lIns="0" tIns="0" rIns="0" bIns="0" rtlCol="0" anchor="t">
            <a:spAutoFit/>
          </a:bodyPr>
          <a:lstStyle/>
          <a:p>
            <a:pPr algn="l" indent="0" marL="0">
              <a:lnSpc>
                <a:spcPts val="2700"/>
              </a:lnSpc>
              <a:buNone/>
            </a:pPr>
            <a:r>
              <a:rPr lang="en-US" sz="2016" b="1" dirty="0">
                <a:solidFill>
                  <a:srgbClr val="FFFFFF">
                    <a:alpha val="30000"/>
                  </a:srgbClr>
                </a:solidFill>
              </a:rPr>
              <a:t>W</a:t>
            </a:r>
            <a:endParaRPr lang="en-US" sz="2016" dirty="0"/>
          </a:p>
        </p:txBody>
      </p:sp>
      <p:pic>
        <p:nvPicPr>
          <p:cNvPr id="17" name="Image 4" descr="preencoded.png">    </p:cNvPr>
          <p:cNvPicPr>
            <a:picLocks noChangeAspect="1"/>
          </p:cNvPicPr>
          <p:nvPr/>
        </p:nvPicPr>
        <p:blipFill>
          <a:blip r:embed="rId5"/>
          <a:stretch>
            <a:fillRect/>
          </a:stretch>
        </p:blipFill>
        <p:spPr>
          <a:xfrm>
            <a:off x="4729163" y="1691283"/>
            <a:ext cx="75009" cy="85725"/>
          </a:xfrm>
          <a:prstGeom prst="rect">
            <a:avLst/>
          </a:prstGeom>
        </p:spPr>
      </p:pic>
      <p:sp>
        <p:nvSpPr>
          <p:cNvPr id="18" name="Text 11"/>
          <p:cNvSpPr/>
          <p:nvPr/>
        </p:nvSpPr>
        <p:spPr>
          <a:xfrm>
            <a:off x="4875609" y="1648420"/>
            <a:ext cx="1674735"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신규 IP로서의 낮은 시장 인지도</a:t>
            </a:r>
            <a:endParaRPr lang="en-US" sz="942" dirty="0"/>
          </a:p>
        </p:txBody>
      </p:sp>
      <p:pic>
        <p:nvPicPr>
          <p:cNvPr id="19" name="Image 5" descr="preencoded.png">    </p:cNvPr>
          <p:cNvPicPr>
            <a:picLocks noChangeAspect="1"/>
          </p:cNvPicPr>
          <p:nvPr/>
        </p:nvPicPr>
        <p:blipFill>
          <a:blip r:embed="rId6"/>
          <a:stretch>
            <a:fillRect/>
          </a:stretch>
        </p:blipFill>
        <p:spPr>
          <a:xfrm>
            <a:off x="4729163" y="1968438"/>
            <a:ext cx="75009" cy="85725"/>
          </a:xfrm>
          <a:prstGeom prst="rect">
            <a:avLst/>
          </a:prstGeom>
        </p:spPr>
      </p:pic>
      <p:sp>
        <p:nvSpPr>
          <p:cNvPr id="20" name="Text 12"/>
          <p:cNvSpPr/>
          <p:nvPr/>
        </p:nvSpPr>
        <p:spPr>
          <a:xfrm>
            <a:off x="4875609" y="1925575"/>
            <a:ext cx="209342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소규모 팀의 한정된 개발 리소스 및 예산</a:t>
            </a:r>
            <a:endParaRPr lang="en-US" sz="942" dirty="0"/>
          </a:p>
        </p:txBody>
      </p:sp>
      <p:pic>
        <p:nvPicPr>
          <p:cNvPr id="21" name="Image 6" descr="preencoded.png">    </p:cNvPr>
          <p:cNvPicPr>
            <a:picLocks noChangeAspect="1"/>
          </p:cNvPicPr>
          <p:nvPr/>
        </p:nvPicPr>
        <p:blipFill>
          <a:blip r:embed="rId7"/>
          <a:stretch>
            <a:fillRect/>
          </a:stretch>
        </p:blipFill>
        <p:spPr>
          <a:xfrm>
            <a:off x="4729163" y="2245593"/>
            <a:ext cx="75009" cy="85725"/>
          </a:xfrm>
          <a:prstGeom prst="rect">
            <a:avLst/>
          </a:prstGeom>
        </p:spPr>
      </p:pic>
      <p:sp>
        <p:nvSpPr>
          <p:cNvPr id="22" name="Text 13"/>
          <p:cNvSpPr/>
          <p:nvPr/>
        </p:nvSpPr>
        <p:spPr>
          <a:xfrm>
            <a:off x="4875609" y="2202731"/>
            <a:ext cx="2414894"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내러티브 중심 장르의 상대적으로 좁은 타겟층</a:t>
            </a:r>
            <a:endParaRPr lang="en-US" sz="942" dirty="0"/>
          </a:p>
        </p:txBody>
      </p:sp>
      <p:sp>
        <p:nvSpPr>
          <p:cNvPr id="23" name="Shape 14"/>
          <p:cNvSpPr/>
          <p:nvPr/>
        </p:nvSpPr>
        <p:spPr>
          <a:xfrm>
            <a:off x="428625" y="2959298"/>
            <a:ext cx="4100513" cy="1943100"/>
          </a:xfrm>
          <a:prstGeom prst="rect">
            <a:avLst/>
          </a:prstGeom>
          <a:solidFill>
            <a:srgbClr val="FFFFFF">
              <a:alpha val="5000"/>
            </a:srgbClr>
          </a:solidFill>
          <a:ln w="27432">
            <a:solidFill>
              <a:srgbClr val="FFD700"/>
            </a:solidFill>
            <a:prstDash val="solid"/>
          </a:ln>
        </p:spPr>
      </p:sp>
      <p:sp>
        <p:nvSpPr>
          <p:cNvPr id="24" name="Text 15"/>
          <p:cNvSpPr/>
          <p:nvPr/>
        </p:nvSpPr>
        <p:spPr>
          <a:xfrm>
            <a:off x="542925" y="3131641"/>
            <a:ext cx="1625008" cy="273248"/>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FFD700"/>
                </a:solidFill>
              </a:rPr>
              <a:t>OPPORTUNITIES</a:t>
            </a:r>
            <a:endParaRPr lang="en-US" sz="1397" dirty="0"/>
          </a:p>
        </p:txBody>
      </p:sp>
      <p:sp>
        <p:nvSpPr>
          <p:cNvPr id="25" name="Text 16"/>
          <p:cNvSpPr/>
          <p:nvPr/>
        </p:nvSpPr>
        <p:spPr>
          <a:xfrm>
            <a:off x="4187354" y="3073598"/>
            <a:ext cx="227484" cy="389334"/>
          </a:xfrm>
          <a:prstGeom prst="rect">
            <a:avLst/>
          </a:prstGeom>
          <a:noFill/>
          <a:ln/>
        </p:spPr>
        <p:txBody>
          <a:bodyPr wrap="none" lIns="0" tIns="0" rIns="0" bIns="0" rtlCol="0" anchor="t">
            <a:spAutoFit/>
          </a:bodyPr>
          <a:lstStyle/>
          <a:p>
            <a:pPr algn="l" indent="0" marL="0">
              <a:lnSpc>
                <a:spcPts val="2700"/>
              </a:lnSpc>
              <a:buNone/>
            </a:pPr>
            <a:r>
              <a:rPr lang="en-US" sz="2016" b="1" dirty="0">
                <a:solidFill>
                  <a:srgbClr val="FFFFFF">
                    <a:alpha val="30000"/>
                  </a:srgbClr>
                </a:solidFill>
              </a:rPr>
              <a:t>O</a:t>
            </a:r>
            <a:endParaRPr lang="en-US" sz="2016" dirty="0"/>
          </a:p>
        </p:txBody>
      </p:sp>
      <p:pic>
        <p:nvPicPr>
          <p:cNvPr id="26" name="Image 7" descr="preencoded.png">    </p:cNvPr>
          <p:cNvPicPr>
            <a:picLocks noChangeAspect="1"/>
          </p:cNvPicPr>
          <p:nvPr/>
        </p:nvPicPr>
        <p:blipFill>
          <a:blip r:embed="rId8"/>
          <a:stretch>
            <a:fillRect/>
          </a:stretch>
        </p:blipFill>
        <p:spPr>
          <a:xfrm>
            <a:off x="542925" y="3662958"/>
            <a:ext cx="64294" cy="85725"/>
          </a:xfrm>
          <a:prstGeom prst="rect">
            <a:avLst/>
          </a:prstGeom>
        </p:spPr>
      </p:pic>
      <p:sp>
        <p:nvSpPr>
          <p:cNvPr id="27" name="Text 17"/>
          <p:cNvSpPr/>
          <p:nvPr/>
        </p:nvSpPr>
        <p:spPr>
          <a:xfrm>
            <a:off x="678656" y="3620095"/>
            <a:ext cx="2059995"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글로벌 인디 게임 시장의 지속적인 성장</a:t>
            </a:r>
            <a:endParaRPr lang="en-US" sz="942" dirty="0"/>
          </a:p>
        </p:txBody>
      </p:sp>
      <p:pic>
        <p:nvPicPr>
          <p:cNvPr id="28" name="Image 8" descr="preencoded.png">    </p:cNvPr>
          <p:cNvPicPr>
            <a:picLocks noChangeAspect="1"/>
          </p:cNvPicPr>
          <p:nvPr/>
        </p:nvPicPr>
        <p:blipFill>
          <a:blip r:embed="rId9"/>
          <a:stretch>
            <a:fillRect/>
          </a:stretch>
        </p:blipFill>
        <p:spPr>
          <a:xfrm>
            <a:off x="542925" y="3940113"/>
            <a:ext cx="64294" cy="85725"/>
          </a:xfrm>
          <a:prstGeom prst="rect">
            <a:avLst/>
          </a:prstGeom>
        </p:spPr>
      </p:pic>
      <p:sp>
        <p:nvSpPr>
          <p:cNvPr id="29" name="Text 18"/>
          <p:cNvSpPr/>
          <p:nvPr/>
        </p:nvSpPr>
        <p:spPr>
          <a:xfrm>
            <a:off x="678656" y="3897250"/>
            <a:ext cx="2246179"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스팀, 콘솔 등 인디 친화적 플랫폼의 활성화</a:t>
            </a:r>
            <a:endParaRPr lang="en-US" sz="942" dirty="0"/>
          </a:p>
        </p:txBody>
      </p:sp>
      <p:pic>
        <p:nvPicPr>
          <p:cNvPr id="30" name="Image 9" descr="preencoded.png">    </p:cNvPr>
          <p:cNvPicPr>
            <a:picLocks noChangeAspect="1"/>
          </p:cNvPicPr>
          <p:nvPr/>
        </p:nvPicPr>
        <p:blipFill>
          <a:blip r:embed="rId10"/>
          <a:stretch>
            <a:fillRect/>
          </a:stretch>
        </p:blipFill>
        <p:spPr>
          <a:xfrm>
            <a:off x="542925" y="4217268"/>
            <a:ext cx="64294" cy="85725"/>
          </a:xfrm>
          <a:prstGeom prst="rect">
            <a:avLst/>
          </a:prstGeom>
        </p:spPr>
      </p:pic>
      <p:sp>
        <p:nvSpPr>
          <p:cNvPr id="31" name="Text 19"/>
          <p:cNvSpPr/>
          <p:nvPr/>
        </p:nvSpPr>
        <p:spPr>
          <a:xfrm>
            <a:off x="678656" y="4174406"/>
            <a:ext cx="260004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독특한 아트 스타일 게임에 대한 유저 선호도 증가</a:t>
            </a:r>
            <a:endParaRPr lang="en-US" sz="942" dirty="0"/>
          </a:p>
        </p:txBody>
      </p:sp>
      <p:sp>
        <p:nvSpPr>
          <p:cNvPr id="32" name="Shape 20"/>
          <p:cNvSpPr/>
          <p:nvPr/>
        </p:nvSpPr>
        <p:spPr>
          <a:xfrm>
            <a:off x="4614863" y="2959298"/>
            <a:ext cx="4100513" cy="1943100"/>
          </a:xfrm>
          <a:prstGeom prst="rect">
            <a:avLst/>
          </a:prstGeom>
          <a:solidFill>
            <a:srgbClr val="FFFFFF">
              <a:alpha val="5000"/>
            </a:srgbClr>
          </a:solidFill>
          <a:ln w="27432">
            <a:solidFill>
              <a:srgbClr val="FF69B4"/>
            </a:solidFill>
            <a:prstDash val="solid"/>
          </a:ln>
        </p:spPr>
      </p:sp>
      <p:sp>
        <p:nvSpPr>
          <p:cNvPr id="33" name="Text 21"/>
          <p:cNvSpPr/>
          <p:nvPr/>
        </p:nvSpPr>
        <p:spPr>
          <a:xfrm>
            <a:off x="4729163" y="3131641"/>
            <a:ext cx="862915" cy="273248"/>
          </a:xfrm>
          <a:prstGeom prst="rect">
            <a:avLst/>
          </a:prstGeom>
          <a:noFill/>
          <a:ln/>
        </p:spPr>
        <p:txBody>
          <a:bodyPr wrap="none" lIns="0" tIns="0" rIns="0" bIns="0" rtlCol="0" anchor="t">
            <a:spAutoFit/>
          </a:bodyPr>
          <a:lstStyle/>
          <a:p>
            <a:pPr algn="l" indent="0" marL="0">
              <a:lnSpc>
                <a:spcPts val="1900"/>
              </a:lnSpc>
              <a:buNone/>
            </a:pPr>
            <a:r>
              <a:rPr lang="en-US" sz="1397" b="1" dirty="0">
                <a:solidFill>
                  <a:srgbClr val="FF69B4"/>
                </a:solidFill>
              </a:rPr>
              <a:t>THREATS</a:t>
            </a:r>
            <a:endParaRPr lang="en-US" sz="1397" dirty="0"/>
          </a:p>
        </p:txBody>
      </p:sp>
      <p:sp>
        <p:nvSpPr>
          <p:cNvPr id="34" name="Text 22"/>
          <p:cNvSpPr/>
          <p:nvPr/>
        </p:nvSpPr>
        <p:spPr>
          <a:xfrm>
            <a:off x="8435625" y="3073598"/>
            <a:ext cx="165450" cy="389334"/>
          </a:xfrm>
          <a:prstGeom prst="rect">
            <a:avLst/>
          </a:prstGeom>
          <a:noFill/>
          <a:ln/>
        </p:spPr>
        <p:txBody>
          <a:bodyPr wrap="none" lIns="0" tIns="0" rIns="0" bIns="0" rtlCol="0" anchor="t">
            <a:spAutoFit/>
          </a:bodyPr>
          <a:lstStyle/>
          <a:p>
            <a:pPr algn="l" indent="0" marL="0">
              <a:lnSpc>
                <a:spcPts val="2700"/>
              </a:lnSpc>
              <a:buNone/>
            </a:pPr>
            <a:r>
              <a:rPr lang="en-US" sz="2016" b="1" dirty="0">
                <a:solidFill>
                  <a:srgbClr val="FFFFFF">
                    <a:alpha val="30000"/>
                  </a:srgbClr>
                </a:solidFill>
              </a:rPr>
              <a:t>T</a:t>
            </a:r>
            <a:endParaRPr lang="en-US" sz="2016" dirty="0"/>
          </a:p>
        </p:txBody>
      </p:sp>
      <p:pic>
        <p:nvPicPr>
          <p:cNvPr id="35" name="Image 10" descr="preencoded.png">    </p:cNvPr>
          <p:cNvPicPr>
            <a:picLocks noChangeAspect="1"/>
          </p:cNvPicPr>
          <p:nvPr/>
        </p:nvPicPr>
        <p:blipFill>
          <a:blip r:embed="rId11"/>
          <a:stretch>
            <a:fillRect/>
          </a:stretch>
        </p:blipFill>
        <p:spPr>
          <a:xfrm>
            <a:off x="4729163" y="3662958"/>
            <a:ext cx="85725" cy="85725"/>
          </a:xfrm>
          <a:prstGeom prst="rect">
            <a:avLst/>
          </a:prstGeom>
        </p:spPr>
      </p:pic>
      <p:sp>
        <p:nvSpPr>
          <p:cNvPr id="36" name="Text 23"/>
          <p:cNvSpPr/>
          <p:nvPr/>
        </p:nvSpPr>
        <p:spPr>
          <a:xfrm>
            <a:off x="4886325" y="3620095"/>
            <a:ext cx="195607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유사한 감성/장르의 경쟁작 대거 출시</a:t>
            </a:r>
            <a:endParaRPr lang="en-US" sz="942" dirty="0"/>
          </a:p>
        </p:txBody>
      </p:sp>
      <p:pic>
        <p:nvPicPr>
          <p:cNvPr id="37" name="Image 11" descr="preencoded.png">    </p:cNvPr>
          <p:cNvPicPr>
            <a:picLocks noChangeAspect="1"/>
          </p:cNvPicPr>
          <p:nvPr/>
        </p:nvPicPr>
        <p:blipFill>
          <a:blip r:embed="rId12"/>
          <a:stretch>
            <a:fillRect/>
          </a:stretch>
        </p:blipFill>
        <p:spPr>
          <a:xfrm>
            <a:off x="4729163" y="3940113"/>
            <a:ext cx="85725" cy="85725"/>
          </a:xfrm>
          <a:prstGeom prst="rect">
            <a:avLst/>
          </a:prstGeom>
        </p:spPr>
      </p:pic>
      <p:sp>
        <p:nvSpPr>
          <p:cNvPr id="38" name="Text 24"/>
          <p:cNvSpPr/>
          <p:nvPr/>
        </p:nvSpPr>
        <p:spPr>
          <a:xfrm>
            <a:off x="4886325" y="3897250"/>
            <a:ext cx="1941677"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빠르게 변화하는 유저 트렌드 및 취향</a:t>
            </a:r>
            <a:endParaRPr lang="en-US" sz="942" dirty="0"/>
          </a:p>
        </p:txBody>
      </p:sp>
      <p:pic>
        <p:nvPicPr>
          <p:cNvPr id="39" name="Image 12" descr="preencoded.png">    </p:cNvPr>
          <p:cNvPicPr>
            <a:picLocks noChangeAspect="1"/>
          </p:cNvPicPr>
          <p:nvPr/>
        </p:nvPicPr>
        <p:blipFill>
          <a:blip r:embed="rId13"/>
          <a:stretch>
            <a:fillRect/>
          </a:stretch>
        </p:blipFill>
        <p:spPr>
          <a:xfrm>
            <a:off x="4729163" y="4217268"/>
            <a:ext cx="85725" cy="85725"/>
          </a:xfrm>
          <a:prstGeom prst="rect">
            <a:avLst/>
          </a:prstGeom>
        </p:spPr>
      </p:pic>
      <p:sp>
        <p:nvSpPr>
          <p:cNvPr id="40" name="Text 25"/>
          <p:cNvSpPr/>
          <p:nvPr/>
        </p:nvSpPr>
        <p:spPr>
          <a:xfrm>
            <a:off x="4886325" y="4174406"/>
            <a:ext cx="221171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FFFFFF"/>
                </a:solidFill>
              </a:rPr>
              <a:t>마케팅 경쟁 심화에 따른 노출 난이도 상승</a:t>
            </a:r>
            <a:endParaRPr lang="en-US" sz="942"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112429" cy="544711"/>
          </a:xfrm>
          <a:prstGeom prst="rect">
            <a:avLst/>
          </a:prstGeom>
          <a:solidFill>
            <a:srgbClr val="FFFFFF"/>
          </a:solidFill>
          <a:ln w="27432">
            <a:solidFill>
              <a:srgbClr val="000000"/>
            </a:solidFill>
            <a:prstDash val="solid"/>
          </a:ln>
        </p:spPr>
      </p:sp>
      <p:sp>
        <p:nvSpPr>
          <p:cNvPr id="4" name="Text 1"/>
          <p:cNvSpPr/>
          <p:nvPr/>
        </p:nvSpPr>
        <p:spPr>
          <a:xfrm>
            <a:off x="642938" y="342900"/>
            <a:ext cx="1626654"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분석: 타겟 분석</a:t>
            </a:r>
            <a:endParaRPr lang="en-US" sz="1808" dirty="0"/>
          </a:p>
        </p:txBody>
      </p:sp>
      <p:sp>
        <p:nvSpPr>
          <p:cNvPr id="5" name="Shape 2"/>
          <p:cNvSpPr/>
          <p:nvPr/>
        </p:nvSpPr>
        <p:spPr>
          <a:xfrm>
            <a:off x="428625" y="1059061"/>
            <a:ext cx="2619384" cy="3143250"/>
          </a:xfrm>
          <a:prstGeom prst="rect">
            <a:avLst/>
          </a:prstGeom>
          <a:solidFill>
            <a:srgbClr val="00CED1">
              <a:alpha val="5000"/>
            </a:srgbClr>
          </a:solidFill>
          <a:ln w="27432">
            <a:solidFill>
              <a:srgbClr val="00CED1"/>
            </a:solidFill>
            <a:prstDash val="solid"/>
          </a:ln>
        </p:spPr>
      </p:sp>
      <p:sp>
        <p:nvSpPr>
          <p:cNvPr id="6" name="Shape 3"/>
          <p:cNvSpPr/>
          <p:nvPr/>
        </p:nvSpPr>
        <p:spPr>
          <a:xfrm>
            <a:off x="1333481" y="1173361"/>
            <a:ext cx="771525" cy="771525"/>
          </a:xfrm>
          <a:prstGeom prst="rect">
            <a:avLst/>
          </a:prstGeom>
          <a:solidFill>
            <a:srgbClr val="000000"/>
          </a:solidFill>
          <a:ln w="27432">
            <a:solidFill>
              <a:srgbClr val="FFFFFF"/>
            </a:solidFill>
            <a:prstDash val="solid"/>
          </a:ln>
        </p:spPr>
      </p:sp>
      <p:sp>
        <p:nvSpPr>
          <p:cNvPr id="7" name="Text 4"/>
          <p:cNvSpPr/>
          <p:nvPr/>
        </p:nvSpPr>
        <p:spPr>
          <a:xfrm>
            <a:off x="542925" y="2016323"/>
            <a:ext cx="2352666" cy="342900"/>
          </a:xfrm>
          <a:prstGeom prst="rect">
            <a:avLst/>
          </a:prstGeom>
          <a:noFill/>
          <a:ln/>
        </p:spPr>
        <p:txBody>
          <a:bodyPr wrap="square" lIns="0" tIns="0" rIns="0" bIns="68072" rtlCol="0" anchor="t">
            <a:spAutoFit/>
          </a:bodyPr>
          <a:lstStyle/>
          <a:p>
            <a:pPr algn="ctr" indent="0" marL="0">
              <a:lnSpc>
                <a:spcPts val="1800"/>
              </a:lnSpc>
              <a:buNone/>
            </a:pPr>
            <a:r>
              <a:rPr lang="en-US" sz="1295" b="1" dirty="0">
                <a:solidFill>
                  <a:srgbClr val="FFD700"/>
                </a:solidFill>
              </a:rPr>
              <a:t>내러티브 탐구자</a:t>
            </a:r>
            <a:endParaRPr lang="en-US" sz="1295" dirty="0"/>
          </a:p>
        </p:txBody>
      </p:sp>
      <p:sp>
        <p:nvSpPr>
          <p:cNvPr id="8" name="Text 5"/>
          <p:cNvSpPr/>
          <p:nvPr/>
        </p:nvSpPr>
        <p:spPr>
          <a:xfrm>
            <a:off x="614363" y="2444948"/>
            <a:ext cx="217828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깊이 있는 스토리와 철학적 메시지를 선호</a:t>
            </a:r>
            <a:endParaRPr lang="en-US" sz="942" dirty="0"/>
          </a:p>
        </p:txBody>
      </p:sp>
      <p:sp>
        <p:nvSpPr>
          <p:cNvPr id="9" name="Text 6"/>
          <p:cNvSpPr/>
          <p:nvPr/>
        </p:nvSpPr>
        <p:spPr>
          <a:xfrm>
            <a:off x="614363" y="2722104"/>
            <a:ext cx="217828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자신의 선택이 세계에 미치는 영향에 몰입</a:t>
            </a:r>
            <a:endParaRPr lang="en-US" sz="942" dirty="0"/>
          </a:p>
        </p:txBody>
      </p:sp>
      <p:sp>
        <p:nvSpPr>
          <p:cNvPr id="10" name="Text 7"/>
          <p:cNvSpPr/>
          <p:nvPr/>
        </p:nvSpPr>
        <p:spPr>
          <a:xfrm>
            <a:off x="614363" y="2999259"/>
            <a:ext cx="217828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멀티 엔딩을 모두 수집하려는 경향이 강함</a:t>
            </a:r>
            <a:endParaRPr lang="en-US" sz="942" dirty="0"/>
          </a:p>
        </p:txBody>
      </p:sp>
      <p:sp>
        <p:nvSpPr>
          <p:cNvPr id="11" name="Shape 8"/>
          <p:cNvSpPr/>
          <p:nvPr/>
        </p:nvSpPr>
        <p:spPr>
          <a:xfrm>
            <a:off x="3224203" y="1059061"/>
            <a:ext cx="2638416" cy="3143250"/>
          </a:xfrm>
          <a:prstGeom prst="rect">
            <a:avLst/>
          </a:prstGeom>
          <a:solidFill>
            <a:srgbClr val="FFD700">
              <a:alpha val="5000"/>
            </a:srgbClr>
          </a:solidFill>
          <a:ln w="27432">
            <a:solidFill>
              <a:srgbClr val="FFD700"/>
            </a:solidFill>
            <a:prstDash val="solid"/>
          </a:ln>
        </p:spPr>
      </p:sp>
      <p:sp>
        <p:nvSpPr>
          <p:cNvPr id="12" name="Shape 9"/>
          <p:cNvSpPr/>
          <p:nvPr/>
        </p:nvSpPr>
        <p:spPr>
          <a:xfrm>
            <a:off x="4157663" y="1173361"/>
            <a:ext cx="771525" cy="771525"/>
          </a:xfrm>
          <a:prstGeom prst="rect">
            <a:avLst/>
          </a:prstGeom>
          <a:solidFill>
            <a:srgbClr val="000000"/>
          </a:solidFill>
          <a:ln w="27432">
            <a:solidFill>
              <a:srgbClr val="FFD700"/>
            </a:solidFill>
            <a:prstDash val="solid"/>
          </a:ln>
        </p:spPr>
      </p:sp>
      <p:sp>
        <p:nvSpPr>
          <p:cNvPr id="13" name="Text 10"/>
          <p:cNvSpPr/>
          <p:nvPr/>
        </p:nvSpPr>
        <p:spPr>
          <a:xfrm>
            <a:off x="3357563" y="2016323"/>
            <a:ext cx="2371725" cy="342900"/>
          </a:xfrm>
          <a:prstGeom prst="rect">
            <a:avLst/>
          </a:prstGeom>
          <a:noFill/>
          <a:ln/>
        </p:spPr>
        <p:txBody>
          <a:bodyPr wrap="square" lIns="0" tIns="0" rIns="0" bIns="68072" rtlCol="0" anchor="t">
            <a:spAutoFit/>
          </a:bodyPr>
          <a:lstStyle/>
          <a:p>
            <a:pPr algn="ctr" indent="0" marL="0">
              <a:lnSpc>
                <a:spcPts val="1800"/>
              </a:lnSpc>
              <a:buNone/>
            </a:pPr>
            <a:r>
              <a:rPr lang="en-US" sz="1295" b="1" dirty="0">
                <a:solidFill>
                  <a:srgbClr val="FFD700"/>
                </a:solidFill>
              </a:rPr>
              <a:t>픽셀 아트 애호가</a:t>
            </a:r>
            <a:endParaRPr lang="en-US" sz="1295" dirty="0"/>
          </a:p>
        </p:txBody>
      </p:sp>
      <p:sp>
        <p:nvSpPr>
          <p:cNvPr id="14" name="Text 11"/>
          <p:cNvSpPr/>
          <p:nvPr/>
        </p:nvSpPr>
        <p:spPr>
          <a:xfrm>
            <a:off x="3429000" y="2444948"/>
            <a:ext cx="217828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레트로 감성과 현대적 연출의 조화를 중시</a:t>
            </a:r>
            <a:endParaRPr lang="en-US" sz="942" dirty="0"/>
          </a:p>
        </p:txBody>
      </p:sp>
      <p:sp>
        <p:nvSpPr>
          <p:cNvPr id="15" name="Text 12"/>
          <p:cNvSpPr/>
          <p:nvPr/>
        </p:nvSpPr>
        <p:spPr>
          <a:xfrm>
            <a:off x="3429000" y="2722104"/>
            <a:ext cx="229657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독창적인 비주얼 스타일의 인디 게임을 탐색</a:t>
            </a:r>
            <a:endParaRPr lang="en-US" sz="942" dirty="0"/>
          </a:p>
        </p:txBody>
      </p:sp>
      <p:sp>
        <p:nvSpPr>
          <p:cNvPr id="16" name="Text 13"/>
          <p:cNvSpPr/>
          <p:nvPr/>
        </p:nvSpPr>
        <p:spPr>
          <a:xfrm>
            <a:off x="3429000" y="2999259"/>
            <a:ext cx="2026565"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게임의 분위기와 아트워크 소장을 즐김</a:t>
            </a:r>
            <a:endParaRPr lang="en-US" sz="942" dirty="0"/>
          </a:p>
        </p:txBody>
      </p:sp>
      <p:sp>
        <p:nvSpPr>
          <p:cNvPr id="17" name="Shape 14"/>
          <p:cNvSpPr/>
          <p:nvPr/>
        </p:nvSpPr>
        <p:spPr>
          <a:xfrm>
            <a:off x="6057900" y="1059061"/>
            <a:ext cx="2657475" cy="3143250"/>
          </a:xfrm>
          <a:prstGeom prst="rect">
            <a:avLst/>
          </a:prstGeom>
          <a:solidFill>
            <a:srgbClr val="FF69B4">
              <a:alpha val="5000"/>
            </a:srgbClr>
          </a:solidFill>
          <a:ln w="27432">
            <a:solidFill>
              <a:srgbClr val="FF69B4"/>
            </a:solidFill>
            <a:prstDash val="solid"/>
          </a:ln>
        </p:spPr>
      </p:sp>
      <p:sp>
        <p:nvSpPr>
          <p:cNvPr id="18" name="Shape 15"/>
          <p:cNvSpPr/>
          <p:nvPr/>
        </p:nvSpPr>
        <p:spPr>
          <a:xfrm>
            <a:off x="7019934" y="1173361"/>
            <a:ext cx="771525" cy="771525"/>
          </a:xfrm>
          <a:prstGeom prst="rect">
            <a:avLst/>
          </a:prstGeom>
          <a:solidFill>
            <a:srgbClr val="000000"/>
          </a:solidFill>
          <a:ln w="27432">
            <a:solidFill>
              <a:srgbClr val="FF69B4"/>
            </a:solidFill>
            <a:prstDash val="solid"/>
          </a:ln>
        </p:spPr>
      </p:sp>
      <p:sp>
        <p:nvSpPr>
          <p:cNvPr id="19" name="Text 16"/>
          <p:cNvSpPr/>
          <p:nvPr/>
        </p:nvSpPr>
        <p:spPr>
          <a:xfrm>
            <a:off x="6210319" y="2016323"/>
            <a:ext cx="2390784" cy="342900"/>
          </a:xfrm>
          <a:prstGeom prst="rect">
            <a:avLst/>
          </a:prstGeom>
          <a:noFill/>
          <a:ln/>
        </p:spPr>
        <p:txBody>
          <a:bodyPr wrap="square" lIns="0" tIns="0" rIns="0" bIns="68072" rtlCol="0" anchor="t">
            <a:spAutoFit/>
          </a:bodyPr>
          <a:lstStyle/>
          <a:p>
            <a:pPr algn="ctr" indent="0" marL="0">
              <a:lnSpc>
                <a:spcPts val="1800"/>
              </a:lnSpc>
              <a:buNone/>
            </a:pPr>
            <a:r>
              <a:rPr lang="en-US" sz="1295" b="1" dirty="0">
                <a:solidFill>
                  <a:srgbClr val="FFD700"/>
                </a:solidFill>
              </a:rPr>
              <a:t>심리 스릴러 팬</a:t>
            </a:r>
            <a:endParaRPr lang="en-US" sz="1295" dirty="0"/>
          </a:p>
        </p:txBody>
      </p:sp>
      <p:sp>
        <p:nvSpPr>
          <p:cNvPr id="20" name="Text 17"/>
          <p:cNvSpPr/>
          <p:nvPr/>
        </p:nvSpPr>
        <p:spPr>
          <a:xfrm>
            <a:off x="6281756" y="2444948"/>
            <a:ext cx="2296576"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긴장감 넘치는 분위기와 심리적 압박을 선호</a:t>
            </a:r>
            <a:endParaRPr lang="en-US" sz="942" dirty="0"/>
          </a:p>
        </p:txBody>
      </p:sp>
      <p:sp>
        <p:nvSpPr>
          <p:cNvPr id="21" name="Text 18"/>
          <p:cNvSpPr/>
          <p:nvPr/>
        </p:nvSpPr>
        <p:spPr>
          <a:xfrm>
            <a:off x="6281756" y="2722104"/>
            <a:ext cx="2236161" cy="205718"/>
          </a:xfrm>
          <a:prstGeom prst="rect">
            <a:avLst/>
          </a:prstGeom>
          <a:noFill/>
          <a:ln/>
        </p:spPr>
        <p:txBody>
          <a:bodyPr wrap="none" lIns="0" tIns="0" rIns="0" bIns="0" rtlCol="0" anchor="t">
            <a:spAutoFit/>
          </a:bodyPr>
          <a:lstStyle/>
          <a:p>
            <a:pPr algn="l" indent="0" marL="0">
              <a:lnSpc>
                <a:spcPts val="1600"/>
              </a:lnSpc>
              <a:buNone/>
            </a:pPr>
            <a:r>
              <a:rPr lang="en-US" sz="942" dirty="0">
                <a:solidFill>
                  <a:srgbClr val="E0E0E0"/>
                </a:solidFill>
              </a:rPr>
              <a:t>'자아 마모도'와 같은 독특한 시스템에 흥미</a:t>
            </a:r>
            <a:endParaRPr lang="en-US" sz="942" dirty="0"/>
          </a:p>
        </p:txBody>
      </p:sp>
      <p:sp>
        <p:nvSpPr>
          <p:cNvPr id="22" name="Text 19"/>
          <p:cNvSpPr/>
          <p:nvPr/>
        </p:nvSpPr>
        <p:spPr>
          <a:xfrm>
            <a:off x="6281756" y="2999259"/>
            <a:ext cx="2319347" cy="411435"/>
          </a:xfrm>
          <a:prstGeom prst="rect">
            <a:avLst/>
          </a:prstGeom>
          <a:noFill/>
          <a:ln/>
        </p:spPr>
        <p:txBody>
          <a:bodyPr wrap="square" lIns="0" tIns="0" rIns="0" bIns="0" rtlCol="0" anchor="t">
            <a:spAutoFit/>
          </a:bodyPr>
          <a:lstStyle/>
          <a:p>
            <a:pPr algn="l" indent="0" marL="0">
              <a:lnSpc>
                <a:spcPts val="1600"/>
              </a:lnSpc>
              <a:buNone/>
            </a:pPr>
            <a:r>
              <a:rPr lang="en-US" sz="942" dirty="0">
                <a:solidFill>
                  <a:srgbClr val="E0E0E0"/>
                </a:solidFill>
              </a:rPr>
              <a:t>인간 본성을 다루는 어두운 테마에 매력을 느낌</a:t>
            </a:r>
            <a:endParaRPr lang="en-US" sz="942" dirty="0"/>
          </a:p>
        </p:txBody>
      </p:sp>
      <p:sp>
        <p:nvSpPr>
          <p:cNvPr id="23" name="Shape 20"/>
          <p:cNvSpPr/>
          <p:nvPr/>
        </p:nvSpPr>
        <p:spPr>
          <a:xfrm>
            <a:off x="428625" y="4430911"/>
            <a:ext cx="8072438" cy="571500"/>
          </a:xfrm>
          <a:prstGeom prst="rect">
            <a:avLst/>
          </a:prstGeom>
          <a:solidFill>
            <a:srgbClr val="FFFFFF">
              <a:alpha val="5000"/>
            </a:srgbClr>
          </a:solidFill>
          <a:ln/>
        </p:spPr>
      </p:sp>
      <p:sp>
        <p:nvSpPr>
          <p:cNvPr id="24" name="Shape 21"/>
          <p:cNvSpPr/>
          <p:nvPr/>
        </p:nvSpPr>
        <p:spPr>
          <a:xfrm>
            <a:off x="428625" y="4430911"/>
            <a:ext cx="42863" cy="571500"/>
          </a:xfrm>
          <a:prstGeom prst="rect">
            <a:avLst/>
          </a:prstGeom>
          <a:solidFill>
            <a:srgbClr val="FFD700"/>
          </a:solidFill>
          <a:ln/>
        </p:spPr>
      </p:sp>
      <p:sp>
        <p:nvSpPr>
          <p:cNvPr id="25" name="Text 22"/>
          <p:cNvSpPr/>
          <p:nvPr/>
        </p:nvSpPr>
        <p:spPr>
          <a:xfrm>
            <a:off x="514350" y="4516636"/>
            <a:ext cx="7858125" cy="400050"/>
          </a:xfrm>
          <a:prstGeom prst="rect">
            <a:avLst/>
          </a:prstGeom>
          <a:noFill/>
          <a:ln/>
        </p:spPr>
        <p:txBody>
          <a:bodyPr wrap="square" lIns="0" tIns="0" rIns="0" bIns="0" rtlCol="0" anchor="t">
            <a:spAutoFit/>
          </a:bodyPr>
          <a:lstStyle/>
          <a:p>
            <a:pPr algn="l" indent="0" marL="0">
              <a:lnSpc>
                <a:spcPts val="1600"/>
              </a:lnSpc>
              <a:buNone/>
            </a:pPr>
            <a:r>
              <a:rPr lang="en-US" sz="1050" dirty="0">
                <a:solidFill>
                  <a:srgbClr val="FFFFFF"/>
                </a:solidFill>
              </a:rPr>
              <a:t>핵심 타겟은 </a:t>
            </a:r>
            <a:pPr algn="l" indent="0" marL="0">
              <a:lnSpc>
                <a:spcPts val="1600"/>
              </a:lnSpc>
              <a:buNone/>
            </a:pPr>
            <a:r>
              <a:rPr lang="en-US" sz="987" b="1" dirty="0">
                <a:solidFill>
                  <a:srgbClr val="FFD700"/>
                </a:solidFill>
              </a:rPr>
              <a:t>2030 세대</a:t>
            </a:r>
            <a:pPr algn="l" indent="0" marL="0">
              <a:lnSpc>
                <a:spcPts val="1600"/>
              </a:lnSpc>
              <a:buNone/>
            </a:pPr>
            <a:r>
              <a:rPr lang="en-US" sz="1050" dirty="0">
                <a:solidFill>
                  <a:srgbClr val="FFFFFF"/>
                </a:solidFill>
              </a:rPr>
              <a:t> 중 스토리 중심의 인디 게임을 즐기며, </a:t>
            </a:r>
            <a:pPr algn="l" indent="0" marL="0">
              <a:lnSpc>
                <a:spcPts val="1600"/>
              </a:lnSpc>
              <a:buNone/>
            </a:pPr>
            <a:r>
              <a:rPr lang="en-US" sz="987" b="1" dirty="0">
                <a:solidFill>
                  <a:srgbClr val="FFD700"/>
                </a:solidFill>
              </a:rPr>
              <a:t>비주얼적 감성</a:t>
            </a:r>
            <a:pPr algn="l" indent="0" marL="0">
              <a:lnSpc>
                <a:spcPts val="1600"/>
              </a:lnSpc>
              <a:buNone/>
            </a:pPr>
            <a:r>
              <a:rPr lang="en-US" sz="1050" dirty="0">
                <a:solidFill>
                  <a:srgbClr val="FFFFFF"/>
                </a:solidFill>
              </a:rPr>
              <a:t>과 </a:t>
            </a:r>
            <a:pPr algn="l" indent="0" marL="0">
              <a:lnSpc>
                <a:spcPts val="1600"/>
              </a:lnSpc>
              <a:buNone/>
            </a:pPr>
            <a:r>
              <a:rPr lang="en-US" sz="987" b="1" dirty="0">
                <a:solidFill>
                  <a:srgbClr val="FFD700"/>
                </a:solidFill>
              </a:rPr>
              <a:t>철학적 깊이</a:t>
            </a:r>
            <a:pPr algn="l" indent="0" marL="0">
              <a:lnSpc>
                <a:spcPts val="1600"/>
              </a:lnSpc>
              <a:buNone/>
            </a:pPr>
            <a:r>
              <a:rPr lang="en-US" sz="1050" dirty="0">
                <a:solidFill>
                  <a:srgbClr val="FFFFFF"/>
                </a:solidFill>
              </a:rPr>
              <a:t>를 동시에 추구하는 유저층입니다. 이들은 </a:t>
            </a:r>
            <a:pPr algn="l" indent="0" marL="0">
              <a:lnSpc>
                <a:spcPts val="1600"/>
              </a:lnSpc>
              <a:buNone/>
            </a:pPr>
            <a:r>
              <a:rPr lang="en-US" sz="1050" dirty="0">
                <a:solidFill>
                  <a:srgbClr val="FFFFFF"/>
                </a:solidFill>
              </a:rPr>
              <a:t>단순한 킬링타임이 아닌, </a:t>
            </a:r>
            <a:pPr algn="l" indent="0" marL="0">
              <a:lnSpc>
                <a:spcPts val="1600"/>
              </a:lnSpc>
              <a:buNone/>
            </a:pPr>
            <a:r>
              <a:rPr lang="en-US" sz="987" b="1" dirty="0">
                <a:solidFill>
                  <a:srgbClr val="FFD700"/>
                </a:solidFill>
              </a:rPr>
              <a:t>'경험'으로서의 게임</a:t>
            </a:r>
            <a:pPr algn="l" indent="0" marL="0">
              <a:lnSpc>
                <a:spcPts val="1600"/>
              </a:lnSpc>
              <a:buNone/>
            </a:pPr>
            <a:r>
              <a:rPr lang="en-US" sz="1050" dirty="0">
                <a:solidFill>
                  <a:srgbClr val="FFFFFF"/>
                </a:solidFill>
              </a:rPr>
              <a:t>을 원합니다.</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28625" y="285750"/>
            <a:ext cx="2349010" cy="544711"/>
          </a:xfrm>
          <a:prstGeom prst="rect">
            <a:avLst/>
          </a:prstGeom>
          <a:solidFill>
            <a:srgbClr val="FFFFFF"/>
          </a:solidFill>
          <a:ln w="27432">
            <a:solidFill>
              <a:srgbClr val="000000"/>
            </a:solidFill>
            <a:prstDash val="solid"/>
          </a:ln>
        </p:spPr>
      </p:sp>
      <p:sp>
        <p:nvSpPr>
          <p:cNvPr id="4" name="Text 1"/>
          <p:cNvSpPr/>
          <p:nvPr/>
        </p:nvSpPr>
        <p:spPr>
          <a:xfrm>
            <a:off x="642938" y="342900"/>
            <a:ext cx="1863235" cy="373261"/>
          </a:xfrm>
          <a:prstGeom prst="rect">
            <a:avLst/>
          </a:prstGeom>
          <a:noFill/>
          <a:ln/>
        </p:spPr>
        <p:txBody>
          <a:bodyPr wrap="none" lIns="0" tIns="0" rIns="0" bIns="0" rtlCol="0" anchor="t">
            <a:spAutoFit/>
          </a:bodyPr>
          <a:lstStyle/>
          <a:p>
            <a:pPr algn="l" indent="0" marL="0">
              <a:lnSpc>
                <a:spcPts val="2400"/>
              </a:lnSpc>
              <a:buNone/>
            </a:pPr>
            <a:r>
              <a:rPr lang="en-US" sz="1808" b="1" dirty="0">
                <a:solidFill>
                  <a:srgbClr val="1A0D2E"/>
                </a:solidFill>
              </a:rPr>
              <a:t>분석: 포지셔닝 맵</a:t>
            </a:r>
            <a:endParaRPr lang="en-US" sz="1808" dirty="0"/>
          </a:p>
        </p:txBody>
      </p:sp>
      <p:sp>
        <p:nvSpPr>
          <p:cNvPr id="5" name="Shape 2"/>
          <p:cNvSpPr/>
          <p:nvPr/>
        </p:nvSpPr>
        <p:spPr>
          <a:xfrm>
            <a:off x="428625" y="916186"/>
            <a:ext cx="4343400" cy="3271838"/>
          </a:xfrm>
          <a:prstGeom prst="rect">
            <a:avLst/>
          </a:prstGeom>
          <a:solidFill>
            <a:srgbClr val="00CED1">
              <a:alpha val="5000"/>
            </a:srgbClr>
          </a:solidFill>
          <a:ln w="27432">
            <a:solidFill>
              <a:srgbClr val="00CED1"/>
            </a:solidFill>
            <a:prstDash val="solid"/>
          </a:ln>
        </p:spPr>
      </p:sp>
      <p:sp>
        <p:nvSpPr>
          <p:cNvPr id="6" name="Shape 3"/>
          <p:cNvSpPr/>
          <p:nvPr/>
        </p:nvSpPr>
        <p:spPr>
          <a:xfrm>
            <a:off x="2193578" y="830461"/>
            <a:ext cx="756345" cy="207169"/>
          </a:xfrm>
          <a:prstGeom prst="rect">
            <a:avLst/>
          </a:prstGeom>
          <a:solidFill>
            <a:srgbClr val="1A0D2E"/>
          </a:solidFill>
          <a:ln w="9144">
            <a:solidFill>
              <a:srgbClr val="00CED1"/>
            </a:solidFill>
            <a:prstDash val="solid"/>
          </a:ln>
        </p:spPr>
      </p:sp>
      <p:sp>
        <p:nvSpPr>
          <p:cNvPr id="7" name="Text 4"/>
          <p:cNvSpPr/>
          <p:nvPr/>
        </p:nvSpPr>
        <p:spPr>
          <a:xfrm>
            <a:off x="2193578" y="830461"/>
            <a:ext cx="756345" cy="207169"/>
          </a:xfrm>
          <a:prstGeom prst="rect">
            <a:avLst/>
          </a:prstGeom>
          <a:noFill/>
          <a:ln/>
        </p:spPr>
        <p:txBody>
          <a:bodyPr wrap="square" lIns="68072" tIns="17018" rIns="68072" bIns="17018" rtlCol="0" anchor="t">
            <a:spAutoFit/>
          </a:bodyPr>
          <a:lstStyle/>
          <a:p>
            <a:pPr algn="l" indent="0" marL="0">
              <a:lnSpc>
                <a:spcPts val="1100"/>
              </a:lnSpc>
              <a:buNone/>
            </a:pPr>
            <a:r>
              <a:rPr lang="en-US" sz="834" dirty="0">
                <a:solidFill>
                  <a:srgbClr val="00CED1"/>
                </a:solidFill>
              </a:rPr>
              <a:t>레트로 / 픽셀</a:t>
            </a:r>
            <a:endParaRPr lang="en-US" sz="834" dirty="0"/>
          </a:p>
        </p:txBody>
      </p:sp>
      <p:sp>
        <p:nvSpPr>
          <p:cNvPr id="8" name="Shape 5"/>
          <p:cNvSpPr/>
          <p:nvPr/>
        </p:nvSpPr>
        <p:spPr>
          <a:xfrm>
            <a:off x="2246165" y="4009430"/>
            <a:ext cx="651170" cy="207169"/>
          </a:xfrm>
          <a:prstGeom prst="rect">
            <a:avLst/>
          </a:prstGeom>
          <a:solidFill>
            <a:srgbClr val="1A0D2E"/>
          </a:solidFill>
          <a:ln w="9144">
            <a:solidFill>
              <a:srgbClr val="00CED1"/>
            </a:solidFill>
            <a:prstDash val="solid"/>
          </a:ln>
        </p:spPr>
      </p:sp>
      <p:sp>
        <p:nvSpPr>
          <p:cNvPr id="9" name="Text 6"/>
          <p:cNvSpPr/>
          <p:nvPr/>
        </p:nvSpPr>
        <p:spPr>
          <a:xfrm>
            <a:off x="2246165" y="4009430"/>
            <a:ext cx="651170" cy="207169"/>
          </a:xfrm>
          <a:prstGeom prst="rect">
            <a:avLst/>
          </a:prstGeom>
          <a:noFill/>
          <a:ln/>
        </p:spPr>
        <p:txBody>
          <a:bodyPr wrap="square" lIns="68072" tIns="17018" rIns="68072" bIns="17018" rtlCol="0" anchor="t">
            <a:spAutoFit/>
          </a:bodyPr>
          <a:lstStyle/>
          <a:p>
            <a:pPr algn="l" indent="0" marL="0">
              <a:lnSpc>
                <a:spcPts val="1100"/>
              </a:lnSpc>
              <a:buNone/>
            </a:pPr>
            <a:r>
              <a:rPr lang="en-US" sz="834" dirty="0">
                <a:solidFill>
                  <a:srgbClr val="00CED1"/>
                </a:solidFill>
              </a:rPr>
              <a:t>모던 / 실사</a:t>
            </a:r>
            <a:endParaRPr lang="en-US" sz="834" dirty="0"/>
          </a:p>
        </p:txBody>
      </p:sp>
      <p:sp>
        <p:nvSpPr>
          <p:cNvPr id="10" name="Shape 7"/>
          <p:cNvSpPr/>
          <p:nvPr/>
        </p:nvSpPr>
        <p:spPr>
          <a:xfrm rot="-5400000">
            <a:off x="235744" y="2441377"/>
            <a:ext cx="450363" cy="164306"/>
          </a:xfrm>
          <a:prstGeom prst="rect">
            <a:avLst/>
          </a:prstGeom>
          <a:solidFill>
            <a:srgbClr val="1A0D2E"/>
          </a:solidFill>
          <a:ln w="9144">
            <a:solidFill>
              <a:srgbClr val="00CED1"/>
            </a:solidFill>
            <a:prstDash val="solid"/>
          </a:ln>
        </p:spPr>
      </p:sp>
      <p:sp>
        <p:nvSpPr>
          <p:cNvPr id="11" name="Text 8"/>
          <p:cNvSpPr/>
          <p:nvPr/>
        </p:nvSpPr>
        <p:spPr>
          <a:xfrm rot="-5400000">
            <a:off x="171450" y="2419945"/>
            <a:ext cx="578951" cy="207169"/>
          </a:xfrm>
          <a:prstGeom prst="rect">
            <a:avLst/>
          </a:prstGeom>
          <a:noFill/>
          <a:ln/>
        </p:spPr>
        <p:txBody>
          <a:bodyPr wrap="square" lIns="68072" tIns="17018" rIns="68072" bIns="17018" rtlCol="0" anchor="t">
            <a:spAutoFit/>
          </a:bodyPr>
          <a:lstStyle/>
          <a:p>
            <a:pPr algn="l" indent="0" marL="0">
              <a:lnSpc>
                <a:spcPts val="1100"/>
              </a:lnSpc>
              <a:buNone/>
            </a:pPr>
            <a:r>
              <a:rPr lang="en-US" sz="834" dirty="0">
                <a:solidFill>
                  <a:srgbClr val="00CED1"/>
                </a:solidFill>
              </a:rPr>
              <a:t>액션 중심</a:t>
            </a:r>
            <a:endParaRPr lang="en-US" sz="834" dirty="0"/>
          </a:p>
        </p:txBody>
      </p:sp>
      <p:sp>
        <p:nvSpPr>
          <p:cNvPr id="12" name="Shape 9"/>
          <p:cNvSpPr/>
          <p:nvPr/>
        </p:nvSpPr>
        <p:spPr>
          <a:xfrm rot="5400000">
            <a:off x="4247099" y="2441377"/>
            <a:ext cx="660658" cy="164306"/>
          </a:xfrm>
          <a:prstGeom prst="rect">
            <a:avLst/>
          </a:prstGeom>
          <a:solidFill>
            <a:srgbClr val="1A0D2E"/>
          </a:solidFill>
          <a:ln w="9144">
            <a:solidFill>
              <a:srgbClr val="00CED1"/>
            </a:solidFill>
            <a:prstDash val="solid"/>
          </a:ln>
        </p:spPr>
      </p:sp>
      <p:sp>
        <p:nvSpPr>
          <p:cNvPr id="13" name="Text 10"/>
          <p:cNvSpPr/>
          <p:nvPr/>
        </p:nvSpPr>
        <p:spPr>
          <a:xfrm rot="5400000">
            <a:off x="4182805" y="2419945"/>
            <a:ext cx="789245" cy="207169"/>
          </a:xfrm>
          <a:prstGeom prst="rect">
            <a:avLst/>
          </a:prstGeom>
          <a:noFill/>
          <a:ln/>
        </p:spPr>
        <p:txBody>
          <a:bodyPr wrap="square" lIns="68072" tIns="17018" rIns="68072" bIns="17018" rtlCol="0" anchor="t">
            <a:spAutoFit/>
          </a:bodyPr>
          <a:lstStyle/>
          <a:p>
            <a:pPr algn="l" indent="0" marL="0">
              <a:lnSpc>
                <a:spcPts val="1100"/>
              </a:lnSpc>
              <a:buNone/>
            </a:pPr>
            <a:r>
              <a:rPr lang="en-US" sz="834" dirty="0">
                <a:solidFill>
                  <a:srgbClr val="00CED1"/>
                </a:solidFill>
              </a:rPr>
              <a:t>내러티브 중심</a:t>
            </a:r>
            <a:endParaRPr lang="en-US" sz="834" dirty="0"/>
          </a:p>
        </p:txBody>
      </p:sp>
      <p:sp>
        <p:nvSpPr>
          <p:cNvPr id="14" name="Text 11"/>
          <p:cNvSpPr/>
          <p:nvPr/>
        </p:nvSpPr>
        <p:spPr>
          <a:xfrm>
            <a:off x="1285875" y="3359348"/>
            <a:ext cx="365950" cy="144661"/>
          </a:xfrm>
          <a:prstGeom prst="rect">
            <a:avLst/>
          </a:prstGeom>
          <a:noFill/>
          <a:ln/>
        </p:spPr>
        <p:txBody>
          <a:bodyPr wrap="none" lIns="0" tIns="0" rIns="0" bIns="0" rtlCol="0" anchor="t">
            <a:spAutoFit/>
          </a:bodyPr>
          <a:lstStyle/>
          <a:p>
            <a:pPr algn="l" indent="0" marL="0">
              <a:lnSpc>
                <a:spcPts val="900"/>
              </a:lnSpc>
              <a:buNone/>
            </a:pPr>
            <a:r>
              <a:rPr lang="en-US" sz="727" dirty="0">
                <a:solidFill>
                  <a:srgbClr val="888888"/>
                </a:solidFill>
              </a:rPr>
              <a:t>경쟁작 A</a:t>
            </a:r>
            <a:endParaRPr lang="en-US" sz="727" dirty="0"/>
          </a:p>
        </p:txBody>
      </p:sp>
      <p:sp>
        <p:nvSpPr>
          <p:cNvPr id="15" name="Text 12"/>
          <p:cNvSpPr/>
          <p:nvPr/>
        </p:nvSpPr>
        <p:spPr>
          <a:xfrm>
            <a:off x="1714500" y="2073473"/>
            <a:ext cx="367066" cy="144661"/>
          </a:xfrm>
          <a:prstGeom prst="rect">
            <a:avLst/>
          </a:prstGeom>
          <a:noFill/>
          <a:ln/>
        </p:spPr>
        <p:txBody>
          <a:bodyPr wrap="none" lIns="0" tIns="0" rIns="0" bIns="0" rtlCol="0" anchor="t">
            <a:spAutoFit/>
          </a:bodyPr>
          <a:lstStyle/>
          <a:p>
            <a:pPr algn="l" indent="0" marL="0">
              <a:lnSpc>
                <a:spcPts val="900"/>
              </a:lnSpc>
              <a:buNone/>
            </a:pPr>
            <a:r>
              <a:rPr lang="en-US" sz="727" dirty="0">
                <a:solidFill>
                  <a:srgbClr val="888888"/>
                </a:solidFill>
              </a:rPr>
              <a:t>경쟁작 B</a:t>
            </a:r>
            <a:endParaRPr lang="en-US" sz="727" dirty="0"/>
          </a:p>
        </p:txBody>
      </p:sp>
      <p:sp>
        <p:nvSpPr>
          <p:cNvPr id="16" name="Text 13"/>
          <p:cNvSpPr/>
          <p:nvPr/>
        </p:nvSpPr>
        <p:spPr>
          <a:xfrm>
            <a:off x="3857625" y="3037880"/>
            <a:ext cx="365252" cy="144661"/>
          </a:xfrm>
          <a:prstGeom prst="rect">
            <a:avLst/>
          </a:prstGeom>
          <a:noFill/>
          <a:ln/>
        </p:spPr>
        <p:txBody>
          <a:bodyPr wrap="none" lIns="0" tIns="0" rIns="0" bIns="0" rtlCol="0" anchor="t">
            <a:spAutoFit/>
          </a:bodyPr>
          <a:lstStyle/>
          <a:p>
            <a:pPr algn="l" indent="0" marL="0">
              <a:lnSpc>
                <a:spcPts val="900"/>
              </a:lnSpc>
              <a:buNone/>
            </a:pPr>
            <a:r>
              <a:rPr lang="en-US" sz="727" dirty="0">
                <a:solidFill>
                  <a:srgbClr val="888888"/>
                </a:solidFill>
              </a:rPr>
              <a:t>경쟁작 C</a:t>
            </a:r>
            <a:endParaRPr lang="en-US" sz="727" dirty="0"/>
          </a:p>
        </p:txBody>
      </p:sp>
      <p:sp>
        <p:nvSpPr>
          <p:cNvPr id="17" name="Shape 14"/>
          <p:cNvSpPr/>
          <p:nvPr/>
        </p:nvSpPr>
        <p:spPr>
          <a:xfrm>
            <a:off x="3705848" y="1559123"/>
            <a:ext cx="300038" cy="300038"/>
          </a:xfrm>
          <a:prstGeom prst="rect">
            <a:avLst/>
          </a:prstGeom>
          <a:solidFill>
            <a:srgbClr val="FFD700"/>
          </a:solidFill>
          <a:ln w="18288">
            <a:solidFill>
              <a:srgbClr val="000000"/>
            </a:solidFill>
            <a:prstDash val="solid"/>
          </a:ln>
        </p:spPr>
      </p:sp>
      <p:pic>
        <p:nvPicPr>
          <p:cNvPr id="18" name="Image 1" descr="preencoded.png">    </p:cNvPr>
          <p:cNvPicPr>
            <a:picLocks noChangeAspect="1"/>
          </p:cNvPicPr>
          <p:nvPr/>
        </p:nvPicPr>
        <p:blipFill>
          <a:blip r:embed="rId2"/>
          <a:stretch>
            <a:fillRect/>
          </a:stretch>
        </p:blipFill>
        <p:spPr>
          <a:xfrm>
            <a:off x="3767463" y="1609130"/>
            <a:ext cx="176808" cy="157163"/>
          </a:xfrm>
          <a:prstGeom prst="rect">
            <a:avLst/>
          </a:prstGeom>
        </p:spPr>
      </p:pic>
      <p:sp>
        <p:nvSpPr>
          <p:cNvPr id="19" name="Text 15"/>
          <p:cNvSpPr/>
          <p:nvPr/>
        </p:nvSpPr>
        <p:spPr>
          <a:xfrm>
            <a:off x="3643313" y="1852017"/>
            <a:ext cx="425137" cy="189309"/>
          </a:xfrm>
          <a:prstGeom prst="rect">
            <a:avLst/>
          </a:prstGeom>
          <a:noFill/>
          <a:ln/>
        </p:spPr>
        <p:txBody>
          <a:bodyPr wrap="none" lIns="0" tIns="0" rIns="0" bIns="0" rtlCol="0" anchor="t">
            <a:spAutoFit/>
          </a:bodyPr>
          <a:lstStyle/>
          <a:p>
            <a:pPr algn="l" indent="0" marL="0">
              <a:lnSpc>
                <a:spcPts val="1200"/>
              </a:lnSpc>
              <a:buNone/>
            </a:pPr>
            <a:r>
              <a:rPr lang="en-US" sz="885" b="1" dirty="0">
                <a:solidFill>
                  <a:srgbClr val="FFD700"/>
                </a:solidFill>
              </a:rPr>
              <a:t>넌 착해!</a:t>
            </a:r>
            <a:endParaRPr lang="en-US" sz="885" dirty="0"/>
          </a:p>
        </p:txBody>
      </p:sp>
      <p:sp>
        <p:nvSpPr>
          <p:cNvPr id="20" name="Shape 16"/>
          <p:cNvSpPr/>
          <p:nvPr/>
        </p:nvSpPr>
        <p:spPr>
          <a:xfrm>
            <a:off x="4929188" y="1137531"/>
            <a:ext cx="3786188" cy="852562"/>
          </a:xfrm>
          <a:prstGeom prst="rect">
            <a:avLst/>
          </a:prstGeom>
          <a:solidFill>
            <a:srgbClr val="FFFFFF">
              <a:alpha val="5000"/>
            </a:srgbClr>
          </a:solidFill>
          <a:ln/>
        </p:spPr>
      </p:sp>
      <p:sp>
        <p:nvSpPr>
          <p:cNvPr id="21" name="Shape 17"/>
          <p:cNvSpPr/>
          <p:nvPr/>
        </p:nvSpPr>
        <p:spPr>
          <a:xfrm>
            <a:off x="4929188" y="1137531"/>
            <a:ext cx="42863" cy="852562"/>
          </a:xfrm>
          <a:prstGeom prst="rect">
            <a:avLst/>
          </a:prstGeom>
          <a:solidFill>
            <a:srgbClr val="FFD700"/>
          </a:solidFill>
          <a:ln/>
        </p:spPr>
      </p:sp>
      <p:sp>
        <p:nvSpPr>
          <p:cNvPr id="22" name="Text 18"/>
          <p:cNvSpPr/>
          <p:nvPr/>
        </p:nvSpPr>
        <p:spPr>
          <a:xfrm>
            <a:off x="5043488" y="1251831"/>
            <a:ext cx="3557588"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독보적 위치 선정</a:t>
            </a:r>
            <a:endParaRPr lang="en-US" sz="1090" dirty="0"/>
          </a:p>
        </p:txBody>
      </p:sp>
      <p:sp>
        <p:nvSpPr>
          <p:cNvPr id="23" name="Text 19"/>
          <p:cNvSpPr/>
          <p:nvPr/>
        </p:nvSpPr>
        <p:spPr>
          <a:xfrm>
            <a:off x="5043488" y="1535795"/>
            <a:ext cx="3557588" cy="339998"/>
          </a:xfrm>
          <a:prstGeom prst="rect">
            <a:avLst/>
          </a:prstGeom>
          <a:noFill/>
          <a:ln/>
        </p:spPr>
        <p:txBody>
          <a:bodyPr wrap="square" lIns="0" tIns="0" rIns="0" bIns="0" rtlCol="0" anchor="t">
            <a:spAutoFit/>
          </a:bodyPr>
          <a:lstStyle/>
          <a:p>
            <a:pPr algn="l" indent="0" marL="0">
              <a:lnSpc>
                <a:spcPts val="1300"/>
              </a:lnSpc>
              <a:buNone/>
            </a:pPr>
            <a:r>
              <a:rPr lang="en-US" sz="834" b="1" dirty="0">
                <a:solidFill>
                  <a:srgbClr val="00CED1"/>
                </a:solidFill>
              </a:rPr>
              <a:t>내러티브</a:t>
            </a:r>
            <a:pPr algn="l" indent="0" marL="0">
              <a:lnSpc>
                <a:spcPts val="1300"/>
              </a:lnSpc>
              <a:buNone/>
            </a:pPr>
            <a:r>
              <a:rPr lang="en-US" sz="888" dirty="0">
                <a:solidFill>
                  <a:srgbClr val="E0E0E0"/>
                </a:solidFill>
              </a:rPr>
              <a:t>와 </a:t>
            </a:r>
            <a:pPr algn="l" indent="0" marL="0">
              <a:lnSpc>
                <a:spcPts val="1300"/>
              </a:lnSpc>
              <a:buNone/>
            </a:pPr>
            <a:r>
              <a:rPr lang="en-US" sz="834" b="1" dirty="0">
                <a:solidFill>
                  <a:srgbClr val="00CED1"/>
                </a:solidFill>
              </a:rPr>
              <a:t>레트로 감성</a:t>
            </a:r>
            <a:pPr algn="l" indent="0" marL="0">
              <a:lnSpc>
                <a:spcPts val="1300"/>
              </a:lnSpc>
              <a:buNone/>
            </a:pPr>
            <a:r>
              <a:rPr lang="en-US" sz="888" dirty="0">
                <a:solidFill>
                  <a:srgbClr val="E0E0E0"/>
                </a:solidFill>
              </a:rPr>
              <a:t>이 결합된 블루오션을 공략합니다. 깊이 있는 </a:t>
            </a:r>
            <a:pPr algn="l" indent="0" marL="0">
              <a:lnSpc>
                <a:spcPts val="1300"/>
              </a:lnSpc>
              <a:buNone/>
            </a:pPr>
            <a:r>
              <a:rPr lang="en-US" sz="888" dirty="0">
                <a:solidFill>
                  <a:srgbClr val="E0E0E0"/>
                </a:solidFill>
              </a:rPr>
              <a:t>심리 묘사가 핵심입니다.</a:t>
            </a:r>
            <a:endParaRPr lang="en-US" sz="834" dirty="0"/>
          </a:p>
        </p:txBody>
      </p:sp>
      <p:sp>
        <p:nvSpPr>
          <p:cNvPr id="24" name="Shape 20"/>
          <p:cNvSpPr/>
          <p:nvPr/>
        </p:nvSpPr>
        <p:spPr>
          <a:xfrm>
            <a:off x="4929188" y="2097249"/>
            <a:ext cx="3786188" cy="852562"/>
          </a:xfrm>
          <a:prstGeom prst="rect">
            <a:avLst/>
          </a:prstGeom>
          <a:solidFill>
            <a:srgbClr val="FFFFFF">
              <a:alpha val="5000"/>
            </a:srgbClr>
          </a:solidFill>
          <a:ln/>
        </p:spPr>
      </p:sp>
      <p:sp>
        <p:nvSpPr>
          <p:cNvPr id="25" name="Shape 21"/>
          <p:cNvSpPr/>
          <p:nvPr/>
        </p:nvSpPr>
        <p:spPr>
          <a:xfrm>
            <a:off x="4929188" y="2097249"/>
            <a:ext cx="42863" cy="852562"/>
          </a:xfrm>
          <a:prstGeom prst="rect">
            <a:avLst/>
          </a:prstGeom>
          <a:solidFill>
            <a:srgbClr val="00CED1"/>
          </a:solidFill>
          <a:ln/>
        </p:spPr>
      </p:sp>
      <p:sp>
        <p:nvSpPr>
          <p:cNvPr id="26" name="Text 22"/>
          <p:cNvSpPr/>
          <p:nvPr/>
        </p:nvSpPr>
        <p:spPr>
          <a:xfrm>
            <a:off x="5043488" y="2211549"/>
            <a:ext cx="3557588"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차별화 경쟁력</a:t>
            </a:r>
            <a:endParaRPr lang="en-US" sz="1090" dirty="0"/>
          </a:p>
        </p:txBody>
      </p:sp>
      <p:sp>
        <p:nvSpPr>
          <p:cNvPr id="27" name="Text 23"/>
          <p:cNvSpPr/>
          <p:nvPr/>
        </p:nvSpPr>
        <p:spPr>
          <a:xfrm>
            <a:off x="5043488" y="2495513"/>
            <a:ext cx="3557588" cy="339998"/>
          </a:xfrm>
          <a:prstGeom prst="rect">
            <a:avLst/>
          </a:prstGeom>
          <a:noFill/>
          <a:ln/>
        </p:spPr>
        <p:txBody>
          <a:bodyPr wrap="square" lIns="0" tIns="0" rIns="0" bIns="0" rtlCol="0" anchor="t">
            <a:spAutoFit/>
          </a:bodyPr>
          <a:lstStyle/>
          <a:p>
            <a:pPr algn="l" indent="0" marL="0">
              <a:lnSpc>
                <a:spcPts val="1300"/>
              </a:lnSpc>
              <a:buNone/>
            </a:pPr>
            <a:r>
              <a:rPr lang="en-US" sz="834" b="1" dirty="0">
                <a:solidFill>
                  <a:srgbClr val="00CED1"/>
                </a:solidFill>
              </a:rPr>
              <a:t>'자아 마모도'</a:t>
            </a:r>
            <a:pPr algn="l" indent="0" marL="0">
              <a:lnSpc>
                <a:spcPts val="1300"/>
              </a:lnSpc>
              <a:buNone/>
            </a:pPr>
            <a:r>
              <a:rPr lang="en-US" sz="888" dirty="0">
                <a:solidFill>
                  <a:srgbClr val="E0E0E0"/>
                </a:solidFill>
              </a:rPr>
              <a:t> 시스템을 통해 유저에게 철학적 질문과 몰입감을 동시에 </a:t>
            </a:r>
            <a:pPr algn="l" indent="0" marL="0">
              <a:lnSpc>
                <a:spcPts val="1300"/>
              </a:lnSpc>
              <a:buNone/>
            </a:pPr>
            <a:r>
              <a:rPr lang="en-US" sz="888" dirty="0">
                <a:solidFill>
                  <a:srgbClr val="E0E0E0"/>
                </a:solidFill>
              </a:rPr>
              <a:t>제공합니다.</a:t>
            </a:r>
            <a:endParaRPr lang="en-US" sz="834" dirty="0"/>
          </a:p>
        </p:txBody>
      </p:sp>
      <p:sp>
        <p:nvSpPr>
          <p:cNvPr id="28" name="Shape 24"/>
          <p:cNvSpPr/>
          <p:nvPr/>
        </p:nvSpPr>
        <p:spPr>
          <a:xfrm>
            <a:off x="4929188" y="3056967"/>
            <a:ext cx="3786188" cy="852562"/>
          </a:xfrm>
          <a:prstGeom prst="rect">
            <a:avLst/>
          </a:prstGeom>
          <a:solidFill>
            <a:srgbClr val="FFFFFF">
              <a:alpha val="5000"/>
            </a:srgbClr>
          </a:solidFill>
          <a:ln/>
        </p:spPr>
      </p:sp>
      <p:sp>
        <p:nvSpPr>
          <p:cNvPr id="29" name="Shape 25"/>
          <p:cNvSpPr/>
          <p:nvPr/>
        </p:nvSpPr>
        <p:spPr>
          <a:xfrm>
            <a:off x="4929188" y="3056967"/>
            <a:ext cx="42863" cy="852562"/>
          </a:xfrm>
          <a:prstGeom prst="rect">
            <a:avLst/>
          </a:prstGeom>
          <a:solidFill>
            <a:srgbClr val="FFD700"/>
          </a:solidFill>
          <a:ln/>
        </p:spPr>
      </p:sp>
      <p:sp>
        <p:nvSpPr>
          <p:cNvPr id="30" name="Text 26"/>
          <p:cNvSpPr/>
          <p:nvPr/>
        </p:nvSpPr>
        <p:spPr>
          <a:xfrm>
            <a:off x="5043488" y="3256266"/>
            <a:ext cx="3557588" cy="226814"/>
          </a:xfrm>
          <a:prstGeom prst="rect">
            <a:avLst/>
          </a:prstGeom>
          <a:noFill/>
          <a:ln/>
        </p:spPr>
        <p:txBody>
          <a:bodyPr wrap="none" lIns="0" tIns="0" rIns="0" bIns="0" rtlCol="0" anchor="t">
            <a:spAutoFit/>
          </a:bodyPr>
          <a:lstStyle/>
          <a:p>
            <a:pPr algn="l" indent="0" marL="0">
              <a:lnSpc>
                <a:spcPts val="1500"/>
              </a:lnSpc>
              <a:buNone/>
            </a:pPr>
            <a:r>
              <a:rPr lang="en-US" sz="1090" b="1" dirty="0">
                <a:solidFill>
                  <a:srgbClr val="FFD700"/>
                </a:solidFill>
              </a:rPr>
              <a:t>시장 타겟팅</a:t>
            </a:r>
            <a:endParaRPr lang="en-US" sz="1090" dirty="0"/>
          </a:p>
        </p:txBody>
      </p:sp>
      <p:sp>
        <p:nvSpPr>
          <p:cNvPr id="31" name="Text 27"/>
          <p:cNvSpPr/>
          <p:nvPr/>
        </p:nvSpPr>
        <p:spPr>
          <a:xfrm>
            <a:off x="5043488" y="3540230"/>
            <a:ext cx="3557588" cy="169999"/>
          </a:xfrm>
          <a:prstGeom prst="rect">
            <a:avLst/>
          </a:prstGeom>
          <a:noFill/>
          <a:ln/>
        </p:spPr>
        <p:txBody>
          <a:bodyPr wrap="none" lIns="0" tIns="0" rIns="0" bIns="0" rtlCol="0" anchor="t">
            <a:spAutoFit/>
          </a:bodyPr>
          <a:lstStyle/>
          <a:p>
            <a:pPr algn="l" indent="0" marL="0">
              <a:lnSpc>
                <a:spcPts val="1300"/>
              </a:lnSpc>
              <a:buNone/>
            </a:pPr>
            <a:r>
              <a:rPr lang="en-US" sz="834" b="1" dirty="0">
                <a:solidFill>
                  <a:srgbClr val="00CED1"/>
                </a:solidFill>
              </a:rPr>
              <a:t>어드벤처 게이머</a:t>
            </a:r>
            <a:pPr algn="l" indent="0" marL="0">
              <a:lnSpc>
                <a:spcPts val="1300"/>
              </a:lnSpc>
              <a:buNone/>
            </a:pPr>
            <a:r>
              <a:rPr lang="en-US" sz="888" dirty="0">
                <a:solidFill>
                  <a:srgbClr val="E0E0E0"/>
                </a:solidFill>
              </a:rPr>
              <a:t>와 </a:t>
            </a:r>
            <a:pPr algn="l" indent="0" marL="0">
              <a:lnSpc>
                <a:spcPts val="1300"/>
              </a:lnSpc>
              <a:buNone/>
            </a:pPr>
            <a:r>
              <a:rPr lang="en-US" sz="834" b="1" dirty="0">
                <a:solidFill>
                  <a:srgbClr val="00CED1"/>
                </a:solidFill>
              </a:rPr>
              <a:t>레트로 팬층</a:t>
            </a:r>
            <a:pPr algn="l" indent="0" marL="0">
              <a:lnSpc>
                <a:spcPts val="1300"/>
              </a:lnSpc>
              <a:buNone/>
            </a:pPr>
            <a:r>
              <a:rPr lang="en-US" sz="888" dirty="0">
                <a:solidFill>
                  <a:srgbClr val="E0E0E0"/>
                </a:solidFill>
              </a:rPr>
              <a:t>을 동시에 흡수할 수 있는 포지션입니</a:t>
            </a:r>
            <a:pPr algn="l" indent="0" marL="0">
              <a:lnSpc>
                <a:spcPts val="1300"/>
              </a:lnSpc>
              <a:buNone/>
            </a:pPr>
            <a:r>
              <a:rPr lang="en-US" sz="888" dirty="0">
                <a:solidFill>
                  <a:srgbClr val="E0E0E0"/>
                </a:solidFill>
              </a:rPr>
              <a:t>다.</a:t>
            </a:r>
            <a:endParaRPr lang="en-US" sz="834"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942975" y="571500"/>
            <a:ext cx="7258050" cy="3401485"/>
          </a:xfrm>
          <a:prstGeom prst="rect">
            <a:avLst/>
          </a:prstGeom>
          <a:solidFill>
            <a:srgbClr val="FFFFFF">
              <a:alpha val="5000"/>
            </a:srgbClr>
          </a:solidFill>
          <a:ln w="54864">
            <a:solidFill>
              <a:srgbClr val="FFD700"/>
            </a:solidFill>
            <a:prstDash val="solid"/>
          </a:ln>
        </p:spPr>
      </p:sp>
      <p:sp>
        <p:nvSpPr>
          <p:cNvPr id="4" name="Text 1"/>
          <p:cNvSpPr/>
          <p:nvPr/>
        </p:nvSpPr>
        <p:spPr>
          <a:xfrm>
            <a:off x="1000125" y="1000125"/>
            <a:ext cx="7143750" cy="466130"/>
          </a:xfrm>
          <a:prstGeom prst="rect">
            <a:avLst/>
          </a:prstGeom>
          <a:noFill/>
          <a:ln/>
        </p:spPr>
        <p:txBody>
          <a:bodyPr wrap="none" lIns="0" tIns="0" rIns="0" bIns="0" rtlCol="0" anchor="t">
            <a:spAutoFit/>
          </a:bodyPr>
          <a:lstStyle/>
          <a:p>
            <a:pPr algn="ctr" indent="0" marL="0">
              <a:lnSpc>
                <a:spcPts val="3200"/>
              </a:lnSpc>
              <a:buNone/>
            </a:pPr>
            <a:r>
              <a:rPr lang="en-US" sz="2436" b="1" dirty="0">
                <a:solidFill>
                  <a:srgbClr val="FFD700"/>
                </a:solidFill>
              </a:rPr>
              <a:t>PROJECT VISION</a:t>
            </a:r>
            <a:endParaRPr lang="en-US" sz="2436" dirty="0"/>
          </a:p>
        </p:txBody>
      </p:sp>
      <p:sp>
        <p:nvSpPr>
          <p:cNvPr id="5" name="Text 2"/>
          <p:cNvSpPr/>
          <p:nvPr/>
        </p:nvSpPr>
        <p:spPr>
          <a:xfrm>
            <a:off x="1000125" y="1680567"/>
            <a:ext cx="7143750" cy="731509"/>
          </a:xfrm>
          <a:prstGeom prst="rect">
            <a:avLst/>
          </a:prstGeom>
          <a:noFill/>
          <a:ln/>
        </p:spPr>
        <p:txBody>
          <a:bodyPr wrap="square" lIns="0" tIns="0" rIns="0" bIns="0" rtlCol="0" anchor="t">
            <a:spAutoFit/>
          </a:bodyPr>
          <a:lstStyle/>
          <a:p>
            <a:pPr algn="ctr" indent="0" marL="0">
              <a:lnSpc>
                <a:spcPts val="2900"/>
              </a:lnSpc>
              <a:buNone/>
            </a:pPr>
            <a:r>
              <a:rPr lang="en-US" sz="1704" dirty="0">
                <a:solidFill>
                  <a:srgbClr val="FFFFFF"/>
                </a:solidFill>
              </a:rPr>
              <a:t>타인의 기대가 아닌,</a:t>
            </a:r>
            <a:pPr algn="ctr" indent="0" marL="0">
              <a:lnSpc>
                <a:spcPts val="2900"/>
              </a:lnSpc>
              <a:buNone/>
            </a:pPr>
            <a:r>
              <a:rPr lang="en-US" sz="1704" dirty="0">
                <a:solidFill>
                  <a:srgbClr val="FFFFFF"/>
                </a:solidFill>
              </a:rPr>
              <a:t>
</a:t>
            </a:r>
            <a:pPr algn="ctr" indent="0" marL="0">
              <a:lnSpc>
                <a:spcPts val="2900"/>
              </a:lnSpc>
              <a:buNone/>
            </a:pPr>
            <a:r>
              <a:rPr lang="en-US" sz="1602" b="1" dirty="0">
                <a:solidFill>
                  <a:srgbClr val="00CED1"/>
                </a:solidFill>
              </a:rPr>
              <a:t>당신의 자아를 찾는 여정</a:t>
            </a:r>
            <a:endParaRPr lang="en-US" sz="1704" dirty="0"/>
          </a:p>
        </p:txBody>
      </p:sp>
      <p:sp>
        <p:nvSpPr>
          <p:cNvPr id="6" name="Shape 3"/>
          <p:cNvSpPr/>
          <p:nvPr/>
        </p:nvSpPr>
        <p:spPr>
          <a:xfrm>
            <a:off x="2665261" y="2697826"/>
            <a:ext cx="485775" cy="485775"/>
          </a:xfrm>
          <a:prstGeom prst="rect">
            <a:avLst/>
          </a:prstGeom>
          <a:solidFill>
            <a:srgbClr val="00CED1"/>
          </a:solidFill>
          <a:ln w="27432">
            <a:solidFill>
              <a:srgbClr val="000000"/>
            </a:solidFill>
            <a:prstDash val="solid"/>
          </a:ln>
        </p:spPr>
      </p:sp>
      <p:pic>
        <p:nvPicPr>
          <p:cNvPr id="7" name="Image 1" descr="preencoded.png">    </p:cNvPr>
          <p:cNvPicPr>
            <a:picLocks noChangeAspect="1"/>
          </p:cNvPicPr>
          <p:nvPr/>
        </p:nvPicPr>
        <p:blipFill>
          <a:blip r:embed="rId2"/>
          <a:stretch>
            <a:fillRect/>
          </a:stretch>
        </p:blipFill>
        <p:spPr>
          <a:xfrm>
            <a:off x="2800992" y="2804982"/>
            <a:ext cx="214313" cy="214313"/>
          </a:xfrm>
          <a:prstGeom prst="rect">
            <a:avLst/>
          </a:prstGeom>
        </p:spPr>
      </p:pic>
      <p:sp>
        <p:nvSpPr>
          <p:cNvPr id="8" name="Text 4"/>
          <p:cNvSpPr/>
          <p:nvPr/>
        </p:nvSpPr>
        <p:spPr>
          <a:xfrm>
            <a:off x="2166705" y="3197889"/>
            <a:ext cx="1482886" cy="175022"/>
          </a:xfrm>
          <a:prstGeom prst="rect">
            <a:avLst/>
          </a:prstGeom>
          <a:noFill/>
          <a:ln/>
        </p:spPr>
        <p:txBody>
          <a:bodyPr wrap="none" lIns="0" tIns="0" rIns="0" bIns="0" rtlCol="0" anchor="t">
            <a:spAutoFit/>
          </a:bodyPr>
          <a:lstStyle/>
          <a:p>
            <a:pPr algn="ctr" indent="0" marL="0">
              <a:lnSpc>
                <a:spcPts val="1200"/>
              </a:lnSpc>
              <a:buNone/>
            </a:pPr>
            <a:r>
              <a:rPr lang="en-US" sz="942" dirty="0">
                <a:solidFill>
                  <a:srgbClr val="00CED1"/>
                </a:solidFill>
              </a:rPr>
              <a:t>contact@pixelgame.com</a:t>
            </a:r>
            <a:endParaRPr lang="en-US" sz="942" dirty="0"/>
          </a:p>
        </p:txBody>
      </p:sp>
      <p:sp>
        <p:nvSpPr>
          <p:cNvPr id="9" name="Shape 5"/>
          <p:cNvSpPr/>
          <p:nvPr/>
        </p:nvSpPr>
        <p:spPr>
          <a:xfrm>
            <a:off x="4514599" y="2697826"/>
            <a:ext cx="485775" cy="485775"/>
          </a:xfrm>
          <a:prstGeom prst="rect">
            <a:avLst/>
          </a:prstGeom>
          <a:solidFill>
            <a:srgbClr val="00CED1"/>
          </a:solidFill>
          <a:ln w="27432">
            <a:solidFill>
              <a:srgbClr val="000000"/>
            </a:solidFill>
            <a:prstDash val="solid"/>
          </a:ln>
        </p:spPr>
      </p:sp>
      <p:pic>
        <p:nvPicPr>
          <p:cNvPr id="10" name="Image 2" descr="preencoded.png">    </p:cNvPr>
          <p:cNvPicPr>
            <a:picLocks noChangeAspect="1"/>
          </p:cNvPicPr>
          <p:nvPr/>
        </p:nvPicPr>
        <p:blipFill>
          <a:blip r:embed="rId3"/>
          <a:stretch>
            <a:fillRect/>
          </a:stretch>
        </p:blipFill>
        <p:spPr>
          <a:xfrm>
            <a:off x="4650330" y="2804982"/>
            <a:ext cx="214313" cy="214313"/>
          </a:xfrm>
          <a:prstGeom prst="rect">
            <a:avLst/>
          </a:prstGeom>
        </p:spPr>
      </p:pic>
      <p:sp>
        <p:nvSpPr>
          <p:cNvPr id="11" name="Text 6"/>
          <p:cNvSpPr/>
          <p:nvPr/>
        </p:nvSpPr>
        <p:spPr>
          <a:xfrm>
            <a:off x="4078216" y="3197889"/>
            <a:ext cx="1358540" cy="175022"/>
          </a:xfrm>
          <a:prstGeom prst="rect">
            <a:avLst/>
          </a:prstGeom>
          <a:noFill/>
          <a:ln/>
        </p:spPr>
        <p:txBody>
          <a:bodyPr wrap="none" lIns="0" tIns="0" rIns="0" bIns="0" rtlCol="0" anchor="t">
            <a:spAutoFit/>
          </a:bodyPr>
          <a:lstStyle/>
          <a:p>
            <a:pPr algn="ctr" indent="0" marL="0">
              <a:lnSpc>
                <a:spcPts val="1200"/>
              </a:lnSpc>
              <a:buNone/>
            </a:pPr>
            <a:r>
              <a:rPr lang="en-US" sz="942" dirty="0">
                <a:solidFill>
                  <a:srgbClr val="00CED1"/>
                </a:solidFill>
              </a:rPr>
              <a:t>www.youaregood.com</a:t>
            </a:r>
            <a:endParaRPr lang="en-US" sz="942" dirty="0"/>
          </a:p>
        </p:txBody>
      </p:sp>
      <p:sp>
        <p:nvSpPr>
          <p:cNvPr id="12" name="Shape 7"/>
          <p:cNvSpPr/>
          <p:nvPr/>
        </p:nvSpPr>
        <p:spPr>
          <a:xfrm>
            <a:off x="6178451" y="2697826"/>
            <a:ext cx="485775" cy="485775"/>
          </a:xfrm>
          <a:prstGeom prst="rect">
            <a:avLst/>
          </a:prstGeom>
          <a:solidFill>
            <a:srgbClr val="00CED1"/>
          </a:solidFill>
          <a:ln w="27432">
            <a:solidFill>
              <a:srgbClr val="000000"/>
            </a:solidFill>
            <a:prstDash val="solid"/>
          </a:ln>
        </p:spPr>
      </p:sp>
      <p:pic>
        <p:nvPicPr>
          <p:cNvPr id="13" name="Image 3" descr="preencoded.png">    </p:cNvPr>
          <p:cNvPicPr>
            <a:picLocks noChangeAspect="1"/>
          </p:cNvPicPr>
          <p:nvPr/>
        </p:nvPicPr>
        <p:blipFill>
          <a:blip r:embed="rId4"/>
          <a:stretch>
            <a:fillRect/>
          </a:stretch>
        </p:blipFill>
        <p:spPr>
          <a:xfrm>
            <a:off x="6287393" y="2804982"/>
            <a:ext cx="267891" cy="214313"/>
          </a:xfrm>
          <a:prstGeom prst="rect">
            <a:avLst/>
          </a:prstGeom>
        </p:spPr>
      </p:pic>
      <p:sp>
        <p:nvSpPr>
          <p:cNvPr id="14" name="Text 8"/>
          <p:cNvSpPr/>
          <p:nvPr/>
        </p:nvSpPr>
        <p:spPr>
          <a:xfrm>
            <a:off x="5865382" y="3197889"/>
            <a:ext cx="1111914" cy="175022"/>
          </a:xfrm>
          <a:prstGeom prst="rect">
            <a:avLst/>
          </a:prstGeom>
          <a:noFill/>
          <a:ln/>
        </p:spPr>
        <p:txBody>
          <a:bodyPr wrap="none" lIns="0" tIns="0" rIns="0" bIns="0" rtlCol="0" anchor="t">
            <a:spAutoFit/>
          </a:bodyPr>
          <a:lstStyle/>
          <a:p>
            <a:pPr algn="ctr" indent="0" marL="0">
              <a:lnSpc>
                <a:spcPts val="1200"/>
              </a:lnSpc>
              <a:buNone/>
            </a:pPr>
            <a:r>
              <a:rPr lang="en-US" sz="942" dirty="0">
                <a:solidFill>
                  <a:srgbClr val="00CED1"/>
                </a:solidFill>
              </a:rPr>
              <a:t>Team: Pixel Hearts</a:t>
            </a:r>
            <a:endParaRPr lang="en-US" sz="942" dirty="0"/>
          </a:p>
        </p:txBody>
      </p:sp>
      <p:sp>
        <p:nvSpPr>
          <p:cNvPr id="15" name="Text 9"/>
          <p:cNvSpPr/>
          <p:nvPr/>
        </p:nvSpPr>
        <p:spPr>
          <a:xfrm>
            <a:off x="0" y="4623792"/>
            <a:ext cx="9144000" cy="233958"/>
          </a:xfrm>
          <a:prstGeom prst="rect">
            <a:avLst/>
          </a:prstGeom>
          <a:noFill/>
          <a:ln/>
        </p:spPr>
        <p:txBody>
          <a:bodyPr wrap="none" lIns="0" tIns="0" rIns="0" bIns="0" rtlCol="0" anchor="t">
            <a:spAutoFit/>
          </a:bodyPr>
          <a:lstStyle/>
          <a:p>
            <a:pPr algn="ctr" indent="0" marL="0">
              <a:lnSpc>
                <a:spcPts val="1600"/>
              </a:lnSpc>
              <a:buNone/>
            </a:pPr>
            <a:r>
              <a:rPr lang="en-US" sz="1269" spc="3" kern="0" dirty="0">
                <a:solidFill>
                  <a:srgbClr val="FF69B4"/>
                </a:solidFill>
              </a:rPr>
              <a:t>- THANK YOU FOR WATCHING -</a:t>
            </a:r>
            <a:endParaRPr lang="en-US" sz="1269"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2026-02-06T11:10:56Z</dcterms:created>
  <dcterms:modified xsi:type="dcterms:W3CDTF">2026-02-06T11:10:56Z</dcterms:modified>
</cp:coreProperties>
</file>