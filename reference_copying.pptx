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ldMasterIdLst>
    <p:sldMasterId id="2147483648" r:id="rId1"/>
  </p:sldMasterIdLst>
  <p:notesMasterIdLst>
    <p:notesMasterId r:id="rId2"/>
  </p:notesMasterIdLst>
  <p:sldIdLst>
    <p:sldId id="296" r:id="rId3"/>
    <p:sldId id="297" r:id="rId4"/>
    <p:sldId id="298" r:id="rId5"/>
    <p:sldId id="301" r:id="rId6"/>
    <p:sldId id="299" r:id="rId7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prnPr scaleToFitPaper="1"/>
  <p:showPr showNarration="1">
    <p:sldAll/>
    <p:penClr>
      <a:srgbClr val="ff0000"/>
    </p:penClr>
    <p:extLst>
      <p:ext uri="{2FDB2607-1784-4EEB-B798-7EB5836EED8A}">
        <p14:showMediaCtrls xmlns:p14="http://schemas.microsoft.com/office/powerpoint/2010/main" val="1"/>
      </p:ext>
    </p:extLst>
  </p:showPr>
  <p:extLst>
    <p:ext uri="ACF4677E-8BD2-47ae-8A1F-98590045965D">
      <hp:hncThemeShow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/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>
    <p:restoredLeft sz="7419" autoAdjust="0"/>
    <p:restoredTop sz="94660"/>
  </p:normalViewPr>
  <p:slideViewPr>
    <p:cSldViewPr snapToGrid="0" snapToObjects="1">
      <p:cViewPr>
        <p:scale>
          <a:sx n="140" d="100"/>
          <a:sy n="140" d="100"/>
        </p:scale>
        <p:origin x="48" y="888"/>
      </p:cViewPr>
      <p:guideLst>
        <p:guide orient="horz" pos="2156"/>
        <p:guide pos="2877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9" cy="72009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theme" Target="theme/theme1.xml"  /><Relationship Id="rId11" Type="http://schemas.openxmlformats.org/officeDocument/2006/relationships/tableStyles" Target="tableStyles.xml"  /><Relationship Id="rId2" Type="http://schemas.openxmlformats.org/officeDocument/2006/relationships/notesMaster" Target="notesMasters/notesMaster1.xml"  /><Relationship Id="rId3" Type="http://schemas.openxmlformats.org/officeDocument/2006/relationships/slide" Target="slides/slide1.xml"  /><Relationship Id="rId4" Type="http://schemas.openxmlformats.org/officeDocument/2006/relationships/slide" Target="slides/slide2.xml"  /><Relationship Id="rId5" Type="http://schemas.openxmlformats.org/officeDocument/2006/relationships/slide" Target="slides/slide3.xml"  /><Relationship Id="rId6" Type="http://schemas.openxmlformats.org/officeDocument/2006/relationships/slide" Target="slides/slide4.xml"  /><Relationship Id="rId7" Type="http://schemas.openxmlformats.org/officeDocument/2006/relationships/slide" Target="slides/slide5.xml"  /><Relationship Id="rId8" Type="http://schemas.openxmlformats.org/officeDocument/2006/relationships/presProps" Target="presProps.xml"  /><Relationship Id="rId9" Type="http://schemas.openxmlformats.org/officeDocument/2006/relationships/viewProps" Target="viewProps.xml"  /></Relationships>
</file>

<file path=ppt/notesMasters/_rels/notesMaster1.xml.rels><?xml version="1.0" encoding="UTF-8" standalone="yes" ?><Relationships xmlns="http://schemas.openxmlformats.org/package/2006/relationships"><Relationship Id="rId1" Type="http://schemas.openxmlformats.org/officeDocument/2006/relationships/theme" Target="../theme/theme2.xml"  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 idx="0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E2B2BC9D-A816-4D0A-858B-1D023B3A8ACA}" type="datetime1">
              <a:rPr lang="ko-KR" altLang="en-US"/>
              <a:pPr lvl="0">
                <a:defRPr/>
              </a:pPr>
              <a:t>2026-01-16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>
            <a:noAutofit/>
          </a:bodyPr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09F4262C-968C-4EE9-8164-CE16364706B3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456936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1" Type="http://schemas.openxmlformats.org/officeDocument/2006/relationships/slide" Target="../slides/slide2.xml"  /><Relationship Id="rId2" Type="http://schemas.openxmlformats.org/officeDocument/2006/relationships/notesMaster" Target="../notesMasters/notesMaster1.xml"  /></Relationships>
</file>

<file path=ppt/notesSlides/_rels/notesSlide2.xml.rels><?xml version="1.0" encoding="UTF-8" standalone="yes" ?><Relationships xmlns="http://schemas.openxmlformats.org/package/2006/relationships"><Relationship Id="rId1" Type="http://schemas.openxmlformats.org/officeDocument/2006/relationships/slide" Target="../slides/slide3.xml"  /><Relationship Id="rId2" Type="http://schemas.openxmlformats.org/officeDocument/2006/relationships/notesMaster" Target="../notesMasters/notesMaster1.xml"  /></Relationships>
</file>

<file path=ppt/notesSlides/_rels/notesSlide3.xml.rels><?xml version="1.0" encoding="UTF-8" standalone="yes" ?><Relationships xmlns="http://schemas.openxmlformats.org/package/2006/relationships"><Relationship Id="rId1" Type="http://schemas.openxmlformats.org/officeDocument/2006/relationships/slide" Target="../slides/slide4.xml"  /><Relationship Id="rId2" Type="http://schemas.openxmlformats.org/officeDocument/2006/relationships/notesMaster" Target="../notesMasters/notesMaster1.xml"  /></Relationships>
</file>

<file path=ppt/notesSlides/notesSlide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en-US" altLang="en-US"/>
              <a:pPr lvl="0">
                <a:defRPr/>
              </a:pPr>
              <a:t>39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236894973"/>
      </p:ext>
    </p:extLst>
  </p:cSld>
  <p:clrMapOvr>
    <a:masterClrMapping/>
  </p:clrMapOvr>
</p:notes>
</file>

<file path=ppt/notesSlides/notesSlide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en-US" altLang="en-US"/>
              <a:pPr lvl="0">
                <a:defRPr/>
              </a:pPr>
              <a:t>40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0333244"/>
      </p:ext>
    </p:extLst>
  </p:cSld>
  <p:clrMapOvr>
    <a:masterClrMapping/>
  </p:clrMapOvr>
</p:notes>
</file>

<file path=ppt/notesSlides/notesSlide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en-US" altLang="en-US"/>
              <a:pPr lvl="0">
                <a:defRPr/>
              </a:pPr>
              <a:t>42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56782210"/>
      </p:ext>
    </p:extLst>
  </p:cSld>
  <p:clrMapOvr>
    <a:masterClrMapping/>
  </p:clrMapOvr>
</p:note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idx="0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>
              <a:defRPr/>
            </a:pPr>
            <a:r>
              <a:rPr lang="ko-KR" altLang="en-US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3954000"/>
      </p:ext>
    </p:extLst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2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1244487"/>
      </p:ext>
    </p:extLst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3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623887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3887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7600075"/>
      </p:ext>
    </p:extLst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4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 편집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 편집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8500796"/>
      </p:ext>
    </p:extLst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5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629841" y="365125"/>
            <a:ext cx="7886700" cy="1325563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9841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29841" y="2505075"/>
            <a:ext cx="3868340" cy="368458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 편집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  <a:endParaRPr lang="ko-KR" altLang="en-US"/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 편집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409803"/>
      </p:ext>
    </p:extLst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6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3417056"/>
      </p:ext>
    </p:extLst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7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6037223"/>
      </p:ext>
    </p:extLst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8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629841" y="457200"/>
            <a:ext cx="2949177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87391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7414234"/>
      </p:ext>
    </p:extLst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9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629841" y="457200"/>
            <a:ext cx="2949177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3887391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2629425"/>
      </p:ext>
    </p:extLst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10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3071255"/>
      </p:ext>
    </p:extLst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1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 idx="0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pPr lvl="0">
              <a:defRPr/>
            </a:pPr>
            <a:r>
              <a:rPr lang="ko-KR" altLang="en-US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>
              <a:defRPr/>
            </a:pPr>
            <a:r>
              <a:rPr lang="ko-KR" altLang="en-US"/>
              <a:t>마스터 텍스트 스타일 편집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9965977"/>
      </p:ext>
    </p:extLst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10" Type="http://schemas.openxmlformats.org/officeDocument/2006/relationships/slideLayout" Target="../slideLayouts/slideLayout10.xml"  /><Relationship Id="rId11" Type="http://schemas.openxmlformats.org/officeDocument/2006/relationships/slideLayout" Target="../slideLayouts/slideLayout11.xml"  /><Relationship Id="rId12" Type="http://schemas.openxmlformats.org/officeDocument/2006/relationships/theme" Target="../theme/theme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slideLayout" Target="../slideLayouts/slideLayout5.xml"  /><Relationship Id="rId6" Type="http://schemas.openxmlformats.org/officeDocument/2006/relationships/slideLayout" Target="../slideLayouts/slideLayout6.xml"  /><Relationship Id="rId7" Type="http://schemas.openxmlformats.org/officeDocument/2006/relationships/slideLayout" Target="../slideLayouts/slideLayout7.xml"  /><Relationship Id="rId8" Type="http://schemas.openxmlformats.org/officeDocument/2006/relationships/slideLayout" Target="../slideLayouts/slideLayout8.xml"  /><Relationship Id="rId9" Type="http://schemas.openxmlformats.org/officeDocument/2006/relationships/slideLayout" Target="../slideLayouts/slideLayout9.xml"  /></Relationships>
</file>

<file path=ppt/slideMasters/slideMaster1.xml><?xml version="1.0" encoding="utf-8"?>
<p:sld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 idx="0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pPr lvl="0">
              <a:defRPr/>
            </a:pPr>
            <a:r>
              <a:rPr lang="ko-KR" altLang="en-US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defRPr/>
            </a:pPr>
            <a:r>
              <a:rPr lang="ko-KR" altLang="en-US"/>
              <a:t>마스터 텍스트 스타일 편집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4B3BA9B4-7E72-4B67-919E-AB65492FA93B}" type="datetime1">
              <a:rPr lang="ko-KR" altLang="en-US"/>
              <a:pPr lvl="0">
                <a:defRPr/>
              </a:pPr>
              <a:t>2026-01-16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D94A2137-8E27-430F-BC1F-15A504CFDD7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1030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xmlns:mc="http://schemas.openxmlformats.org/markup-compatibility/2006" xmlns:hp="http://schemas.haansoft.com/office/presentation/8.0" mc:Ignorable="hp" hp:hslDur="50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1.png"  /><Relationship Id="rId3" Type="http://schemas.openxmlformats.org/officeDocument/2006/relationships/image" Target="../media/image2.png"  /><Relationship Id="rId4" Type="http://schemas.openxmlformats.org/officeDocument/2006/relationships/image" Target="../media/image3.png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.xml"  /><Relationship Id="rId2" Type="http://schemas.openxmlformats.org/officeDocument/2006/relationships/slideLayout" Target="../slideLayouts/slideLayout2.xml"  /><Relationship Id="rId3" Type="http://schemas.openxmlformats.org/officeDocument/2006/relationships/image" Target="../media/image4.png"  /><Relationship Id="rId4" Type="http://schemas.openxmlformats.org/officeDocument/2006/relationships/image" Target="../media/image5.png"  /><Relationship Id="rId5" Type="http://schemas.openxmlformats.org/officeDocument/2006/relationships/image" Target="../media/image6.png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.xml"  /><Relationship Id="rId2" Type="http://schemas.openxmlformats.org/officeDocument/2006/relationships/slideLayout" Target="../slideLayouts/slideLayout2.xml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3.xml"  /><Relationship Id="rId2" Type="http://schemas.openxmlformats.org/officeDocument/2006/relationships/slideLayout" Target="../slideLayouts/slideLayout2.xml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1e0d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861589" y="1427177"/>
            <a:ext cx="3177947" cy="3177947"/>
          </a:xfrm>
          <a:prstGeom prst="roundRect">
            <a:avLst>
              <a:gd name="adj" fmla="val 35798"/>
            </a:avLst>
          </a:prstGeom>
          <a:effectLst>
            <a:reflection blurRad="6350" stA="50000" endA="300" endPos="35000" dir="5400000" sy="-100000" algn="bl" rotWithShape="0"/>
            <a:softEdge rad="127000"/>
          </a:effectLst>
        </p:spPr>
      </p:pic>
      <p:pic>
        <p:nvPicPr>
          <p:cNvPr id="20" name="그림 19"/>
          <p:cNvPicPr>
            <a:picLocks noChangeAspect="1"/>
          </p:cNvPicPr>
          <p:nvPr/>
        </p:nvPicPr>
        <p:blipFill rotWithShape="1">
          <a:blip r:embed="rId3">
            <a:grayscl/>
            <a:lum/>
          </a:blip>
          <a:stretch>
            <a:fillRect/>
          </a:stretch>
        </p:blipFill>
        <p:spPr>
          <a:xfrm>
            <a:off x="1160611" y="2706588"/>
            <a:ext cx="2571750" cy="1444823"/>
          </a:xfrm>
          <a:prstGeom prst="rect">
            <a:avLst/>
          </a:prstGeom>
        </p:spPr>
      </p:pic>
      <p:pic>
        <p:nvPicPr>
          <p:cNvPr id="21" name="그림 20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2104081" y="3808024"/>
            <a:ext cx="1491755" cy="242053"/>
          </a:xfrm>
          <a:prstGeom prst="rect">
            <a:avLst/>
          </a:prstGeom>
        </p:spPr>
      </p:pic>
      <p:sp>
        <p:nvSpPr>
          <p:cNvPr id="32" name="가로 글상자 31"/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  <a:endParaRPr lang="ko-KR" altLang="en-US"/>
          </a:p>
        </p:txBody>
      </p:sp>
      <p:sp>
        <p:nvSpPr>
          <p:cNvPr id="35" name="타원 34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6" name="TextBox 1"/>
          <p:cNvSpPr txBox="1"/>
          <p:nvPr/>
        </p:nvSpPr>
        <p:spPr>
          <a:xfrm>
            <a:off x="9316166" y="0"/>
            <a:ext cx="1457269" cy="115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글자 크기</a:t>
            </a:r>
            <a:endParaRPr lang="ko-KR" altLang="en-US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26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2600">
                <a:latin typeface="충북대70주년체 Regular"/>
                <a:ea typeface="충북대70주년체 Regular"/>
              </a:rPr>
              <a:t>(35)</a:t>
            </a:r>
            <a:endParaRPr lang="en-US" altLang="ko-KR" sz="2600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14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400">
                <a:latin typeface="충북대70주년체 Regular"/>
                <a:ea typeface="충북대70주년체 Regular"/>
              </a:rPr>
              <a:t>(19)</a:t>
            </a:r>
            <a:endParaRPr lang="en-US" altLang="ko-KR" sz="1400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11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100">
                <a:latin typeface="충북대70주년체 Regular"/>
                <a:ea typeface="충북대70주년체 Regular"/>
              </a:rPr>
              <a:t>(11)</a:t>
            </a:r>
            <a:endParaRPr lang="en-US" altLang="ko-KR" sz="1100">
              <a:latin typeface="충북대70주년체 Regular"/>
              <a:ea typeface="충북대70주년체 Regular"/>
            </a:endParaRPr>
          </a:p>
        </p:txBody>
      </p:sp>
      <p:sp>
        <p:nvSpPr>
          <p:cNvPr id="37" name="타원 36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8" name="타원 37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9" name="타원 38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0" name="타원 39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1" name="타원 40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2" name="타원 41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3" name="TextBox 1"/>
          <p:cNvSpPr txBox="1"/>
          <p:nvPr/>
        </p:nvSpPr>
        <p:spPr>
          <a:xfrm>
            <a:off x="9316166" y="1301432"/>
            <a:ext cx="1965269" cy="6683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글꼴</a:t>
            </a:r>
            <a:endParaRPr lang="ko-KR" altLang="en-US" sz="1900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충북대</a:t>
            </a:r>
            <a:r>
              <a:rPr lang="en-US" altLang="ko-KR" sz="1900">
                <a:latin typeface="충북대70주년체 Regular"/>
                <a:ea typeface="충북대70주년체 Regular"/>
              </a:rPr>
              <a:t>70</a:t>
            </a:r>
            <a:r>
              <a:rPr lang="ko-KR" altLang="en-US" sz="1900">
                <a:latin typeface="충북대70주년체 Regular"/>
                <a:ea typeface="충북대70주년체 Regular"/>
              </a:rPr>
              <a:t>주년체</a:t>
            </a:r>
            <a:endParaRPr lang="ko-KR" altLang="en-US" sz="1900">
              <a:latin typeface="충북대70주년체 Regular"/>
              <a:ea typeface="충북대70주년체 Regular"/>
            </a:endParaRPr>
          </a:p>
        </p:txBody>
      </p:sp>
    </p:spTree>
    <p:extLst>
      <p:ext uri="{BB962C8B-B14F-4D97-AF65-F5344CB8AC3E}">
        <p14:creationId xmlns:p14="http://schemas.microsoft.com/office/powerpoint/2010/main" val="761492686"/>
      </p:ext>
    </p:extLst>
  </p:cSld>
  <p:clrMapOvr>
    <a:masterClrMapping/>
  </p:clrMapOvr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1e0d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가로 글상자 25"/>
          <p:cNvSpPr txBox="1"/>
          <p:nvPr/>
        </p:nvSpPr>
        <p:spPr>
          <a:xfrm>
            <a:off x="980013" y="593098"/>
            <a:ext cx="1151334" cy="6176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35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목차</a:t>
            </a:r>
            <a:endParaRPr lang="ko-KR" altLang="en-US" sz="3500" b="1">
              <a:solidFill>
                <a:srgbClr val="ecedf1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51" name="가로 글상자 50"/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  <a:endParaRPr lang="ko-KR" altLang="en-US"/>
          </a:p>
        </p:txBody>
      </p:sp>
      <p:sp>
        <p:nvSpPr>
          <p:cNvPr id="54" name="타원 53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5" name="TextBox 1"/>
          <p:cNvSpPr txBox="1"/>
          <p:nvPr/>
        </p:nvSpPr>
        <p:spPr>
          <a:xfrm>
            <a:off x="9316166" y="0"/>
            <a:ext cx="1457269" cy="115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글자 크기</a:t>
            </a:r>
            <a:endParaRPr lang="ko-KR" altLang="en-US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26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2600">
                <a:latin typeface="충북대70주년체 Regular"/>
                <a:ea typeface="충북대70주년체 Regular"/>
              </a:rPr>
              <a:t>(35)</a:t>
            </a:r>
            <a:endParaRPr lang="en-US" altLang="ko-KR" sz="2600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14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400">
                <a:latin typeface="충북대70주년체 Regular"/>
                <a:ea typeface="충북대70주년체 Regular"/>
              </a:rPr>
              <a:t>(19)</a:t>
            </a:r>
            <a:endParaRPr lang="en-US" altLang="ko-KR" sz="1400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11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100">
                <a:latin typeface="충북대70주년체 Regular"/>
                <a:ea typeface="충북대70주년체 Regular"/>
              </a:rPr>
              <a:t>(11)</a:t>
            </a:r>
            <a:endParaRPr lang="en-US" altLang="ko-KR" sz="1100">
              <a:latin typeface="충북대70주년체 Regular"/>
              <a:ea typeface="충북대70주년체 Regular"/>
            </a:endParaRPr>
          </a:p>
        </p:txBody>
      </p:sp>
      <p:sp>
        <p:nvSpPr>
          <p:cNvPr id="56" name="타원 55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7" name="타원 56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8" name="타원 57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9" name="타원 58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0" name="타원 59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1" name="타원 60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2" name="TextBox 1"/>
          <p:cNvSpPr txBox="1"/>
          <p:nvPr/>
        </p:nvSpPr>
        <p:spPr>
          <a:xfrm>
            <a:off x="9316166" y="1301432"/>
            <a:ext cx="1965269" cy="6683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글꼴</a:t>
            </a:r>
            <a:endParaRPr lang="ko-KR" altLang="en-US" sz="1900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충북대</a:t>
            </a:r>
            <a:r>
              <a:rPr lang="en-US" altLang="ko-KR" sz="1900">
                <a:latin typeface="충북대70주년체 Regular"/>
                <a:ea typeface="충북대70주년체 Regular"/>
              </a:rPr>
              <a:t>70</a:t>
            </a:r>
            <a:r>
              <a:rPr lang="ko-KR" altLang="en-US" sz="1900">
                <a:latin typeface="충북대70주년체 Regular"/>
                <a:ea typeface="충북대70주년체 Regular"/>
              </a:rPr>
              <a:t>주년체</a:t>
            </a:r>
            <a:endParaRPr lang="ko-KR" altLang="en-US" sz="1900">
              <a:latin typeface="충북대70주년체 Regular"/>
              <a:ea typeface="충북대70주년체 Regular"/>
            </a:endParaRPr>
          </a:p>
        </p:txBody>
      </p:sp>
      <p:sp>
        <p:nvSpPr>
          <p:cNvPr id="63" name="가로 글상자 62"/>
          <p:cNvSpPr txBox="1"/>
          <p:nvPr/>
        </p:nvSpPr>
        <p:spPr>
          <a:xfrm>
            <a:off x="509585" y="2072401"/>
            <a:ext cx="2302670" cy="3736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개요</a:t>
            </a:r>
            <a:endParaRPr lang="ko-KR" altLang="en-US" sz="1900" b="1">
              <a:solidFill>
                <a:srgbClr val="ecedf1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64" name="가로 글상자 63"/>
          <p:cNvSpPr txBox="1"/>
          <p:nvPr/>
        </p:nvSpPr>
        <p:spPr>
          <a:xfrm>
            <a:off x="2269330" y="2109202"/>
            <a:ext cx="3534967" cy="2987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4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제목          장르          시놉시스          재미요소          </a:t>
            </a:r>
            <a:endParaRPr lang="ko-KR" altLang="en-US" sz="1400" b="1">
              <a:solidFill>
                <a:srgbClr val="ecedf1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65" name="가로 글상자 64"/>
          <p:cNvSpPr txBox="1"/>
          <p:nvPr/>
        </p:nvSpPr>
        <p:spPr>
          <a:xfrm>
            <a:off x="509586" y="2756301"/>
            <a:ext cx="1445420" cy="375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게임의 정의</a:t>
            </a:r>
            <a:endParaRPr lang="en-US" altLang="ko-KR" sz="1900" b="1">
              <a:solidFill>
                <a:srgbClr val="ecedf1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66" name="가로 글상자 65"/>
          <p:cNvSpPr txBox="1"/>
          <p:nvPr/>
        </p:nvSpPr>
        <p:spPr>
          <a:xfrm>
            <a:off x="2269331" y="2797827"/>
            <a:ext cx="3534966" cy="2958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4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플레이의 작용요소          방해요인          </a:t>
            </a:r>
            <a:r>
              <a:rPr lang="ko-KR" altLang="en-US" sz="13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목적</a:t>
            </a:r>
            <a:r>
              <a:rPr lang="ko-KR" altLang="en-US" sz="14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        </a:t>
            </a:r>
            <a:endParaRPr lang="ko-KR" altLang="en-US" sz="1400" b="1">
              <a:solidFill>
                <a:srgbClr val="ecedf1"/>
              </a:solidFill>
              <a:latin typeface="충북대70주년체 Regular"/>
              <a:ea typeface="충북대70주년체 Regular"/>
            </a:endParaRPr>
          </a:p>
        </p:txBody>
      </p:sp>
      <p:pic>
        <p:nvPicPr>
          <p:cNvPr id="72" name="그림 71"/>
          <p:cNvPicPr>
            <a:picLocks noChangeAspect="1"/>
          </p:cNvPicPr>
          <p:nvPr/>
        </p:nvPicPr>
        <p:blipFill rotWithShape="1">
          <a:blip r:embed="rId4">
            <a:extLst>
              <a:ext uri="783A4284-B454-46f5-B8C8-42B5039CE256">
                <hp:hncPhoto xmlns:hp="http://schemas.haansoft.com/office/presentation/8.0">
                  <hd:imgLayer xmlns:hd="http://schemas.haansoft.com/office/drawingml/8.0" r:embed="rId3">
                    <hd:imgEffect xmlns:hd="http://schemas.haansoft.com/office/drawingml/8.0">
                      <hd:artEffectSketch/>
                    </hd:imgEffect>
                  </hd:imgLayer>
                </hp:hncPhoto>
              </a:ext>
            </a:extLst>
          </a:blip>
          <a:stretch>
            <a:fillRect/>
          </a:stretch>
        </p:blipFill>
        <p:spPr>
          <a:xfrm>
            <a:off x="482606" y="655624"/>
            <a:ext cx="494995" cy="494995"/>
          </a:xfrm>
          <a:prstGeom prst="rect">
            <a:avLst/>
          </a:prstGeom>
        </p:spPr>
      </p:pic>
      <p:sp>
        <p:nvSpPr>
          <p:cNvPr id="73" name="모서리가 둥근 직사각형 72"/>
          <p:cNvSpPr/>
          <p:nvPr/>
        </p:nvSpPr>
        <p:spPr>
          <a:xfrm>
            <a:off x="482606" y="1301432"/>
            <a:ext cx="8178788" cy="464094"/>
          </a:xfrm>
          <a:prstGeom prst="roundRect">
            <a:avLst>
              <a:gd name="adj" fmla="val 16667"/>
            </a:avLst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endParaRPr lang="ko-KR" altLang="en-US"/>
          </a:p>
        </p:txBody>
      </p:sp>
      <p:pic>
        <p:nvPicPr>
          <p:cNvPr id="75" name="그림 74"/>
          <p:cNvPicPr>
            <a:picLocks noChangeAspect="1"/>
          </p:cNvPicPr>
          <p:nvPr/>
        </p:nvPicPr>
        <p:blipFill rotWithShape="1">
          <a:blip r:embed="rId5"/>
          <a:srcRect l="30810" t="32500" r="39130" b="28590"/>
          <a:stretch>
            <a:fillRect/>
          </a:stretch>
        </p:blipFill>
        <p:spPr>
          <a:xfrm>
            <a:off x="7467957" y="430583"/>
            <a:ext cx="930746" cy="1205017"/>
          </a:xfrm>
          <a:prstGeom prst="rect">
            <a:avLst/>
          </a:prstGeom>
        </p:spPr>
      </p:pic>
      <p:cxnSp>
        <p:nvCxnSpPr>
          <p:cNvPr id="76" name="선 75"/>
          <p:cNvCxnSpPr/>
          <p:nvPr/>
        </p:nvCxnSpPr>
        <p:spPr>
          <a:xfrm rot="16200000" flipH="1" flipV="1">
            <a:off x="-105886" y="4133293"/>
            <a:ext cx="4121787" cy="0"/>
          </a:xfrm>
          <a:prstGeom prst="line">
            <a:avLst/>
          </a:prstGeom>
          <a:ln w="25400">
            <a:solidFill>
              <a:srgbClr val="496f78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71944720"/>
      </p:ext>
    </p:extLst>
  </p:cSld>
  <p:clrMapOvr>
    <a:masterClrMapping/>
  </p:clrMapOvr>
</p:sld>
</file>

<file path=ppt/slides/slide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1e0d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가로 글상자 25"/>
          <p:cNvSpPr txBox="1"/>
          <p:nvPr/>
        </p:nvSpPr>
        <p:spPr>
          <a:xfrm>
            <a:off x="463960" y="2774757"/>
            <a:ext cx="1570434" cy="3761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플랫폼</a:t>
            </a:r>
            <a:r>
              <a:rPr lang="en-US" altLang="ko-KR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   </a:t>
            </a:r>
            <a:r>
              <a:rPr lang="en-US" altLang="ko-KR" sz="1100" b="1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Platform</a:t>
            </a:r>
            <a:endParaRPr lang="en-US" altLang="ko-KR" sz="1100" b="1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28" name="가로 글상자 27"/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  <a:endParaRPr lang="ko-KR" altLang="en-US"/>
          </a:p>
        </p:txBody>
      </p:sp>
      <p:sp>
        <p:nvSpPr>
          <p:cNvPr id="37" name="가로 글상자 36"/>
          <p:cNvSpPr txBox="1"/>
          <p:nvPr/>
        </p:nvSpPr>
        <p:spPr>
          <a:xfrm>
            <a:off x="2595048" y="2774757"/>
            <a:ext cx="2166312" cy="290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en-US" altLang="ko-KR" sz="1100" b="1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PC</a:t>
            </a:r>
            <a:r>
              <a:rPr lang="en-US" altLang="ko-KR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, CONSOLE</a:t>
            </a:r>
            <a:endParaRPr lang="ko-KR" altLang="en-US" sz="1100" b="1" spc="100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38" name="가로 글상자 37"/>
          <p:cNvSpPr txBox="1"/>
          <p:nvPr/>
        </p:nvSpPr>
        <p:spPr>
          <a:xfrm>
            <a:off x="2595048" y="3342221"/>
            <a:ext cx="2598272" cy="2863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100" b="1" spc="100">
                <a:solidFill>
                  <a:srgbClr val="fce891"/>
                </a:solidFill>
                <a:latin typeface="충북대70주년체 Regular"/>
                <a:ea typeface="충북대70주년체 Regular"/>
              </a:rPr>
              <a:t>내러티브 중심 어드벤처</a:t>
            </a:r>
            <a:endParaRPr lang="ko-KR" altLang="en-US" sz="1100" b="1" spc="100">
              <a:solidFill>
                <a:srgbClr val="fce891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39" name="가로 글상자 38"/>
          <p:cNvSpPr txBox="1"/>
          <p:nvPr/>
        </p:nvSpPr>
        <p:spPr>
          <a:xfrm>
            <a:off x="2595047" y="3887609"/>
            <a:ext cx="6146387" cy="12935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선택지가 주어지는 것처럼 보이지만</a:t>
            </a:r>
            <a:r>
              <a:rPr lang="en-US" altLang="ko-KR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,</a:t>
            </a: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 이야기가 진행될수록 </a:t>
            </a:r>
            <a:r>
              <a:rPr lang="ko-KR" altLang="en-US" sz="1100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모든 선택은 하나의 방향으로 수렴</a:t>
            </a: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한다</a:t>
            </a:r>
            <a:r>
              <a:rPr lang="en-US" altLang="ko-KR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.</a:t>
            </a:r>
            <a:endParaRPr lang="en-US" altLang="ko-KR" sz="1100" spc="100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  <a:p>
            <a:pPr lvl="0">
              <a:lnSpc>
                <a:spcPct val="120000"/>
              </a:lnSpc>
              <a:defRPr/>
            </a:pPr>
            <a:endParaRPr lang="en-US" altLang="ko-KR" sz="1100" spc="100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  <a:p>
            <a:pPr lvl="0">
              <a:lnSpc>
                <a:spcPct val="120000"/>
              </a:lnSpc>
              <a:defRPr/>
            </a:pP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스스로를 특별히 착한 사람이라 여기지 않는 주인공은</a:t>
            </a:r>
            <a:r>
              <a:rPr lang="ko-KR" altLang="en-US" sz="1100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 </a:t>
            </a:r>
            <a:r>
              <a:rPr lang="en-US" altLang="ko-KR" sz="1100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’</a:t>
            </a:r>
            <a:r>
              <a:rPr lang="ko-KR" altLang="en-US" sz="1100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가장 착한 사람</a:t>
            </a:r>
            <a:r>
              <a:rPr lang="en-US" altLang="ko-KR" sz="1100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’</a:t>
            </a: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이기를 요구받는 기대 속에서</a:t>
            </a:r>
            <a:r>
              <a:rPr lang="en-US" altLang="ko-KR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,</a:t>
            </a:r>
            <a:endParaRPr lang="en-US" altLang="ko-KR" sz="1100" spc="100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  <a:p>
            <a:pPr lvl="0">
              <a:lnSpc>
                <a:spcPct val="120000"/>
              </a:lnSpc>
              <a:defRPr/>
            </a:pP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서서히 붕괴되어 가는 세계와 함께 하나의 역할로 소모되어 간다</a:t>
            </a:r>
            <a:r>
              <a:rPr lang="en-US" altLang="ko-KR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.</a:t>
            </a:r>
            <a:endParaRPr lang="en-US" altLang="ko-KR" sz="1100" spc="100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  <a:p>
            <a:pPr lvl="0">
              <a:lnSpc>
                <a:spcPct val="120000"/>
              </a:lnSpc>
              <a:defRPr/>
            </a:pPr>
            <a:endParaRPr lang="en-US" altLang="ko-KR" sz="1100" spc="100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  <a:p>
            <a:pPr lvl="0">
              <a:lnSpc>
                <a:spcPct val="120000"/>
              </a:lnSpc>
              <a:defRPr/>
            </a:pP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선택을 반복할수록 </a:t>
            </a:r>
            <a:r>
              <a:rPr lang="ko-KR" altLang="en-US" sz="1100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선</a:t>
            </a:r>
            <a:r>
              <a:rPr lang="ko-KR" altLang="en-US" sz="1100" b="1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의</a:t>
            </a:r>
            <a:r>
              <a:rPr lang="ko-KR" altLang="en-US" sz="1100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는 의미를 잃고</a:t>
            </a:r>
            <a:r>
              <a:rPr lang="en-US" altLang="ko-KR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,</a:t>
            </a: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 착함은 자발적인 판단이 아닌 </a:t>
            </a:r>
            <a:r>
              <a:rPr lang="ko-KR" altLang="en-US" sz="1100" spc="100">
                <a:solidFill>
                  <a:srgbClr val="eb657e"/>
                </a:solidFill>
                <a:latin typeface="충북대70주년체 Regular"/>
                <a:ea typeface="충북대70주년체 Regular"/>
              </a:rPr>
              <a:t>피할 수 없는 의무</a:t>
            </a: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가 된다</a:t>
            </a:r>
            <a:r>
              <a:rPr lang="en-US" altLang="ko-KR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.</a:t>
            </a:r>
            <a:endParaRPr lang="ko-KR" altLang="en-US" sz="1100" b="1" spc="100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40" name="가로 글상자 39"/>
          <p:cNvSpPr txBox="1"/>
          <p:nvPr/>
        </p:nvSpPr>
        <p:spPr>
          <a:xfrm>
            <a:off x="2595046" y="5311329"/>
            <a:ext cx="5200501" cy="8890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▶     </a:t>
            </a:r>
            <a:r>
              <a:rPr lang="ko-KR" altLang="en-US" sz="1100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감정적</a:t>
            </a: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 </a:t>
            </a:r>
            <a:r>
              <a:rPr lang="ko-KR" altLang="en-US" sz="1100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압박과 몰입</a:t>
            </a: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을 즐기는 내러티브 플레이</a:t>
            </a:r>
            <a:endParaRPr lang="ko-KR" altLang="en-US" sz="1100" spc="100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▶     선택에 따라 변화하는 </a:t>
            </a:r>
            <a:r>
              <a:rPr lang="ko-KR" altLang="en-US" sz="1100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스토리</a:t>
            </a: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 흐름과 </a:t>
            </a:r>
            <a:r>
              <a:rPr lang="ko-KR" altLang="en-US" sz="1100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엔딩</a:t>
            </a: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 구조</a:t>
            </a:r>
            <a:endParaRPr lang="ko-KR" altLang="en-US" sz="1100" spc="100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▶     선택 누적에 따라 </a:t>
            </a:r>
            <a:r>
              <a:rPr lang="ko-KR" altLang="en-US" sz="1100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분위기와 연출이 변화</a:t>
            </a: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하는 시스템</a:t>
            </a:r>
            <a:endParaRPr lang="ko-KR" altLang="en-US" sz="1100" spc="100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▶     선행이 보상이 아닌 </a:t>
            </a: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부담으로 작동하는 </a:t>
            </a:r>
            <a:r>
              <a:rPr lang="en-US" altLang="ko-KR" sz="1100" b="1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‘</a:t>
            </a:r>
            <a:r>
              <a:rPr lang="ko-KR" altLang="en-US" sz="1100" b="1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선택 소모화</a:t>
            </a:r>
            <a:r>
              <a:rPr lang="en-US" altLang="ko-KR" sz="1100" b="1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’</a:t>
            </a:r>
            <a:r>
              <a:rPr lang="ko-KR" altLang="en-US" sz="1100" b="1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 </a:t>
            </a: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구조</a:t>
            </a:r>
            <a:endParaRPr lang="ko-KR" altLang="en-US" sz="1100" b="1" spc="100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41" name="가로 글상자 40"/>
          <p:cNvSpPr txBox="1"/>
          <p:nvPr/>
        </p:nvSpPr>
        <p:spPr>
          <a:xfrm>
            <a:off x="463959" y="3342221"/>
            <a:ext cx="1570436" cy="37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게임장르</a:t>
            </a:r>
            <a:r>
              <a:rPr lang="en-US" altLang="ko-KR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   </a:t>
            </a:r>
            <a:r>
              <a:rPr lang="en-US" altLang="ko-KR" sz="1100" b="1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Genre</a:t>
            </a:r>
            <a:endParaRPr lang="en-US" altLang="ko-KR" sz="1100" b="1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42" name="가로 글상자 41"/>
          <p:cNvSpPr txBox="1"/>
          <p:nvPr/>
        </p:nvSpPr>
        <p:spPr>
          <a:xfrm>
            <a:off x="463960" y="5311329"/>
            <a:ext cx="1781072" cy="3731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재미 요소</a:t>
            </a:r>
            <a:r>
              <a:rPr lang="en-US" altLang="ko-KR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   </a:t>
            </a:r>
            <a:r>
              <a:rPr lang="en-US" altLang="ko-KR" sz="1100" b="1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Core Fun</a:t>
            </a:r>
            <a:r>
              <a:rPr lang="en-US" altLang="ko-KR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   </a:t>
            </a:r>
            <a:endParaRPr lang="en-US" altLang="ko-KR" sz="1900" b="1">
              <a:solidFill>
                <a:srgbClr val="ecedf1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43" name="가로 글상자 42"/>
          <p:cNvSpPr txBox="1"/>
          <p:nvPr/>
        </p:nvSpPr>
        <p:spPr>
          <a:xfrm>
            <a:off x="463961" y="3887609"/>
            <a:ext cx="1781071" cy="3681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시놉시스</a:t>
            </a:r>
            <a:r>
              <a:rPr lang="en-US" altLang="ko-KR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   </a:t>
            </a:r>
            <a:r>
              <a:rPr lang="en-US" altLang="ko-KR" sz="1100" b="1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Synopsis</a:t>
            </a:r>
            <a:endParaRPr lang="en-US" altLang="ko-KR" sz="1100" b="1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56" name="가로 글상자 55"/>
          <p:cNvSpPr txBox="1"/>
          <p:nvPr/>
        </p:nvSpPr>
        <p:spPr>
          <a:xfrm>
            <a:off x="463960" y="2188448"/>
            <a:ext cx="1570436" cy="37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슬로건   </a:t>
            </a:r>
            <a:r>
              <a:rPr lang="en-US" altLang="ko-KR" sz="1100" b="1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Slogan</a:t>
            </a:r>
            <a:endParaRPr lang="en-US" altLang="ko-KR" sz="1100" b="1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58" name="가로 글상자 57"/>
          <p:cNvSpPr txBox="1"/>
          <p:nvPr/>
        </p:nvSpPr>
        <p:spPr>
          <a:xfrm>
            <a:off x="2595046" y="2225402"/>
            <a:ext cx="2598275" cy="2887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100" b="1" spc="100">
                <a:solidFill>
                  <a:srgbClr val="496f78"/>
                </a:solidFill>
                <a:latin typeface="충북대70주년체 Regular"/>
                <a:ea typeface="충북대70주년체 Regular"/>
              </a:rPr>
              <a:t>선택하거나</a:t>
            </a:r>
            <a:r>
              <a:rPr lang="ko-KR" altLang="en-US" sz="1100" b="1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 </a:t>
            </a:r>
            <a:r>
              <a:rPr lang="en-US" altLang="ko-KR" sz="1100" b="1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-</a:t>
            </a:r>
            <a:r>
              <a:rPr lang="ko-KR" altLang="en-US" sz="1100" b="1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 </a:t>
            </a:r>
            <a:r>
              <a:rPr lang="ko-KR" altLang="en-US" sz="1100" b="1" spc="100">
                <a:solidFill>
                  <a:srgbClr val="8b5587"/>
                </a:solidFill>
                <a:latin typeface="충북대70주년체 Regular"/>
                <a:ea typeface="충북대70주년체 Regular"/>
              </a:rPr>
              <a:t>선택 당하거나</a:t>
            </a:r>
            <a:endParaRPr lang="ko-KR" altLang="en-US" sz="1100" b="1" spc="100">
              <a:solidFill>
                <a:srgbClr val="8b5587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59" name="가로 글상자 58"/>
          <p:cNvSpPr txBox="1"/>
          <p:nvPr/>
        </p:nvSpPr>
        <p:spPr>
          <a:xfrm>
            <a:off x="463960" y="1712379"/>
            <a:ext cx="1570435" cy="371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제목</a:t>
            </a:r>
            <a:r>
              <a:rPr lang="ko-KR" altLang="en-US" sz="14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   </a:t>
            </a:r>
            <a:r>
              <a:rPr lang="en-US" altLang="ko-KR" sz="1100" b="1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Title</a:t>
            </a:r>
            <a:endParaRPr lang="en-US" altLang="ko-KR" sz="1100" b="1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61" name="가로 글상자 60"/>
          <p:cNvSpPr txBox="1"/>
          <p:nvPr/>
        </p:nvSpPr>
        <p:spPr>
          <a:xfrm>
            <a:off x="2595048" y="1712338"/>
            <a:ext cx="903038" cy="2875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100" b="1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넌 착해</a:t>
            </a:r>
            <a:r>
              <a:rPr lang="en-US" altLang="ko-KR" sz="1100" b="1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!</a:t>
            </a:r>
            <a:endParaRPr lang="ko-KR" altLang="en-US" sz="1100" b="1" spc="100">
              <a:solidFill>
                <a:srgbClr val="ecedf1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70" name="가로 글상자 69"/>
          <p:cNvSpPr txBox="1"/>
          <p:nvPr/>
        </p:nvSpPr>
        <p:spPr>
          <a:xfrm>
            <a:off x="509586" y="391416"/>
            <a:ext cx="3933968" cy="6176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35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개요</a:t>
            </a:r>
            <a:endParaRPr lang="ko-KR" altLang="en-US" sz="3500" b="1">
              <a:solidFill>
                <a:srgbClr val="ecedf1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75" name="뺄셈 기호 74"/>
          <p:cNvSpPr/>
          <p:nvPr/>
        </p:nvSpPr>
        <p:spPr>
          <a:xfrm>
            <a:off x="1513246" y="867485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76" name="뺄셈 기호 75"/>
          <p:cNvSpPr/>
          <p:nvPr/>
        </p:nvSpPr>
        <p:spPr>
          <a:xfrm>
            <a:off x="1195746" y="867485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77" name="뺄셈 기호 76"/>
          <p:cNvSpPr/>
          <p:nvPr/>
        </p:nvSpPr>
        <p:spPr>
          <a:xfrm>
            <a:off x="878246" y="867485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78" name="뺄셈 기호 77"/>
          <p:cNvSpPr/>
          <p:nvPr/>
        </p:nvSpPr>
        <p:spPr>
          <a:xfrm>
            <a:off x="560746" y="867485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2" name="타원 81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3" name="TextBox 1"/>
          <p:cNvSpPr txBox="1"/>
          <p:nvPr/>
        </p:nvSpPr>
        <p:spPr>
          <a:xfrm>
            <a:off x="9316166" y="0"/>
            <a:ext cx="1457269" cy="115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글자 크기</a:t>
            </a:r>
            <a:endParaRPr lang="ko-KR" altLang="en-US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26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2600">
                <a:latin typeface="충북대70주년체 Regular"/>
                <a:ea typeface="충북대70주년체 Regular"/>
              </a:rPr>
              <a:t>(35)</a:t>
            </a:r>
            <a:endParaRPr lang="en-US" altLang="ko-KR" sz="2600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14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400">
                <a:latin typeface="충북대70주년체 Regular"/>
                <a:ea typeface="충북대70주년체 Regular"/>
              </a:rPr>
              <a:t>(19)</a:t>
            </a:r>
            <a:endParaRPr lang="en-US" altLang="ko-KR" sz="1400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11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100">
                <a:latin typeface="충북대70주년체 Regular"/>
                <a:ea typeface="충북대70주년체 Regular"/>
              </a:rPr>
              <a:t>(11)</a:t>
            </a:r>
            <a:endParaRPr lang="en-US" altLang="ko-KR" sz="1100">
              <a:latin typeface="충북대70주년체 Regular"/>
              <a:ea typeface="충북대70주년체 Regular"/>
            </a:endParaRPr>
          </a:p>
        </p:txBody>
      </p:sp>
      <p:sp>
        <p:nvSpPr>
          <p:cNvPr id="84" name="타원 83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5" name="타원 84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6" name="타원 85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7" name="타원 86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8" name="타원 87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9" name="타원 88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0" name="TextBox 1"/>
          <p:cNvSpPr txBox="1"/>
          <p:nvPr/>
        </p:nvSpPr>
        <p:spPr>
          <a:xfrm>
            <a:off x="9316166" y="1301432"/>
            <a:ext cx="1965269" cy="6683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글꼴</a:t>
            </a:r>
            <a:endParaRPr lang="ko-KR" altLang="en-US" sz="1900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충북대</a:t>
            </a:r>
            <a:r>
              <a:rPr lang="en-US" altLang="ko-KR" sz="1900">
                <a:latin typeface="충북대70주년체 Regular"/>
                <a:ea typeface="충북대70주년체 Regular"/>
              </a:rPr>
              <a:t>70</a:t>
            </a:r>
            <a:r>
              <a:rPr lang="ko-KR" altLang="en-US" sz="1900">
                <a:latin typeface="충북대70주년체 Regular"/>
                <a:ea typeface="충북대70주년체 Regular"/>
              </a:rPr>
              <a:t>주년체</a:t>
            </a:r>
            <a:endParaRPr lang="ko-KR" altLang="en-US" sz="1900">
              <a:latin typeface="충북대70주년체 Regular"/>
              <a:ea typeface="충북대70주년체 Regular"/>
            </a:endParaRPr>
          </a:p>
        </p:txBody>
      </p:sp>
      <p:cxnSp>
        <p:nvCxnSpPr>
          <p:cNvPr id="91" name="선 90"/>
          <p:cNvCxnSpPr/>
          <p:nvPr/>
        </p:nvCxnSpPr>
        <p:spPr>
          <a:xfrm rot="16200000" flipH="1" flipV="1">
            <a:off x="110942" y="3960321"/>
            <a:ext cx="4495885" cy="0"/>
          </a:xfrm>
          <a:prstGeom prst="line">
            <a:avLst/>
          </a:prstGeom>
          <a:ln w="25400">
            <a:solidFill>
              <a:srgbClr val="76777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8783012"/>
      </p:ext>
    </p:extLst>
  </p:cSld>
  <p:clrMapOvr>
    <a:masterClrMapping/>
  </p:clrMapOvr>
</p:sld>
</file>

<file path=ppt/slides/slide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1e0d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가로 글상자 25"/>
          <p:cNvSpPr txBox="1"/>
          <p:nvPr/>
        </p:nvSpPr>
        <p:spPr>
          <a:xfrm>
            <a:off x="577813" y="3742116"/>
            <a:ext cx="1570433" cy="2999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[</a:t>
            </a:r>
            <a:r>
              <a:rPr lang="ko-KR" altLang="en-US" sz="14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이야기 목적</a:t>
            </a:r>
            <a:r>
              <a:rPr lang="en-US" altLang="ko-KR" sz="14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]</a:t>
            </a:r>
            <a:endParaRPr lang="en-US" altLang="ko-KR" sz="1400" b="1">
              <a:solidFill>
                <a:srgbClr val="ecedf1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28" name="가로 글상자 27"/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  <a:endParaRPr lang="ko-KR" altLang="en-US"/>
          </a:p>
        </p:txBody>
      </p:sp>
      <p:sp>
        <p:nvSpPr>
          <p:cNvPr id="37" name="가로 글상자 36"/>
          <p:cNvSpPr txBox="1"/>
          <p:nvPr/>
        </p:nvSpPr>
        <p:spPr>
          <a:xfrm>
            <a:off x="2195870" y="3742116"/>
            <a:ext cx="6146384" cy="6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en-US" altLang="ko-KR" sz="1100" b="1" spc="100">
                <a:solidFill>
                  <a:srgbClr val="496f78"/>
                </a:solidFill>
                <a:latin typeface="충북대70주년체 Regular"/>
                <a:ea typeface="충북대70주년체 Regular"/>
              </a:rPr>
              <a:t>‘</a:t>
            </a:r>
            <a:r>
              <a:rPr lang="ko-KR" altLang="en-US" sz="1100" b="1" spc="100">
                <a:solidFill>
                  <a:srgbClr val="496f78"/>
                </a:solidFill>
                <a:latin typeface="충북대70주년체 Regular"/>
                <a:ea typeface="충북대70주년체 Regular"/>
              </a:rPr>
              <a:t>착함</a:t>
            </a:r>
            <a:r>
              <a:rPr lang="en-US" altLang="ko-KR" sz="1100" b="1" spc="100">
                <a:solidFill>
                  <a:srgbClr val="496f78"/>
                </a:solidFill>
                <a:latin typeface="충북대70주년체 Regular"/>
                <a:ea typeface="충북대70주년체 Regular"/>
              </a:rPr>
              <a:t>’</a:t>
            </a: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이라는 사회적 기대 속에서 한 사람이 어떤 선택을 하게 되는 지를 다룬다</a:t>
            </a:r>
            <a:r>
              <a:rPr lang="en-US" altLang="ko-KR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.</a:t>
            </a:r>
            <a:endParaRPr lang="en-US" altLang="ko-KR" sz="1100" b="1" spc="100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  <a:p>
            <a:pPr lvl="0">
              <a:lnSpc>
                <a:spcPct val="120000"/>
              </a:lnSpc>
              <a:defRPr/>
            </a:pP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세계가 붕괴되어 가는 과정과 함께</a:t>
            </a:r>
            <a:r>
              <a:rPr lang="en-US" altLang="ko-KR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,</a:t>
            </a:r>
            <a:endParaRPr lang="en-US" altLang="ko-KR" sz="1100" b="1" spc="100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  <a:p>
            <a:pPr lvl="0">
              <a:lnSpc>
                <a:spcPct val="120000"/>
              </a:lnSpc>
              <a:defRPr/>
            </a:pP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타인의 기대에 응답해 온 주인공 역시 점차 하나의 역할로 소모되며 붕괴된다</a:t>
            </a:r>
            <a:r>
              <a:rPr lang="en-US" altLang="ko-KR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.</a:t>
            </a:r>
            <a:endParaRPr lang="en-US" altLang="ko-KR" sz="1100" b="1" spc="100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38" name="가로 글상자 37"/>
          <p:cNvSpPr txBox="1"/>
          <p:nvPr/>
        </p:nvSpPr>
        <p:spPr>
          <a:xfrm>
            <a:off x="2195869" y="4855845"/>
            <a:ext cx="6146387" cy="4860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플레이어는 선택과 장애를 극복하며 이야기를 끝까지 완주한다</a:t>
            </a:r>
            <a:r>
              <a:rPr lang="en-US" altLang="ko-KR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.</a:t>
            </a:r>
            <a:endParaRPr lang="en-US" altLang="ko-KR" sz="1100" b="1" spc="100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  <a:p>
            <a:pPr lvl="0">
              <a:lnSpc>
                <a:spcPct val="120000"/>
              </a:lnSpc>
              <a:defRPr/>
            </a:pP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정답을 찾기보다는</a:t>
            </a:r>
            <a:r>
              <a:rPr lang="en-US" altLang="ko-KR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,</a:t>
            </a: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 </a:t>
            </a:r>
            <a:r>
              <a:rPr lang="ko-KR" altLang="en-US" sz="1100" b="1" spc="100">
                <a:solidFill>
                  <a:srgbClr val="8b5587"/>
                </a:solidFill>
                <a:latin typeface="충북대70주년체 Regular"/>
                <a:ea typeface="충북대70주년체 Regular"/>
              </a:rPr>
              <a:t>선택이 누적되며 만들어지는 감정과 서사를 체험</a:t>
            </a: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하는 데 목적이 있다</a:t>
            </a:r>
            <a:r>
              <a:rPr lang="en-US" altLang="ko-KR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.</a:t>
            </a:r>
            <a:endParaRPr lang="en-US" altLang="ko-KR" sz="1100" b="1" spc="100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41" name="가로 글상자 40"/>
          <p:cNvSpPr txBox="1"/>
          <p:nvPr/>
        </p:nvSpPr>
        <p:spPr>
          <a:xfrm>
            <a:off x="577813" y="4855845"/>
            <a:ext cx="1296592" cy="2984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[</a:t>
            </a:r>
            <a:r>
              <a:rPr lang="ko-KR" altLang="en-US" sz="14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플레이 목적</a:t>
            </a:r>
            <a:r>
              <a:rPr lang="en-US" altLang="ko-KR" sz="14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]</a:t>
            </a:r>
            <a:endParaRPr lang="en-US" altLang="ko-KR" sz="1400" b="1">
              <a:solidFill>
                <a:srgbClr val="ecedf1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51" name="사각형 설명선 50"/>
          <p:cNvSpPr/>
          <p:nvPr/>
        </p:nvSpPr>
        <p:spPr>
          <a:xfrm>
            <a:off x="2148247" y="3742117"/>
            <a:ext cx="6194008" cy="685103"/>
          </a:xfrm>
          <a:prstGeom prst="wedgeRectCallout">
            <a:avLst>
              <a:gd name="adj1" fmla="val -51936"/>
              <a:gd name="adj2" fmla="val -19421"/>
            </a:avLst>
          </a:prstGeom>
          <a:noFill/>
          <a:ln>
            <a:solidFill>
              <a:srgbClr val="767779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endParaRPr lang="ko-KR" altLang="en-US"/>
          </a:p>
        </p:txBody>
      </p:sp>
      <p:sp>
        <p:nvSpPr>
          <p:cNvPr id="54" name="사각형 설명선 53"/>
          <p:cNvSpPr/>
          <p:nvPr/>
        </p:nvSpPr>
        <p:spPr>
          <a:xfrm>
            <a:off x="2148247" y="4855845"/>
            <a:ext cx="6194008" cy="486091"/>
          </a:xfrm>
          <a:prstGeom prst="wedgeRectCallout">
            <a:avLst>
              <a:gd name="adj1" fmla="val -52448"/>
              <a:gd name="adj2" fmla="val -20445"/>
            </a:avLst>
          </a:prstGeom>
          <a:noFill/>
          <a:ln>
            <a:solidFill>
              <a:srgbClr val="767779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6" name="가로 글상자 55"/>
          <p:cNvSpPr txBox="1"/>
          <p:nvPr/>
        </p:nvSpPr>
        <p:spPr>
          <a:xfrm>
            <a:off x="577813" y="2701512"/>
            <a:ext cx="1570434" cy="3008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[</a:t>
            </a:r>
            <a:r>
              <a:rPr lang="ko-KR" altLang="en-US" sz="14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방해 요인</a:t>
            </a:r>
            <a:r>
              <a:rPr lang="en-US" altLang="ko-KR" sz="14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]</a:t>
            </a:r>
            <a:endParaRPr lang="en-US" altLang="ko-KR" sz="1400" b="1">
              <a:solidFill>
                <a:srgbClr val="ecedf1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57" name="사각형 설명선 56"/>
          <p:cNvSpPr/>
          <p:nvPr/>
        </p:nvSpPr>
        <p:spPr>
          <a:xfrm>
            <a:off x="2148247" y="2701512"/>
            <a:ext cx="6194008" cy="644890"/>
          </a:xfrm>
          <a:prstGeom prst="wedgeRectCallout">
            <a:avLst>
              <a:gd name="adj1" fmla="val -51936"/>
              <a:gd name="adj2" fmla="val -19421"/>
            </a:avLst>
          </a:prstGeom>
          <a:noFill/>
          <a:ln>
            <a:solidFill>
              <a:srgbClr val="767779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8" name="가로 글상자 57"/>
          <p:cNvSpPr txBox="1"/>
          <p:nvPr/>
        </p:nvSpPr>
        <p:spPr>
          <a:xfrm>
            <a:off x="2195866" y="2701511"/>
            <a:ext cx="6146388" cy="6874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100" b="1" spc="100">
                <a:solidFill>
                  <a:srgbClr val="eb657e"/>
                </a:solidFill>
                <a:latin typeface="충북대70주년체 Regular"/>
                <a:ea typeface="충북대70주년체 Regular"/>
              </a:rPr>
              <a:t>몬스터와 퍼즐</a:t>
            </a: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이 물리적인 장애로 등장하며</a:t>
            </a:r>
            <a:r>
              <a:rPr lang="en-US" altLang="ko-KR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,</a:t>
            </a:r>
            <a:endParaRPr lang="en-US" altLang="ko-KR" sz="1100" b="1" spc="100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  <a:p>
            <a:pPr lvl="0">
              <a:lnSpc>
                <a:spcPct val="120000"/>
              </a:lnSpc>
              <a:defRPr/>
            </a:pP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동시에 </a:t>
            </a:r>
            <a:r>
              <a:rPr lang="ko-KR" altLang="en-US" sz="1100" b="1" spc="100">
                <a:solidFill>
                  <a:srgbClr val="eb657e"/>
                </a:solidFill>
                <a:latin typeface="충북대70주년체 Regular"/>
                <a:ea typeface="충북대70주년체 Regular"/>
              </a:rPr>
              <a:t>주변 인물들의 말과 반복되는 요구</a:t>
            </a: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는 심리적인 압박으로 작용해</a:t>
            </a:r>
            <a:r>
              <a:rPr lang="en-US" altLang="ko-KR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,</a:t>
            </a:r>
            <a:endParaRPr lang="en-US" altLang="ko-KR" sz="1100" b="1" spc="100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  <a:p>
            <a:pPr lvl="0">
              <a:lnSpc>
                <a:spcPct val="120000"/>
              </a:lnSpc>
              <a:defRPr/>
            </a:pPr>
            <a:r>
              <a:rPr lang="ko-KR" altLang="en-US" sz="1100" b="1" spc="100">
                <a:solidFill>
                  <a:srgbClr val="fce891"/>
                </a:solidFill>
                <a:latin typeface="충북대70주년체 Regular"/>
                <a:ea typeface="충북대70주년체 Regular"/>
              </a:rPr>
              <a:t>플레이어가 특정한 선택을 하도록 몰아가는 상황</a:t>
            </a: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을 만든다</a:t>
            </a:r>
            <a:r>
              <a:rPr lang="en-US" altLang="ko-KR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.</a:t>
            </a:r>
            <a:endParaRPr lang="en-US" altLang="ko-KR" sz="1100" b="1" spc="100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59" name="가로 글상자 58"/>
          <p:cNvSpPr txBox="1"/>
          <p:nvPr/>
        </p:nvSpPr>
        <p:spPr>
          <a:xfrm>
            <a:off x="577813" y="1712338"/>
            <a:ext cx="1570434" cy="2995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[</a:t>
            </a:r>
            <a:r>
              <a:rPr lang="ko-KR" altLang="en-US" sz="14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플레이 작용 요소</a:t>
            </a:r>
            <a:r>
              <a:rPr lang="en-US" altLang="ko-KR" sz="14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]</a:t>
            </a:r>
            <a:endParaRPr lang="en-US" altLang="ko-KR" sz="1400" b="1">
              <a:solidFill>
                <a:srgbClr val="ecedf1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60" name="사각형 설명선 59"/>
          <p:cNvSpPr/>
          <p:nvPr/>
        </p:nvSpPr>
        <p:spPr>
          <a:xfrm>
            <a:off x="2148247" y="1712339"/>
            <a:ext cx="6194008" cy="686055"/>
          </a:xfrm>
          <a:prstGeom prst="wedgeRectCallout">
            <a:avLst>
              <a:gd name="adj1" fmla="val -51936"/>
              <a:gd name="adj2" fmla="val -19421"/>
            </a:avLst>
          </a:prstGeom>
          <a:noFill/>
          <a:ln>
            <a:solidFill>
              <a:srgbClr val="767779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1" name="가로 글상자 60"/>
          <p:cNvSpPr txBox="1"/>
          <p:nvPr/>
        </p:nvSpPr>
        <p:spPr>
          <a:xfrm>
            <a:off x="2195867" y="1712338"/>
            <a:ext cx="6146388" cy="6860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플레이어는 </a:t>
            </a:r>
            <a:r>
              <a:rPr lang="ko-KR" altLang="en-US" sz="1100" b="1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대화와 행동 선택</a:t>
            </a: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을 통해 상황에 개입한다</a:t>
            </a:r>
            <a:r>
              <a:rPr lang="en-US" altLang="ko-KR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.</a:t>
            </a:r>
            <a:endParaRPr lang="en-US" altLang="ko-KR" sz="1100" b="1" spc="100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  <a:p>
            <a:pPr lvl="0">
              <a:lnSpc>
                <a:spcPct val="120000"/>
              </a:lnSpc>
              <a:defRPr/>
            </a:pP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선택은 즉각적인 결과뿐 아니라 </a:t>
            </a:r>
            <a:r>
              <a:rPr lang="ko-KR" altLang="en-US" sz="1100" b="1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이후 전개과 선택지 구성에 누적된 영향</a:t>
            </a: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을 미치며</a:t>
            </a:r>
            <a:r>
              <a:rPr lang="en-US" altLang="ko-KR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,</a:t>
            </a:r>
            <a:endParaRPr lang="en-US" altLang="ko-KR" sz="1100" b="1" spc="100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  <a:p>
            <a:pPr lvl="0">
              <a:lnSpc>
                <a:spcPct val="120000"/>
              </a:lnSpc>
              <a:defRPr/>
            </a:pP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주인공이 주변의 기대에 어떻게 반응해 왔는 지를 드러낸다</a:t>
            </a:r>
            <a:r>
              <a:rPr lang="en-US" altLang="ko-KR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.</a:t>
            </a:r>
            <a:endParaRPr lang="en-US" altLang="ko-KR" sz="1100" b="1" spc="100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82" name="타원 81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3" name="TextBox 1"/>
          <p:cNvSpPr txBox="1"/>
          <p:nvPr/>
        </p:nvSpPr>
        <p:spPr>
          <a:xfrm>
            <a:off x="9316166" y="0"/>
            <a:ext cx="1457269" cy="115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글자 크기</a:t>
            </a:r>
            <a:endParaRPr lang="ko-KR" altLang="en-US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26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2600">
                <a:latin typeface="충북대70주년체 Regular"/>
                <a:ea typeface="충북대70주년체 Regular"/>
              </a:rPr>
              <a:t>(35)</a:t>
            </a:r>
            <a:endParaRPr lang="en-US" altLang="ko-KR" sz="2600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14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400">
                <a:latin typeface="충북대70주년체 Regular"/>
                <a:ea typeface="충북대70주년체 Regular"/>
              </a:rPr>
              <a:t>(19)</a:t>
            </a:r>
            <a:endParaRPr lang="en-US" altLang="ko-KR" sz="1400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11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100">
                <a:latin typeface="충북대70주년체 Regular"/>
                <a:ea typeface="충북대70주년체 Regular"/>
              </a:rPr>
              <a:t>(11)</a:t>
            </a:r>
            <a:endParaRPr lang="en-US" altLang="ko-KR" sz="1100">
              <a:latin typeface="충북대70주년체 Regular"/>
              <a:ea typeface="충북대70주년체 Regular"/>
            </a:endParaRPr>
          </a:p>
        </p:txBody>
      </p:sp>
      <p:sp>
        <p:nvSpPr>
          <p:cNvPr id="84" name="타원 83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5" name="타원 84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6" name="타원 85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7" name="타원 86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8" name="타원 87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9" name="타원 88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0" name="TextBox 1"/>
          <p:cNvSpPr txBox="1"/>
          <p:nvPr/>
        </p:nvSpPr>
        <p:spPr>
          <a:xfrm>
            <a:off x="9316166" y="1301432"/>
            <a:ext cx="1965269" cy="6683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글꼴</a:t>
            </a:r>
            <a:endParaRPr lang="ko-KR" altLang="en-US" sz="1900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충북대</a:t>
            </a:r>
            <a:r>
              <a:rPr lang="en-US" altLang="ko-KR" sz="1900">
                <a:latin typeface="충북대70주년체 Regular"/>
                <a:ea typeface="충북대70주년체 Regular"/>
              </a:rPr>
              <a:t>70</a:t>
            </a:r>
            <a:r>
              <a:rPr lang="ko-KR" altLang="en-US" sz="1900">
                <a:latin typeface="충북대70주년체 Regular"/>
                <a:ea typeface="충북대70주년체 Regular"/>
              </a:rPr>
              <a:t>주년체</a:t>
            </a:r>
            <a:endParaRPr lang="ko-KR" altLang="en-US" sz="1900">
              <a:latin typeface="충북대70주년체 Regular"/>
              <a:ea typeface="충북대70주년체 Regular"/>
            </a:endParaRPr>
          </a:p>
        </p:txBody>
      </p:sp>
      <p:sp>
        <p:nvSpPr>
          <p:cNvPr id="91" name="가로 글상자 90"/>
          <p:cNvSpPr txBox="1"/>
          <p:nvPr/>
        </p:nvSpPr>
        <p:spPr>
          <a:xfrm>
            <a:off x="509586" y="294858"/>
            <a:ext cx="3933968" cy="6176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35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게임의 정의</a:t>
            </a:r>
            <a:endParaRPr lang="ko-KR" altLang="en-US" sz="3500" b="1">
              <a:solidFill>
                <a:srgbClr val="ecedf1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92" name="뺄셈 기호 91"/>
          <p:cNvSpPr/>
          <p:nvPr/>
        </p:nvSpPr>
        <p:spPr>
          <a:xfrm>
            <a:off x="1513246" y="770927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3" name="뺄셈 기호 92"/>
          <p:cNvSpPr/>
          <p:nvPr/>
        </p:nvSpPr>
        <p:spPr>
          <a:xfrm>
            <a:off x="1195746" y="770927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4" name="뺄셈 기호 93"/>
          <p:cNvSpPr/>
          <p:nvPr/>
        </p:nvSpPr>
        <p:spPr>
          <a:xfrm>
            <a:off x="878246" y="770927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>
              <a:solidFill>
                <a:srgbClr val="fce891"/>
              </a:solidFill>
            </a:endParaRPr>
          </a:p>
        </p:txBody>
      </p:sp>
      <p:sp>
        <p:nvSpPr>
          <p:cNvPr id="95" name="뺄셈 기호 94"/>
          <p:cNvSpPr/>
          <p:nvPr/>
        </p:nvSpPr>
        <p:spPr>
          <a:xfrm>
            <a:off x="560746" y="770927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5378882"/>
      </p:ext>
    </p:extLst>
  </p:cSld>
  <p:clrMapOvr>
    <a:masterClrMapping/>
  </p:clrMapOvr>
</p:sld>
</file>

<file path=ppt/slides/slide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1e0d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뺄셈 기호 3"/>
          <p:cNvSpPr/>
          <p:nvPr/>
        </p:nvSpPr>
        <p:spPr>
          <a:xfrm>
            <a:off x="2875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뺄셈 기호 4"/>
          <p:cNvSpPr/>
          <p:nvPr/>
        </p:nvSpPr>
        <p:spPr>
          <a:xfrm>
            <a:off x="2240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뺄셈 기호 5"/>
          <p:cNvSpPr/>
          <p:nvPr/>
        </p:nvSpPr>
        <p:spPr>
          <a:xfrm>
            <a:off x="25580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7" name="뺄셈 기호 6"/>
          <p:cNvSpPr/>
          <p:nvPr/>
        </p:nvSpPr>
        <p:spPr>
          <a:xfrm>
            <a:off x="19230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" name="뺄셈 기호 7"/>
          <p:cNvSpPr/>
          <p:nvPr/>
        </p:nvSpPr>
        <p:spPr>
          <a:xfrm>
            <a:off x="1605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뺄셈 기호 8"/>
          <p:cNvSpPr/>
          <p:nvPr/>
        </p:nvSpPr>
        <p:spPr>
          <a:xfrm>
            <a:off x="12880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" name="뺄셈 기호 9"/>
          <p:cNvSpPr/>
          <p:nvPr/>
        </p:nvSpPr>
        <p:spPr>
          <a:xfrm>
            <a:off x="970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1" name="뺄셈 기호 10"/>
          <p:cNvSpPr/>
          <p:nvPr/>
        </p:nvSpPr>
        <p:spPr>
          <a:xfrm>
            <a:off x="31930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2" name="뺄셈 기호 11"/>
          <p:cNvSpPr/>
          <p:nvPr/>
        </p:nvSpPr>
        <p:spPr>
          <a:xfrm>
            <a:off x="6530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3" name="뺄셈 기호 12"/>
          <p:cNvSpPr/>
          <p:nvPr/>
        </p:nvSpPr>
        <p:spPr>
          <a:xfrm>
            <a:off x="335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4" name="뺄셈 기호 13"/>
          <p:cNvSpPr/>
          <p:nvPr/>
        </p:nvSpPr>
        <p:spPr>
          <a:xfrm>
            <a:off x="3510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5" name="타원 14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6" name="TextBox 1"/>
          <p:cNvSpPr txBox="1"/>
          <p:nvPr/>
        </p:nvSpPr>
        <p:spPr>
          <a:xfrm>
            <a:off x="9316166" y="0"/>
            <a:ext cx="1457269" cy="1164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글자 크기</a:t>
            </a:r>
            <a:endParaRPr lang="ko-KR" altLang="en-US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26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2600">
                <a:latin typeface="충북대70주년체 Regular"/>
                <a:ea typeface="충북대70주년체 Regular"/>
              </a:rPr>
              <a:t>(35)</a:t>
            </a:r>
            <a:endParaRPr lang="en-US" altLang="ko-KR" sz="2600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14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400">
                <a:latin typeface="충북대70주년체 Regular"/>
                <a:ea typeface="충북대70주년체 Regular"/>
              </a:rPr>
              <a:t>(19)</a:t>
            </a:r>
            <a:endParaRPr lang="en-US" altLang="ko-KR" sz="1400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11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100">
                <a:latin typeface="충북대70주년체 Regular"/>
                <a:ea typeface="충북대70주년체 Regular"/>
              </a:rPr>
              <a:t>(11)</a:t>
            </a:r>
            <a:endParaRPr lang="en-US" altLang="ko-KR" sz="1100">
              <a:latin typeface="충북대70주년체 Regular"/>
              <a:ea typeface="충북대70주년체 Regular"/>
            </a:endParaRPr>
          </a:p>
        </p:txBody>
      </p:sp>
      <p:sp>
        <p:nvSpPr>
          <p:cNvPr id="17" name="타원 16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8" name="타원 17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9" name="타원 18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0" name="타원 19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1" name="타원 20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2" name="타원 21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3" name="TextBox 1"/>
          <p:cNvSpPr txBox="1"/>
          <p:nvPr/>
        </p:nvSpPr>
        <p:spPr>
          <a:xfrm>
            <a:off x="9316166" y="1301432"/>
            <a:ext cx="1965269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글꼴</a:t>
            </a:r>
            <a:endParaRPr lang="ko-KR" altLang="en-US" sz="1900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충북대</a:t>
            </a:r>
            <a:r>
              <a:rPr lang="en-US" altLang="ko-KR" sz="1900">
                <a:latin typeface="충북대70주년체 Regular"/>
                <a:ea typeface="충북대70주년체 Regular"/>
              </a:rPr>
              <a:t>70</a:t>
            </a:r>
            <a:r>
              <a:rPr lang="ko-KR" altLang="en-US" sz="1900">
                <a:latin typeface="충북대70주년체 Regular"/>
                <a:ea typeface="충북대70주년체 Regular"/>
              </a:rPr>
              <a:t>주년체</a:t>
            </a:r>
            <a:endParaRPr lang="ko-KR" altLang="en-US" sz="1900">
              <a:latin typeface="충북대70주년체 Regular"/>
              <a:ea typeface="충북대70주년체 Regular"/>
            </a:endParaRPr>
          </a:p>
        </p:txBody>
      </p:sp>
    </p:spTree>
    <p:extLst>
      <p:ext uri="{BB962C8B-B14F-4D97-AF65-F5344CB8AC3E}">
        <p14:creationId xmlns:p14="http://schemas.microsoft.com/office/powerpoint/2010/main" val="2845714888"/>
      </p:ext>
    </p:extLst>
  </p:cSld>
  <p:clrMapOvr>
    <a:masterClrMapping/>
  </p:clrMapOvr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4a45ff"/>
      </a:hlink>
      <a:folHlink>
        <a:srgbClr val="be27bb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253</ep:Words>
  <ep:PresentationFormat>화면 슬라이드 쇼(4:3)</ep:PresentationFormat>
  <ep:Paragraphs>135</ep:Paragraphs>
  <ep:Slides>5</ep:Slides>
  <ep:Notes>3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ep:HeadingPairs>
  <ep:TitlesOfParts>
    <vt:vector size="6" baseType="lpstr">
      <vt:lpstr>Office 테마</vt:lpstr>
      <vt:lpstr>슬라이드 1</vt:lpstr>
      <vt:lpstr>슬라이드 2</vt:lpstr>
      <vt:lpstr>슬라이드 3</vt:lpstr>
      <vt:lpstr>슬라이드 4</vt:lpstr>
      <vt:lpstr>슬라이드 5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2026-01-12T05:12:27.000</dcterms:created>
  <dc:creator>OFFICE</dc:creator>
  <cp:lastModifiedBy>82103</cp:lastModifiedBy>
  <dcterms:modified xsi:type="dcterms:W3CDTF">2026-01-17T07:53:51.042</dcterms:modified>
  <cp:revision>129</cp:revision>
  <dc:title>PowerPoint 프레젠테이션</dc:title>
  <cp:version/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