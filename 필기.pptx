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4" r:id="rId13"/>
    <p:sldId id="272" r:id="rId14"/>
    <p:sldId id="273" r:id="rId15"/>
    <p:sldId id="275" r:id="rId16"/>
    <p:sldId id="271" r:id="rId17"/>
    <p:sldId id="276" r:id="rId18"/>
    <p:sldId id="278" r:id="rId19"/>
    <p:sldId id="277" r:id="rId20"/>
    <p:sldId id="279" r:id="rId21"/>
    <p:sldId id="269" r:id="rId22"/>
    <p:sldId id="280" r:id="rId23"/>
    <p:sldId id="282" r:id="rId24"/>
    <p:sldId id="284" r:id="rId25"/>
    <p:sldId id="283" r:id="rId26"/>
    <p:sldId id="281" r:id="rId27"/>
    <p:sldId id="285" r:id="rId28"/>
    <p:sldId id="286" r:id="rId29"/>
    <p:sldId id="287" r:id="rId30"/>
    <p:sldId id="288" r:id="rId31"/>
    <p:sldId id="290" r:id="rId32"/>
    <p:sldId id="291" r:id="rId33"/>
    <p:sldId id="289" r:id="rId34"/>
    <p:sldId id="293" r:id="rId35"/>
    <p:sldId id="294" r:id="rId36"/>
    <p:sldId id="295" r:id="rId37"/>
    <p:sldId id="292" r:id="rId38"/>
    <p:sldId id="296" r:id="rId39"/>
    <p:sldId id="297" r:id="rId40"/>
    <p:sldId id="300" r:id="rId41"/>
    <p:sldId id="298" r:id="rId42"/>
    <p:sldId id="301" r:id="rId43"/>
    <p:sldId id="299" r:id="rId44"/>
    <p:sldId id="302" r:id="rId45"/>
    <p:sldId id="303" r:id="rId46"/>
    <p:sldId id="304" r:id="rId47"/>
    <p:sldId id="305" r:id="rId48"/>
    <p:sldId id="306" r:id="rId49"/>
    <p:sldId id="307" r:id="rId50"/>
    <p:sldId id="309" r:id="rId51"/>
    <p:sldId id="308" r:id="rId5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132" y="-1068"/>
      </p:cViewPr>
      <p:guideLst>
        <p:guide orient="horz" pos="2157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69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805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4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019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421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045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356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19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59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39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358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831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894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698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3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78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95400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444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7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000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50079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0980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41705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0372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41423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62942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07125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6597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4B3BA9B4-7E72-4B67-919E-AB65492FA93B}" type="datetime1">
              <a:rPr lang="ko-KR" altLang="en-US"/>
              <a:pPr lvl="0">
                <a:defRPr/>
              </a:pPr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94A2137-8E27-430F-BC1F-15A504CFDD7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03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3886" y="1135277"/>
            <a:ext cx="7376984" cy="392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통합 계획서 </a:t>
            </a:r>
            <a:r>
              <a:rPr lang="en-US" altLang="ko-KR"/>
              <a:t>– </a:t>
            </a:r>
            <a:r>
              <a:rPr lang="ko-KR" altLang="en-US"/>
              <a:t>내 게임의 가치를 보여주는 것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[1</a:t>
            </a:r>
            <a:r>
              <a:rPr lang="ko-KR" altLang="en-US"/>
              <a:t>페이지</a:t>
            </a:r>
            <a:r>
              <a:rPr lang="en-US" altLang="ko-KR"/>
              <a:t>]</a:t>
            </a:r>
          </a:p>
          <a:p>
            <a:pPr lvl="0">
              <a:defRPr/>
            </a:pPr>
            <a:r>
              <a:rPr lang="en-US" altLang="ko-KR"/>
              <a:t>{</a:t>
            </a:r>
            <a:r>
              <a:rPr lang="ko-KR" altLang="en-US"/>
              <a:t>대표 이미지</a:t>
            </a:r>
            <a:r>
              <a:rPr lang="en-US" altLang="ko-KR"/>
              <a:t>}(</a:t>
            </a:r>
            <a:r>
              <a:rPr lang="ko-KR" altLang="en-US"/>
              <a:t>내 게임의 장점을 보여줄 수 있는 이미지</a:t>
            </a:r>
            <a:r>
              <a:rPr lang="en-US" altLang="ko-KR"/>
              <a:t>)</a:t>
            </a:r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게임 정의 요소 </a:t>
            </a:r>
            <a:r>
              <a:rPr lang="en-US" altLang="ko-KR"/>
              <a:t>:</a:t>
            </a:r>
            <a:r>
              <a:rPr lang="ko-KR" altLang="en-US"/>
              <a:t> 플레이의 작용 요소</a:t>
            </a:r>
            <a:r>
              <a:rPr lang="en-US" altLang="ko-KR"/>
              <a:t>(</a:t>
            </a:r>
            <a:r>
              <a:rPr lang="ko-KR" altLang="en-US"/>
              <a:t>조작하고 선택했을 때 어떤 작용을 하는지</a:t>
            </a:r>
            <a:r>
              <a:rPr lang="en-US" altLang="ko-KR"/>
              <a:t>)</a:t>
            </a:r>
            <a:r>
              <a:rPr lang="ko-KR" altLang="en-US"/>
              <a:t>로</a:t>
            </a:r>
          </a:p>
          <a:p>
            <a:pPr lvl="0">
              <a:defRPr/>
            </a:pPr>
            <a:r>
              <a:rPr lang="ko-KR" altLang="en-US"/>
              <a:t>		 방해요인</a:t>
            </a:r>
            <a:r>
              <a:rPr lang="en-US" altLang="ko-KR"/>
              <a:t>(</a:t>
            </a:r>
            <a:r>
              <a:rPr lang="ko-KR" altLang="en-US"/>
              <a:t>몬스터</a:t>
            </a:r>
            <a:r>
              <a:rPr lang="en-US" altLang="ko-KR"/>
              <a:t>, </a:t>
            </a:r>
            <a:r>
              <a:rPr lang="ko-KR" altLang="en-US"/>
              <a:t>퍼즐</a:t>
            </a:r>
            <a:r>
              <a:rPr lang="en-US" altLang="ko-KR"/>
              <a:t>)</a:t>
            </a:r>
            <a:r>
              <a:rPr lang="ko-KR" altLang="en-US"/>
              <a:t>을 제거해서</a:t>
            </a:r>
          </a:p>
          <a:p>
            <a:pPr lvl="0">
              <a:defRPr/>
            </a:pPr>
            <a:r>
              <a:rPr lang="ko-KR" altLang="en-US"/>
              <a:t>		 플레이의 목적</a:t>
            </a:r>
            <a:r>
              <a:rPr lang="en-US" altLang="ko-KR"/>
              <a:t>(</a:t>
            </a:r>
            <a:r>
              <a:rPr lang="ko-KR" altLang="en-US"/>
              <a:t>이야기</a:t>
            </a:r>
            <a:r>
              <a:rPr lang="en-US" altLang="ko-KR"/>
              <a:t>, </a:t>
            </a:r>
            <a:r>
              <a:rPr lang="ko-KR" altLang="en-US"/>
              <a:t>플레이</a:t>
            </a:r>
            <a:r>
              <a:rPr lang="en-US" altLang="ko-KR"/>
              <a:t>)</a:t>
            </a:r>
            <a:r>
              <a:rPr lang="ko-KR" altLang="en-US"/>
              <a:t>을 달성하는 디지털로수행하는 놀이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[2</a:t>
            </a:r>
            <a:r>
              <a:rPr lang="ko-KR" altLang="en-US"/>
              <a:t>페이지</a:t>
            </a:r>
            <a:r>
              <a:rPr lang="en-US" altLang="ko-KR"/>
              <a:t>] </a:t>
            </a:r>
            <a:r>
              <a:rPr lang="ko-KR" altLang="en-US"/>
              <a:t>스펙</a:t>
            </a:r>
            <a:r>
              <a:rPr lang="en-US" altLang="ko-KR"/>
              <a:t>(</a:t>
            </a:r>
            <a:r>
              <a:rPr lang="ko-KR" altLang="en-US"/>
              <a:t>주인공</a:t>
            </a:r>
            <a:r>
              <a:rPr lang="en-US" altLang="ko-KR"/>
              <a:t>,</a:t>
            </a:r>
            <a:r>
              <a:rPr lang="ko-KR" altLang="en-US"/>
              <a:t> 장르</a:t>
            </a:r>
            <a:r>
              <a:rPr lang="en-US" altLang="ko-KR"/>
              <a:t>,</a:t>
            </a:r>
            <a:r>
              <a:rPr lang="ko-KR" altLang="en-US"/>
              <a:t> 이야기</a:t>
            </a:r>
            <a:r>
              <a:rPr lang="en-US" altLang="ko-KR"/>
              <a:t>,</a:t>
            </a:r>
            <a:r>
              <a:rPr lang="ko-KR" altLang="en-US"/>
              <a:t> 플레이 기기</a:t>
            </a:r>
            <a:r>
              <a:rPr lang="en-US" altLang="ko-KR"/>
              <a:t>,</a:t>
            </a:r>
            <a:r>
              <a:rPr lang="ko-KR" altLang="en-US"/>
              <a:t> 플랫폼 등</a:t>
            </a:r>
            <a:r>
              <a:rPr lang="en-US" altLang="ko-KR"/>
              <a:t>)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[3</a:t>
            </a:r>
            <a:r>
              <a:rPr lang="ko-KR" altLang="en-US"/>
              <a:t>페이지</a:t>
            </a:r>
            <a:r>
              <a:rPr lang="en-US" altLang="ko-KR"/>
              <a:t>] </a:t>
            </a:r>
            <a:r>
              <a:rPr lang="ko-KR" altLang="en-US"/>
              <a:t>남들이 못하는 것</a:t>
            </a:r>
            <a:r>
              <a:rPr lang="en-US" altLang="ko-KR"/>
              <a:t>,</a:t>
            </a:r>
            <a:r>
              <a:rPr lang="ko-KR" altLang="en-US"/>
              <a:t> 실제 게임화면</a:t>
            </a:r>
            <a:r>
              <a:rPr lang="en-US" altLang="ko-KR"/>
              <a:t>, </a:t>
            </a:r>
            <a:r>
              <a:rPr lang="ko-KR" altLang="en-US"/>
              <a:t>계획 요소</a:t>
            </a:r>
            <a:r>
              <a:rPr lang="en-US" altLang="ko-KR"/>
              <a:t>(</a:t>
            </a:r>
            <a:r>
              <a:rPr lang="ko-KR" altLang="en-US"/>
              <a:t>간단한 재미 설명과 함께</a:t>
            </a:r>
            <a:r>
              <a:rPr lang="en-US" altLang="ko-KR"/>
              <a:t>)</a:t>
            </a:r>
          </a:p>
        </p:txBody>
      </p:sp>
      <p:sp>
        <p:nvSpPr>
          <p:cNvPr id="5" name="가로 글상자 4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35378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20628"/>
            <a:ext cx="7886700" cy="4169343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게임이란</a:t>
            </a:r>
            <a:r>
              <a:rPr lang="en-US" altLang="ko-KR"/>
              <a:t>?]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대표 이미지 </a:t>
            </a:r>
            <a:r>
              <a:rPr lang="en-US" altLang="ko-KR"/>
              <a:t>: </a:t>
            </a:r>
            <a:r>
              <a:rPr lang="ko-KR" altLang="en-US"/>
              <a:t>주변 사람들의 기대 속에 고뇌하는 주인공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이야기 목적 </a:t>
            </a:r>
            <a:r>
              <a:rPr lang="en-US" altLang="ko-KR"/>
              <a:t>: </a:t>
            </a:r>
            <a:r>
              <a:rPr lang="ko-KR" altLang="en-US"/>
              <a:t>‘착함’이라는 사회적 기대 속에서</a:t>
            </a:r>
            <a:r>
              <a:rPr lang="en-US" altLang="ko-KR"/>
              <a:t>,</a:t>
            </a:r>
            <a:r>
              <a:rPr lang="ko-KR" altLang="en-US"/>
              <a:t> 한 사람이 어떤 선택을 하게 되는지를 다루는 내러티브 게임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플레이 목적 </a:t>
            </a:r>
            <a:r>
              <a:rPr lang="en-US" altLang="ko-KR"/>
              <a:t>: </a:t>
            </a:r>
            <a:r>
              <a:rPr lang="ko-KR" altLang="en-US"/>
              <a:t>플레이어는 화면을 터치하거나 가상 방향키를 통해 캐릭터를 이동</a:t>
            </a:r>
            <a:r>
              <a:rPr lang="en-US" altLang="ko-KR"/>
              <a:t>.</a:t>
            </a:r>
            <a:r>
              <a:rPr lang="ko-KR" altLang="en-US"/>
              <a:t> NPC와 오브젝트를 터치해 대화하거나 조사를 진행</a:t>
            </a:r>
            <a:r>
              <a:rPr lang="en-US" altLang="ko-KR"/>
              <a:t>.</a:t>
            </a:r>
            <a:r>
              <a:rPr lang="ko-KR" altLang="en-US"/>
              <a:t> 중요한 순간에는 선택지가 제시되며, 선택에 따라 이야기와 결말이 변화</a:t>
            </a:r>
            <a:endParaRPr lang="en-US" altLang="ko-KR"/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373903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20628"/>
            <a:ext cx="7886700" cy="4169343"/>
          </a:xfrm>
        </p:spPr>
        <p:txBody>
          <a:bodyPr>
            <a:normAutofit fontScale="62500" lnSpcReduction="20000"/>
          </a:bodyPr>
          <a:lstStyle/>
          <a:p>
            <a:pPr lvl="0">
              <a:defRPr/>
            </a:pPr>
            <a:r>
              <a:rPr lang="ko-KR" altLang="en-US"/>
              <a:t>게임명 </a:t>
            </a:r>
            <a:r>
              <a:rPr lang="en-US" altLang="ko-KR"/>
              <a:t>: </a:t>
            </a:r>
            <a:r>
              <a:rPr lang="ko-KR" altLang="en-US"/>
              <a:t>착해</a:t>
            </a:r>
            <a:r>
              <a:rPr lang="en-US" altLang="ko-KR"/>
              <a:t>!</a:t>
            </a:r>
          </a:p>
          <a:p>
            <a:pPr lvl="0">
              <a:defRPr/>
            </a:pPr>
            <a:r>
              <a:rPr lang="ko-KR" altLang="en-US"/>
              <a:t>장르</a:t>
            </a:r>
            <a:r>
              <a:rPr lang="en-US" altLang="ko-KR"/>
              <a:t>: 내러티브 중심 어드벤처 / 선택형 스토리 게임</a:t>
            </a:r>
          </a:p>
          <a:p>
            <a:pPr lvl="0">
              <a:defRPr/>
            </a:pPr>
            <a:r>
              <a:rPr lang="en-US" altLang="ko-KR"/>
              <a:t>기본 장르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내러티브 중심 어드벤처 / 선택형 스토리 게임</a:t>
            </a:r>
          </a:p>
          <a:p>
            <a:pPr lvl="0">
              <a:defRPr/>
            </a:pPr>
            <a:r>
              <a:rPr lang="en-US" altLang="ko-KR"/>
              <a:t>세부 태그 :</a:t>
            </a:r>
            <a:r>
              <a:rPr lang="ko-KR" altLang="en-US"/>
              <a:t> </a:t>
            </a:r>
            <a:r>
              <a:rPr lang="en-US" altLang="ko-KR"/>
              <a:t>도트 그래픽 2D 쯔꾸르 게임,</a:t>
            </a:r>
            <a:r>
              <a:rPr lang="ko-KR" altLang="en-US"/>
              <a:t> </a:t>
            </a:r>
            <a:r>
              <a:rPr lang="en-US" altLang="ko-KR"/>
              <a:t>선택 기반 내러티브,</a:t>
            </a:r>
            <a:r>
              <a:rPr lang="ko-KR" altLang="en-US"/>
              <a:t> </a:t>
            </a:r>
            <a:r>
              <a:rPr lang="en-US" altLang="ko-KR"/>
              <a:t>심리 드라마,</a:t>
            </a:r>
            <a:r>
              <a:rPr lang="ko-KR" altLang="en-US"/>
              <a:t> </a:t>
            </a:r>
            <a:r>
              <a:rPr lang="en-US" altLang="ko-KR"/>
              <a:t>다크 판타지,</a:t>
            </a:r>
            <a:r>
              <a:rPr lang="ko-KR" altLang="en-US"/>
              <a:t> </a:t>
            </a:r>
            <a:r>
              <a:rPr lang="en-US" altLang="ko-KR"/>
              <a:t>도덕적 딜레마,</a:t>
            </a:r>
            <a:r>
              <a:rPr lang="ko-KR" altLang="en-US"/>
              <a:t> </a:t>
            </a:r>
            <a:r>
              <a:rPr lang="en-US" altLang="ko-KR"/>
              <a:t>멀티 엔딩</a:t>
            </a:r>
          </a:p>
          <a:p>
            <a:pPr lvl="0">
              <a:defRPr/>
            </a:pPr>
            <a:r>
              <a:rPr lang="ko-KR" altLang="en-US"/>
              <a:t>플랫폼</a:t>
            </a:r>
            <a:r>
              <a:rPr lang="en-US" altLang="ko-KR"/>
              <a:t>: </a:t>
            </a:r>
            <a:r>
              <a:rPr lang="ko-KR" altLang="en-US"/>
              <a:t>모바일</a:t>
            </a:r>
            <a:r>
              <a:rPr lang="en-US" altLang="ko-KR"/>
              <a:t> (</a:t>
            </a:r>
            <a:r>
              <a:rPr lang="ko-KR" altLang="en-US"/>
              <a:t>안드로이드</a:t>
            </a:r>
            <a:r>
              <a:rPr lang="en-US" altLang="ko-KR"/>
              <a:t>)  </a:t>
            </a:r>
          </a:p>
          <a:p>
            <a:pPr lvl="0">
              <a:defRPr/>
            </a:pPr>
            <a:r>
              <a:rPr lang="ko-KR" altLang="en-US"/>
              <a:t>개발 기간</a:t>
            </a:r>
            <a:r>
              <a:rPr lang="en-US" altLang="ko-KR"/>
              <a:t>: 3</a:t>
            </a:r>
            <a:r>
              <a:rPr lang="ko-KR" altLang="en-US"/>
              <a:t>개월  </a:t>
            </a:r>
          </a:p>
          <a:p>
            <a:pPr lvl="0">
              <a:defRPr/>
            </a:pPr>
            <a:r>
              <a:rPr lang="ko-KR" altLang="en-US"/>
              <a:t>개발 인원</a:t>
            </a:r>
            <a:r>
              <a:rPr lang="en-US" altLang="ko-KR"/>
              <a:t>: 1</a:t>
            </a:r>
            <a:r>
              <a:rPr lang="ko-KR" altLang="en-US"/>
              <a:t>인 개발  </a:t>
            </a:r>
          </a:p>
          <a:p>
            <a:pPr lvl="0">
              <a:defRPr/>
            </a:pPr>
            <a:r>
              <a:rPr lang="ko-KR" altLang="en-US"/>
              <a:t>담당 역할</a:t>
            </a:r>
            <a:r>
              <a:rPr lang="en-US" altLang="ko-KR"/>
              <a:t>: </a:t>
            </a:r>
            <a:r>
              <a:rPr lang="ko-KR" altLang="en-US"/>
              <a:t>기획</a:t>
            </a:r>
            <a:r>
              <a:rPr lang="en-US" altLang="ko-KR"/>
              <a:t>, </a:t>
            </a:r>
            <a:r>
              <a:rPr lang="ko-KR" altLang="en-US"/>
              <a:t>프로그래밍</a:t>
            </a:r>
            <a:r>
              <a:rPr lang="en-US" altLang="ko-KR"/>
              <a:t>, UI </a:t>
            </a:r>
            <a:r>
              <a:rPr lang="ko-KR" altLang="en-US"/>
              <a:t>구현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Engine: Unity 2022.3 LTS  </a:t>
            </a:r>
          </a:p>
          <a:p>
            <a:pPr lvl="0">
              <a:defRPr/>
            </a:pPr>
            <a:r>
              <a:rPr lang="en-US" altLang="ko-KR"/>
              <a:t>Language: C#  </a:t>
            </a:r>
          </a:p>
          <a:p>
            <a:pPr lvl="0">
              <a:defRPr/>
            </a:pPr>
            <a:r>
              <a:rPr lang="en-US" altLang="ko-KR"/>
              <a:t>Version Control: GitHub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69703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20628"/>
            <a:ext cx="7886700" cy="4169343"/>
          </a:xfrm>
        </p:spPr>
        <p:txBody>
          <a:bodyPr>
            <a:normAutofit fontScale="70000" lnSpcReduction="20000"/>
          </a:bodyPr>
          <a:lstStyle/>
          <a:p>
            <a:pPr lvl="0">
              <a:defRPr/>
            </a:pPr>
            <a:r>
              <a:rPr lang="ko-KR" altLang="en-US" b="1"/>
              <a:t>게임 시스템</a:t>
            </a:r>
          </a:p>
          <a:p>
            <a:pPr lvl="0">
              <a:defRPr/>
            </a:pPr>
            <a:r>
              <a:rPr lang="ko-KR" altLang="en-US"/>
              <a:t>전투 시스템 </a:t>
            </a:r>
            <a:r>
              <a:rPr lang="en-US" altLang="ko-KR"/>
              <a:t>(</a:t>
            </a:r>
            <a:r>
              <a:rPr lang="ko-KR" altLang="en-US"/>
              <a:t>스킬 구조</a:t>
            </a:r>
            <a:r>
              <a:rPr lang="en-US" altLang="ko-KR"/>
              <a:t>)</a:t>
            </a:r>
          </a:p>
          <a:p>
            <a:pPr lvl="0">
              <a:defRPr/>
            </a:pPr>
            <a:r>
              <a:rPr lang="ko-KR" altLang="en-US"/>
              <a:t>플레이어 컨트롤</a:t>
            </a:r>
          </a:p>
          <a:p>
            <a:pPr lvl="0">
              <a:defRPr/>
            </a:pPr>
            <a:r>
              <a:rPr lang="ko-KR" altLang="en-US"/>
              <a:t>스테이지 </a:t>
            </a:r>
            <a:r>
              <a:rPr lang="en-US" altLang="ko-KR"/>
              <a:t>/ </a:t>
            </a:r>
            <a:r>
              <a:rPr lang="ko-KR" altLang="en-US"/>
              <a:t>맵 구조</a:t>
            </a:r>
          </a:p>
          <a:p>
            <a:pPr lvl="0">
              <a:defRPr/>
            </a:pPr>
            <a:r>
              <a:rPr lang="ko-KR" altLang="en-US"/>
              <a:t>아이템 </a:t>
            </a:r>
            <a:r>
              <a:rPr lang="en-US" altLang="ko-KR"/>
              <a:t>/ </a:t>
            </a:r>
            <a:r>
              <a:rPr lang="ko-KR" altLang="en-US"/>
              <a:t>인벤토리</a:t>
            </a:r>
          </a:p>
          <a:p>
            <a:pPr lvl="0">
              <a:defRPr/>
            </a:pPr>
            <a:r>
              <a:rPr lang="ko-KR" altLang="en-US"/>
              <a:t>저장 </a:t>
            </a:r>
            <a:r>
              <a:rPr lang="en-US" altLang="ko-KR"/>
              <a:t>/ </a:t>
            </a:r>
            <a:r>
              <a:rPr lang="ko-KR" altLang="en-US"/>
              <a:t>로드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착함을 강요받는 주인공이 타인의 기대와 자기 생존 사이에서 선택을 강요받는 선택형 내러티브 게임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트러블슈팅</a:t>
            </a:r>
          </a:p>
          <a:p>
            <a:pPr lvl="0">
              <a:defRPr/>
            </a:pPr>
            <a:r>
              <a:rPr lang="ko-KR" altLang="en-US"/>
              <a:t>느낀점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29746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135277"/>
            <a:ext cx="7886700" cy="4865473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선생님이 사용하는 </a:t>
            </a:r>
            <a:r>
              <a:rPr lang="en-US" altLang="ko-KR"/>
              <a:t>AI] ; </a:t>
            </a:r>
            <a:r>
              <a:rPr lang="ko-KR" altLang="en-US"/>
              <a:t>테슬라 </a:t>
            </a:r>
            <a:r>
              <a:rPr lang="en-US" altLang="ko-KR"/>
              <a:t>AI </a:t>
            </a:r>
            <a:r>
              <a:rPr lang="ko-KR" altLang="en-US"/>
              <a:t>사용 중</a:t>
            </a:r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구독해야 하는 </a:t>
            </a:r>
            <a:r>
              <a:rPr lang="en-US" altLang="ko-KR"/>
              <a:t>AI] – </a:t>
            </a:r>
            <a:r>
              <a:rPr lang="ko-KR" altLang="en-US"/>
              <a:t>선생님은 한 달에 </a:t>
            </a:r>
            <a:r>
              <a:rPr lang="en-US" altLang="ko-KR"/>
              <a:t>40</a:t>
            </a:r>
            <a:r>
              <a:rPr lang="ko-KR" altLang="en-US"/>
              <a:t>만원 정도 든다</a:t>
            </a:r>
            <a:r>
              <a:rPr lang="en-US" altLang="ko-KR"/>
              <a:t>…!</a:t>
            </a:r>
          </a:p>
          <a:p>
            <a:pPr marL="0" lvl="0" indent="0">
              <a:buNone/>
              <a:defRPr/>
            </a:pPr>
            <a:r>
              <a:rPr lang="en-US" altLang="ko-KR"/>
              <a:t>				</a:t>
            </a:r>
            <a:r>
              <a:rPr lang="ko-KR" altLang="en-US"/>
              <a:t>꼭 구독한다면 챗지피티 정도만ㅎㅎ</a:t>
            </a:r>
          </a:p>
          <a:p>
            <a:pPr lvl="0">
              <a:buFontTx/>
              <a:buChar char="-"/>
              <a:defRPr/>
            </a:pPr>
            <a:r>
              <a:rPr lang="ko-KR" altLang="en-US"/>
              <a:t>미드저니 </a:t>
            </a:r>
            <a:r>
              <a:rPr lang="en-US" altLang="ko-KR"/>
              <a:t>- Create – </a:t>
            </a:r>
            <a:r>
              <a:rPr lang="ko-KR" altLang="en-US"/>
              <a:t>한 달에 </a:t>
            </a:r>
            <a:r>
              <a:rPr lang="en-US" altLang="ko-KR"/>
              <a:t>8</a:t>
            </a:r>
            <a:r>
              <a:rPr lang="ko-KR" altLang="en-US"/>
              <a:t>만원 </a:t>
            </a:r>
            <a:r>
              <a:rPr lang="en-US" altLang="ko-KR"/>
              <a:t>/ </a:t>
            </a:r>
            <a:r>
              <a:rPr lang="ko-KR" altLang="en-US"/>
              <a:t>생산하는 이미지가 생성할 때마다 다 다른 느낌의 이미지를 생산하므로 돈값한다</a:t>
            </a:r>
            <a:r>
              <a:rPr lang="en-US" altLang="ko-KR"/>
              <a:t>.</a:t>
            </a:r>
          </a:p>
          <a:p>
            <a:pPr lvl="1">
              <a:buFontTx/>
              <a:buChar char="-"/>
              <a:defRPr/>
            </a:pPr>
            <a:r>
              <a:rPr lang="ko-KR" altLang="en-US"/>
              <a:t>리런</a:t>
            </a:r>
            <a:r>
              <a:rPr lang="en-US" altLang="ko-KR"/>
              <a:t>(</a:t>
            </a:r>
            <a:r>
              <a:rPr lang="ko-KR" altLang="en-US"/>
              <a:t>다시 만들기</a:t>
            </a:r>
            <a:r>
              <a:rPr lang="en-US" altLang="ko-KR"/>
              <a:t>), </a:t>
            </a:r>
            <a:r>
              <a:rPr lang="ko-KR" altLang="en-US"/>
              <a:t>업스케일</a:t>
            </a:r>
            <a:r>
              <a:rPr lang="en-US" altLang="ko-KR"/>
              <a:t>(</a:t>
            </a:r>
            <a:r>
              <a:rPr lang="ko-KR" altLang="en-US"/>
              <a:t>현재 이미지 해상도 확 올리기 </a:t>
            </a:r>
            <a:r>
              <a:rPr lang="en-US" altLang="ko-KR"/>
              <a:t>: </a:t>
            </a:r>
            <a:r>
              <a:rPr lang="ko-KR" altLang="en-US"/>
              <a:t>확대해도 그 이미지가 게임에서 사용해도 전혀 문제없을 정도로 좋다</a:t>
            </a:r>
            <a:r>
              <a:rPr lang="en-US" altLang="ko-KR"/>
              <a:t>.), </a:t>
            </a:r>
            <a:r>
              <a:rPr lang="ko-KR" altLang="en-US"/>
              <a:t>스트롱</a:t>
            </a:r>
            <a:r>
              <a:rPr lang="en-US" altLang="ko-KR"/>
              <a:t>(</a:t>
            </a:r>
            <a:r>
              <a:rPr lang="ko-KR" altLang="en-US"/>
              <a:t>그 이미지와 비슷한 이미지 만들기</a:t>
            </a:r>
            <a:r>
              <a:rPr lang="en-US" altLang="ko-KR"/>
              <a:t>)</a:t>
            </a:r>
            <a:r>
              <a:rPr lang="ko-KR" altLang="en-US"/>
              <a:t>이 선생님께서 가장 많이 사용하는 기능</a:t>
            </a:r>
          </a:p>
          <a:p>
            <a:pPr lvl="1">
              <a:buFontTx/>
              <a:buChar char="-"/>
              <a:defRPr/>
            </a:pPr>
            <a:r>
              <a:rPr lang="ko-KR" altLang="en-US"/>
              <a:t>그러나 단점도 있다</a:t>
            </a:r>
            <a:r>
              <a:rPr lang="en-US" altLang="ko-KR"/>
              <a:t> : </a:t>
            </a:r>
            <a:r>
              <a:rPr lang="ko-KR" altLang="en-US"/>
              <a:t>내가 제시한 이미지에 총만 추가해달라는 요청을 하면 내가 제공한 이미지와 같은 이미지가 절대 나오지 않는다</a:t>
            </a:r>
            <a:r>
              <a:rPr lang="en-US" altLang="ko-KR"/>
              <a:t>.</a:t>
            </a:r>
          </a:p>
          <a:p>
            <a:pPr lvl="0">
              <a:buFontTx/>
              <a:buChar char="-"/>
              <a:defRPr/>
            </a:pPr>
            <a:r>
              <a:rPr lang="en-US" altLang="ko-KR"/>
              <a:t>Google AI Studio =&gt; </a:t>
            </a:r>
            <a:r>
              <a:rPr lang="ko-KR" altLang="en-US"/>
              <a:t>미드저니의 단점을 잘하는 툴</a:t>
            </a:r>
            <a:r>
              <a:rPr lang="en-US" altLang="ko-KR"/>
              <a:t>!</a:t>
            </a:r>
          </a:p>
          <a:p>
            <a:pPr lvl="1">
              <a:buFontTx/>
              <a:buChar char="-"/>
              <a:defRPr/>
            </a:pPr>
            <a:r>
              <a:rPr lang="ko-KR" altLang="en-US"/>
              <a:t>총만 추가해달라는 요청 </a:t>
            </a:r>
            <a:r>
              <a:rPr lang="en-US" altLang="ko-KR"/>
              <a:t>=&gt; </a:t>
            </a:r>
            <a:r>
              <a:rPr lang="ko-KR" altLang="en-US"/>
              <a:t>기존 이미지에서 추가가 가능</a:t>
            </a:r>
            <a:r>
              <a:rPr lang="en-US" altLang="ko-KR"/>
              <a:t>!</a:t>
            </a:r>
          </a:p>
          <a:p>
            <a:pPr lvl="1">
              <a:buFontTx/>
              <a:buChar char="-"/>
              <a:defRPr/>
            </a:pP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창작이 아닌 기존 이미지에서 생성하는 것</a:t>
            </a:r>
            <a:r>
              <a:rPr lang="en-US" altLang="ko-KR"/>
              <a:t>.</a:t>
            </a:r>
          </a:p>
          <a:p>
            <a:pPr lvl="1">
              <a:buFontTx/>
              <a:buChar char="-"/>
              <a:defRPr/>
            </a:pPr>
            <a:r>
              <a:rPr lang="ko-KR" altLang="en-US"/>
              <a:t>하루에 </a:t>
            </a:r>
            <a:r>
              <a:rPr lang="en-US" altLang="ko-KR"/>
              <a:t>3</a:t>
            </a:r>
            <a:r>
              <a:rPr lang="ko-KR" altLang="en-US"/>
              <a:t>번만 무료</a:t>
            </a:r>
            <a:r>
              <a:rPr lang="en-US" altLang="ko-KR"/>
              <a:t>… </a:t>
            </a:r>
            <a:r>
              <a:rPr lang="ko-KR" altLang="en-US"/>
              <a:t>방법만 알면 무료로 무한대 사용 가능한데</a:t>
            </a:r>
            <a:r>
              <a:rPr lang="en-US" altLang="ko-KR"/>
              <a:t>, </a:t>
            </a:r>
            <a:r>
              <a:rPr lang="ko-KR" altLang="en-US"/>
              <a:t>방법이 어려움</a:t>
            </a:r>
          </a:p>
          <a:p>
            <a:pPr lvl="1">
              <a:buFontTx/>
              <a:buChar char="-"/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2751465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44327"/>
            <a:ext cx="7886700" cy="401696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선생님이 사용하는 </a:t>
            </a:r>
            <a:r>
              <a:rPr lang="en-US" altLang="ko-KR"/>
              <a:t>AI]</a:t>
            </a:r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무룐데 기능이 강력</a:t>
            </a:r>
            <a:r>
              <a:rPr lang="en-US" altLang="ko-KR"/>
              <a:t>!] – </a:t>
            </a:r>
            <a:r>
              <a:rPr lang="ko-KR" altLang="en-US"/>
              <a:t>유료 툴들과 달리 만든 결과물들이 다 비슷비슷한 느낌 </a:t>
            </a:r>
            <a:r>
              <a:rPr lang="en-US" altLang="ko-KR"/>
              <a:t>/ </a:t>
            </a:r>
            <a:r>
              <a:rPr lang="ko-KR" altLang="en-US"/>
              <a:t>포스터를 만들 때는 이들을 활용</a:t>
            </a:r>
            <a:r>
              <a:rPr lang="en-US" altLang="ko-KR"/>
              <a:t>.</a:t>
            </a:r>
          </a:p>
          <a:p>
            <a:pPr lvl="0">
              <a:buFontTx/>
              <a:buChar char="-"/>
              <a:defRPr/>
            </a:pPr>
            <a:r>
              <a:rPr lang="ko-KR" altLang="en-US"/>
              <a:t>구글</a:t>
            </a:r>
            <a:r>
              <a:rPr lang="en-US" altLang="ko-KR"/>
              <a:t> </a:t>
            </a:r>
            <a:r>
              <a:rPr lang="ko-KR" altLang="en-US"/>
              <a:t>랩 </a:t>
            </a:r>
            <a:r>
              <a:rPr lang="en-US" altLang="ko-KR"/>
              <a:t>: </a:t>
            </a:r>
            <a:r>
              <a:rPr lang="ko-KR" altLang="en-US"/>
              <a:t>이미지 </a:t>
            </a:r>
            <a:r>
              <a:rPr lang="en-US" altLang="ko-KR"/>
              <a:t>fx =&gt; </a:t>
            </a:r>
            <a:r>
              <a:rPr lang="ko-KR" altLang="en-US"/>
              <a:t>다음에 쓰려면 다운로드 필수</a:t>
            </a:r>
          </a:p>
          <a:p>
            <a:pPr lvl="0">
              <a:defRPr/>
            </a:pPr>
            <a:r>
              <a:rPr lang="en-US" altLang="ko-KR"/>
              <a:t>Whisk : </a:t>
            </a:r>
            <a:r>
              <a:rPr lang="ko-KR" altLang="en-US"/>
              <a:t>등장인물</a:t>
            </a:r>
            <a:r>
              <a:rPr lang="en-US" altLang="ko-KR"/>
              <a:t>, </a:t>
            </a:r>
            <a:r>
              <a:rPr lang="ko-KR" altLang="en-US"/>
              <a:t>피사체</a:t>
            </a:r>
            <a:r>
              <a:rPr lang="en-US" altLang="ko-KR"/>
              <a:t>, </a:t>
            </a:r>
            <a:r>
              <a:rPr lang="ko-KR" altLang="en-US"/>
              <a:t>배경</a:t>
            </a:r>
            <a:r>
              <a:rPr lang="en-US" altLang="ko-KR"/>
              <a:t>, </a:t>
            </a:r>
            <a:r>
              <a:rPr lang="ko-KR" altLang="en-US"/>
              <a:t>스타일</a:t>
            </a:r>
            <a:r>
              <a:rPr lang="en-US" altLang="ko-KR"/>
              <a:t>(</a:t>
            </a:r>
            <a:r>
              <a:rPr lang="ko-KR" altLang="en-US"/>
              <a:t>거부하는 게 많다</a:t>
            </a:r>
            <a:r>
              <a:rPr lang="en-US" altLang="ko-KR"/>
              <a:t>) </a:t>
            </a:r>
          </a:p>
          <a:p>
            <a:pPr lvl="1">
              <a:defRPr/>
            </a:pPr>
            <a:r>
              <a:rPr lang="ko-KR" altLang="en-US"/>
              <a:t>하루에 </a:t>
            </a:r>
            <a:r>
              <a:rPr lang="en-US" altLang="ko-KR"/>
              <a:t>50</a:t>
            </a:r>
            <a:r>
              <a:rPr lang="ko-KR" altLang="en-US"/>
              <a:t>번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39279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>
                <a:solidFill>
                  <a:schemeClr val="lt1"/>
                </a:solidFill>
              </a:rPr>
              <a:t>기획수업</a:t>
            </a:r>
            <a:r>
              <a:rPr lang="en-US" altLang="ko-KR">
                <a:solidFill>
                  <a:schemeClr val="lt1"/>
                </a:solidFill>
              </a:rPr>
              <a:t>1</a:t>
            </a:r>
            <a:r>
              <a:rPr lang="ko-KR" altLang="en-US">
                <a:solidFill>
                  <a:schemeClr val="lt1"/>
                </a:solidFill>
              </a:rPr>
              <a:t> </a:t>
            </a:r>
            <a:r>
              <a:rPr lang="en-US" altLang="ko-KR">
                <a:solidFill>
                  <a:schemeClr val="lt1"/>
                </a:solidFill>
              </a:rPr>
              <a:t>-</a:t>
            </a:r>
            <a:r>
              <a:rPr lang="ko-KR" altLang="en-US">
                <a:solidFill>
                  <a:schemeClr val="lt1"/>
                </a:solidFill>
              </a:rPr>
              <a:t> </a:t>
            </a:r>
            <a:r>
              <a:rPr lang="en-US" altLang="ko-KR">
                <a:solidFill>
                  <a:schemeClr val="lt1"/>
                </a:solidFill>
              </a:rPr>
              <a:t>1.12.</a:t>
            </a:r>
            <a:r>
              <a:rPr lang="ko-KR" altLang="en-US">
                <a:solidFill>
                  <a:schemeClr val="lt1"/>
                </a:solidFill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268293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30324" y="1818408"/>
            <a:ext cx="4849091" cy="27276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848459"/>
            <a:ext cx="2898163" cy="5152291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337219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857250"/>
            <a:ext cx="3857625" cy="5143500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1.12.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2567079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8938" y="1197768"/>
            <a:ext cx="7886700" cy="3263503"/>
          </a:xfrm>
        </p:spPr>
        <p:txBody>
          <a:bodyPr>
            <a:normAutofit fontScale="70000" lnSpcReduction="20000"/>
          </a:bodyPr>
          <a:lstStyle/>
          <a:p>
            <a:pPr lvl="0">
              <a:defRPr/>
            </a:pPr>
            <a:r>
              <a:rPr lang="ko-KR" altLang="en-US"/>
              <a:t>좋은 게임디자인 문서</a:t>
            </a:r>
          </a:p>
          <a:p>
            <a:pPr lvl="0">
              <a:defRPr/>
            </a:pPr>
            <a:endParaRPr lang="en-US" altLang="ko-KR"/>
          </a:p>
          <a:p>
            <a:pPr marL="514350" lvl="0" indent="-514350">
              <a:buAutoNum type="arabicPeriod"/>
              <a:defRPr/>
            </a:pPr>
            <a:r>
              <a:rPr lang="ko-KR" altLang="en-US"/>
              <a:t>가독성 </a:t>
            </a:r>
          </a:p>
          <a:p>
            <a:pPr marL="971550" lvl="1" indent="-514350">
              <a:buAutoNum type="arabicPeriod"/>
              <a:defRPr/>
            </a:pPr>
            <a:r>
              <a:rPr lang="ko-KR" altLang="en-US"/>
              <a:t>내용이 많을 때 </a:t>
            </a:r>
            <a:r>
              <a:rPr lang="en-US" altLang="ko-KR"/>
              <a:t>: </a:t>
            </a:r>
            <a:r>
              <a:rPr lang="ko-KR" altLang="en-US"/>
              <a:t>좌측 정렬</a:t>
            </a:r>
          </a:p>
          <a:p>
            <a:pPr marL="514350" lvl="0" indent="-514350">
              <a:buAutoNum type="arabicPeriod"/>
              <a:defRPr/>
            </a:pPr>
            <a:r>
              <a:rPr lang="ko-KR" altLang="en-US"/>
              <a:t>설득의 흐름</a:t>
            </a:r>
          </a:p>
          <a:p>
            <a:pPr marL="971550" lvl="1" indent="-514350">
              <a:buAutoNum type="arabicPeriod"/>
              <a:defRPr/>
            </a:pPr>
            <a:r>
              <a:rPr lang="ko-KR" altLang="en-US"/>
              <a:t>결론부터 이야기하고</a:t>
            </a:r>
            <a:r>
              <a:rPr lang="en-US" altLang="ko-KR"/>
              <a:t>, </a:t>
            </a:r>
            <a:r>
              <a:rPr lang="ko-KR" altLang="en-US"/>
              <a:t>결론의 근거를 이야기하자</a:t>
            </a:r>
          </a:p>
          <a:p>
            <a:pPr marL="971550" lvl="1" indent="-514350">
              <a:buAutoNum type="arabicPeriod"/>
              <a:defRPr/>
            </a:pPr>
            <a:r>
              <a:rPr lang="ko-KR" altLang="en-US"/>
              <a:t>그래서 재밌어</a:t>
            </a:r>
            <a:r>
              <a:rPr lang="en-US" altLang="ko-KR"/>
              <a:t>? </a:t>
            </a:r>
            <a:r>
              <a:rPr lang="ko-KR" altLang="en-US"/>
              <a:t>뭐가 재밌어</a:t>
            </a:r>
            <a:r>
              <a:rPr lang="en-US" altLang="ko-KR"/>
              <a:t>? + </a:t>
            </a:r>
            <a:r>
              <a:rPr lang="ko-KR" altLang="en-US"/>
              <a:t>수익성</a:t>
            </a:r>
          </a:p>
          <a:p>
            <a:pPr marL="971550" lvl="1" indent="-514350">
              <a:buAutoNum type="arabicPeriod"/>
              <a:defRPr/>
            </a:pPr>
            <a:r>
              <a:rPr lang="ko-KR" altLang="en-US"/>
              <a:t>매니악한</a:t>
            </a:r>
            <a:r>
              <a:rPr lang="en-US" altLang="ko-KR"/>
              <a:t>, </a:t>
            </a:r>
            <a:r>
              <a:rPr lang="ko-KR" altLang="en-US"/>
              <a:t>실패한 게임에 대한 포트폴리오는 설득력이 약하다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따라서 성공한 게임을 분석하고</a:t>
            </a:r>
            <a:r>
              <a:rPr lang="en-US" altLang="ko-KR"/>
              <a:t>, </a:t>
            </a:r>
            <a:r>
              <a:rPr lang="ko-KR" altLang="en-US"/>
              <a:t>그 게임처럼 기획서 쓰기</a:t>
            </a:r>
          </a:p>
          <a:p>
            <a:pPr marL="514350" lvl="0" indent="-514350">
              <a:buAutoNum type="arabicPeriod"/>
              <a:defRPr/>
            </a:pPr>
            <a:r>
              <a:rPr lang="ko-KR" altLang="en-US"/>
              <a:t>시각적인 어필</a:t>
            </a:r>
          </a:p>
          <a:p>
            <a:pPr marL="971550" lvl="1" indent="-514350">
              <a:buAutoNum type="arabicPeriod"/>
              <a:defRPr/>
            </a:pPr>
            <a:r>
              <a:rPr lang="en-US" altLang="ko-KR"/>
              <a:t>Canva – ai </a:t>
            </a:r>
            <a:r>
              <a:rPr lang="ko-KR" altLang="en-US"/>
              <a:t>도구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</p:spTree>
    <p:extLst>
      <p:ext uri="{BB962C8B-B14F-4D97-AF65-F5344CB8AC3E}">
        <p14:creationId xmlns:p14="http://schemas.microsoft.com/office/powerpoint/2010/main" val="9861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누군가를 설득하는 문서 적기</a:t>
            </a:r>
            <a:r>
              <a:rPr lang="en-US" altLang="ko-KR"/>
              <a:t>]</a:t>
            </a:r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buFontTx/>
              <a:buChar char="-"/>
              <a:defRPr/>
            </a:pPr>
            <a:r>
              <a:rPr lang="ko-KR" altLang="en-US"/>
              <a:t>문서의 톤 앤 매너를 맞추자</a:t>
            </a:r>
          </a:p>
          <a:p>
            <a:pPr lvl="0">
              <a:buFontTx/>
              <a:buChar char="-"/>
              <a:defRPr/>
            </a:pPr>
            <a:r>
              <a:rPr lang="ko-KR" altLang="en-US"/>
              <a:t>글자 크기를 맞추자</a:t>
            </a:r>
            <a:r>
              <a:rPr lang="en-US" altLang="ko-KR"/>
              <a:t>.(</a:t>
            </a:r>
            <a:r>
              <a:rPr lang="ko-KR" altLang="en-US"/>
              <a:t>최대 </a:t>
            </a:r>
            <a:r>
              <a:rPr lang="en-US" altLang="ko-KR"/>
              <a:t>3</a:t>
            </a:r>
            <a:r>
              <a:rPr lang="ko-KR" altLang="en-US"/>
              <a:t>가지</a:t>
            </a:r>
            <a:r>
              <a:rPr lang="en-US" altLang="ko-KR"/>
              <a:t>. </a:t>
            </a:r>
            <a:r>
              <a:rPr lang="ko-KR" altLang="en-US"/>
              <a:t>우리는 </a:t>
            </a:r>
            <a:r>
              <a:rPr lang="en-US" altLang="ko-KR"/>
              <a:t>30~40 </a:t>
            </a:r>
            <a:r>
              <a:rPr lang="ko-KR" altLang="en-US"/>
              <a:t>정도 크기</a:t>
            </a:r>
            <a:r>
              <a:rPr lang="en-US" altLang="ko-KR"/>
              <a:t>)</a:t>
            </a:r>
          </a:p>
          <a:p>
            <a:pPr lvl="0">
              <a:buFontTx/>
              <a:buChar char="-"/>
              <a:defRPr/>
            </a:pPr>
            <a:r>
              <a:rPr lang="ko-KR" altLang="en-US"/>
              <a:t>문서의 색감 </a:t>
            </a:r>
            <a:r>
              <a:rPr lang="en-US" altLang="ko-KR"/>
              <a:t>5</a:t>
            </a:r>
            <a:r>
              <a:rPr lang="ko-KR" altLang="en-US"/>
              <a:t>가지 고르개</a:t>
            </a:r>
            <a:r>
              <a:rPr lang="en-US" altLang="ko-KR"/>
              <a:t>(</a:t>
            </a:r>
            <a:r>
              <a:rPr lang="ko-KR" altLang="en-US"/>
              <a:t>채도를 기준으로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흰색과 검정은 명도를 같게</a:t>
            </a:r>
          </a:p>
          <a:p>
            <a:pPr lvl="0">
              <a:buFontTx/>
              <a:buChar char="-"/>
              <a:defRPr/>
            </a:pPr>
            <a:endParaRPr lang="en-US" altLang="ko-KR"/>
          </a:p>
          <a:p>
            <a:pPr lvl="0">
              <a:buFontTx/>
              <a:buChar char="-"/>
              <a:defRPr/>
            </a:pPr>
            <a:r>
              <a:rPr lang="ko-KR" altLang="en-US"/>
              <a:t>이미지</a:t>
            </a:r>
            <a:r>
              <a:rPr lang="en-US" altLang="ko-KR"/>
              <a:t>, </a:t>
            </a:r>
            <a:r>
              <a:rPr lang="ko-KR" altLang="en-US"/>
              <a:t>제목</a:t>
            </a:r>
            <a:r>
              <a:rPr lang="en-US" altLang="ko-KR"/>
              <a:t>, </a:t>
            </a:r>
            <a:r>
              <a:rPr lang="ko-KR" altLang="en-US"/>
              <a:t>장르</a:t>
            </a:r>
          </a:p>
          <a:p>
            <a:pPr lvl="0">
              <a:buFontTx/>
              <a:buChar char="-"/>
              <a:defRPr/>
            </a:pPr>
            <a:r>
              <a:rPr lang="ko-KR" altLang="en-US"/>
              <a:t>제목</a:t>
            </a:r>
          </a:p>
          <a:p>
            <a:pPr lvl="0">
              <a:buFontTx/>
              <a:buChar char="-"/>
              <a:defRPr/>
            </a:pPr>
            <a:r>
              <a:rPr lang="en-US" altLang="ko-KR"/>
              <a:t>(</a:t>
            </a:r>
            <a:r>
              <a:rPr lang="ko-KR" altLang="en-US"/>
              <a:t>장르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</p:spTree>
    <p:extLst>
      <p:ext uri="{BB962C8B-B14F-4D97-AF65-F5344CB8AC3E}">
        <p14:creationId xmlns:p14="http://schemas.microsoft.com/office/powerpoint/2010/main" val="204911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l="9580" r="9170"/>
          <a:stretch>
            <a:fillRect/>
          </a:stretch>
        </p:blipFill>
        <p:spPr>
          <a:xfrm>
            <a:off x="937364" y="857250"/>
            <a:ext cx="7419291" cy="5136433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9432753" y="4646342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9432753" y="5371108"/>
            <a:ext cx="474784" cy="474784"/>
          </a:xfrm>
          <a:prstGeom prst="ellipse">
            <a:avLst/>
          </a:prstGeom>
          <a:solidFill>
            <a:srgbClr val="E0D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9432753" y="3197282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9432753" y="1747280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432753" y="102251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432753" y="2472045"/>
            <a:ext cx="474784" cy="474784"/>
          </a:xfrm>
          <a:prstGeom prst="ellipse">
            <a:avLst/>
          </a:prstGeom>
          <a:solidFill>
            <a:srgbClr val="495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3295" y="-197433"/>
            <a:ext cx="1179457" cy="1119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2600"/>
              <a:t>ㄱ </a:t>
            </a:r>
            <a:r>
              <a:rPr lang="en-US" altLang="ko-KR" sz="2600"/>
              <a:t>(35)</a:t>
            </a:r>
          </a:p>
          <a:p>
            <a:pPr lvl="0">
              <a:defRPr/>
            </a:pPr>
            <a:r>
              <a:rPr lang="ko-KR" altLang="en-US" sz="1400"/>
              <a:t>ㄱ </a:t>
            </a:r>
            <a:r>
              <a:rPr lang="en-US" altLang="ko-KR" sz="1400"/>
              <a:t>(19)</a:t>
            </a:r>
          </a:p>
          <a:p>
            <a:pPr lvl="0">
              <a:defRPr/>
            </a:pPr>
            <a:r>
              <a:rPr lang="ko-KR" altLang="en-US" sz="900"/>
              <a:t>ㄱ </a:t>
            </a:r>
            <a:r>
              <a:rPr lang="en-US" altLang="ko-KR" sz="9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9432753" y="3921576"/>
            <a:ext cx="474784" cy="474784"/>
          </a:xfrm>
          <a:prstGeom prst="ellipse">
            <a:avLst/>
          </a:prstGeom>
          <a:solidFill>
            <a:srgbClr val="706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9435331" y="5371108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7" name="가로 글상자 26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  <p:sp>
        <p:nvSpPr>
          <p:cNvPr id="28" name="가로 글상자 27"/>
          <p:cNvSpPr txBox="1"/>
          <p:nvPr/>
        </p:nvSpPr>
        <p:spPr>
          <a:xfrm>
            <a:off x="3426857" y="1259907"/>
            <a:ext cx="2440304" cy="490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6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넌 착해</a:t>
            </a:r>
            <a:r>
              <a:rPr lang="en-US" altLang="ko-KR" sz="26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!</a:t>
            </a:r>
            <a:endParaRPr lang="en-US" altLang="ko-KR" sz="2600" b="1">
              <a:solidFill>
                <a:srgbClr val="DEDBD2"/>
              </a:solidFill>
            </a:endParaRPr>
          </a:p>
        </p:txBody>
      </p:sp>
      <p:sp>
        <p:nvSpPr>
          <p:cNvPr id="29" name="가로 글상자 28"/>
          <p:cNvSpPr txBox="1"/>
          <p:nvPr/>
        </p:nvSpPr>
        <p:spPr>
          <a:xfrm>
            <a:off x="6639700" y="5557351"/>
            <a:ext cx="2383416" cy="298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400">
                <a:solidFill>
                  <a:srgbClr val="706E89"/>
                </a:solidFill>
              </a:rPr>
              <a:t>내러티브 중심 어드벤처</a:t>
            </a:r>
            <a:endParaRPr lang="en-US" altLang="ko-KR" sz="1400">
              <a:solidFill>
                <a:srgbClr val="706E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1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9432753" y="4646342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9432753" y="5371108"/>
            <a:ext cx="474784" cy="474784"/>
          </a:xfrm>
          <a:prstGeom prst="ellipse">
            <a:avLst/>
          </a:prstGeom>
          <a:solidFill>
            <a:srgbClr val="E0D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9432753" y="3197282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9432753" y="1747280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432753" y="102251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432753" y="2472045"/>
            <a:ext cx="474784" cy="474784"/>
          </a:xfrm>
          <a:prstGeom prst="ellipse">
            <a:avLst/>
          </a:prstGeom>
          <a:solidFill>
            <a:srgbClr val="495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01343" y="-301342"/>
            <a:ext cx="1497679" cy="1194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3000"/>
              <a:t>ㄱ </a:t>
            </a:r>
            <a:r>
              <a:rPr lang="en-US" altLang="ko-KR" sz="3000"/>
              <a:t>(40)</a:t>
            </a:r>
          </a:p>
          <a:p>
            <a:pPr lvl="0">
              <a:defRPr/>
            </a:pPr>
            <a:r>
              <a:rPr lang="ko-KR" altLang="en-US" sz="1500"/>
              <a:t>ㄱ </a:t>
            </a:r>
            <a:r>
              <a:rPr lang="en-US" altLang="ko-KR" sz="1500"/>
              <a:t>(21)</a:t>
            </a:r>
          </a:p>
          <a:p>
            <a:pPr lvl="0">
              <a:defRPr/>
            </a:pPr>
            <a:r>
              <a:rPr lang="ko-KR" altLang="en-US" sz="900"/>
              <a:t>ㄱ </a:t>
            </a:r>
            <a:r>
              <a:rPr lang="en-US" altLang="ko-KR" sz="9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9432753" y="3921576"/>
            <a:ext cx="474784" cy="474784"/>
          </a:xfrm>
          <a:prstGeom prst="ellipse">
            <a:avLst/>
          </a:prstGeom>
          <a:solidFill>
            <a:srgbClr val="706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9435331" y="5371108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가로 글상자 23"/>
          <p:cNvSpPr txBox="1"/>
          <p:nvPr/>
        </p:nvSpPr>
        <p:spPr>
          <a:xfrm>
            <a:off x="3351848" y="1195137"/>
            <a:ext cx="2440304" cy="546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넌 착해</a:t>
            </a:r>
            <a:r>
              <a:rPr lang="en-US" altLang="ko-KR" sz="3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!</a:t>
            </a:r>
            <a:endParaRPr lang="en-US" altLang="ko-KR" sz="3000" b="1">
              <a:solidFill>
                <a:srgbClr val="DEDBD2"/>
              </a:solidFill>
            </a:endParaRPr>
          </a:p>
        </p:txBody>
      </p:sp>
      <p:sp>
        <p:nvSpPr>
          <p:cNvPr id="26" name="가로 글상자 25"/>
          <p:cNvSpPr txBox="1"/>
          <p:nvPr/>
        </p:nvSpPr>
        <p:spPr>
          <a:xfrm>
            <a:off x="6556014" y="5542901"/>
            <a:ext cx="2383415" cy="313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500">
                <a:solidFill>
                  <a:srgbClr val="DEDBD2"/>
                </a:solidFill>
              </a:rPr>
              <a:t>(</a:t>
            </a:r>
            <a:r>
              <a:rPr lang="ko-KR" altLang="en-US" sz="1500">
                <a:solidFill>
                  <a:srgbClr val="DEDBD2"/>
                </a:solidFill>
              </a:rPr>
              <a:t>내러티브 중심 어드벤처</a:t>
            </a:r>
            <a:r>
              <a:rPr lang="en-US" altLang="ko-KR" sz="1500">
                <a:solidFill>
                  <a:srgbClr val="DEDBD2"/>
                </a:solidFill>
              </a:rPr>
              <a:t>)</a:t>
            </a:r>
          </a:p>
        </p:txBody>
      </p:sp>
      <p:sp>
        <p:nvSpPr>
          <p:cNvPr id="27" name="가로 글상자 26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8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857250"/>
            <a:ext cx="9144000" cy="5143501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9432753" y="4646342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9432753" y="5371108"/>
            <a:ext cx="474784" cy="474784"/>
          </a:xfrm>
          <a:prstGeom prst="ellipse">
            <a:avLst/>
          </a:prstGeom>
          <a:solidFill>
            <a:srgbClr val="E0D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9432753" y="3197282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9432753" y="1747280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432753" y="102251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432753" y="2472045"/>
            <a:ext cx="474784" cy="474784"/>
          </a:xfrm>
          <a:prstGeom prst="ellipse">
            <a:avLst/>
          </a:prstGeom>
          <a:solidFill>
            <a:srgbClr val="495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01343" y="-301342"/>
            <a:ext cx="1497679" cy="1194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3000"/>
              <a:t>ㄱ </a:t>
            </a:r>
            <a:r>
              <a:rPr lang="en-US" altLang="ko-KR" sz="3000"/>
              <a:t>(40)</a:t>
            </a:r>
          </a:p>
          <a:p>
            <a:pPr lvl="0">
              <a:defRPr/>
            </a:pPr>
            <a:r>
              <a:rPr lang="ko-KR" altLang="en-US" sz="1500"/>
              <a:t>ㄱ </a:t>
            </a:r>
            <a:r>
              <a:rPr lang="en-US" altLang="ko-KR" sz="1500"/>
              <a:t>(21)</a:t>
            </a:r>
          </a:p>
          <a:p>
            <a:pPr lvl="0">
              <a:defRPr/>
            </a:pPr>
            <a:r>
              <a:rPr lang="ko-KR" altLang="en-US" sz="900"/>
              <a:t>ㄱ </a:t>
            </a:r>
            <a:r>
              <a:rPr lang="en-US" altLang="ko-KR" sz="9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9432753" y="3921576"/>
            <a:ext cx="474784" cy="474784"/>
          </a:xfrm>
          <a:prstGeom prst="ellipse">
            <a:avLst/>
          </a:prstGeom>
          <a:solidFill>
            <a:srgbClr val="706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9435331" y="5371108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가로 글상자 23"/>
          <p:cNvSpPr txBox="1"/>
          <p:nvPr/>
        </p:nvSpPr>
        <p:spPr>
          <a:xfrm>
            <a:off x="3351848" y="1195137"/>
            <a:ext cx="2440304" cy="546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넌 착해</a:t>
            </a:r>
            <a:r>
              <a:rPr lang="en-US" altLang="ko-KR" sz="3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!</a:t>
            </a:r>
            <a:endParaRPr lang="en-US" altLang="ko-KR" sz="3000" b="1">
              <a:solidFill>
                <a:srgbClr val="DEDBD2"/>
              </a:solidFill>
            </a:endParaRPr>
          </a:p>
        </p:txBody>
      </p:sp>
      <p:sp>
        <p:nvSpPr>
          <p:cNvPr id="26" name="가로 글상자 25"/>
          <p:cNvSpPr txBox="1"/>
          <p:nvPr/>
        </p:nvSpPr>
        <p:spPr>
          <a:xfrm>
            <a:off x="6566767" y="5534269"/>
            <a:ext cx="2383416" cy="312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rgbClr val="A58741"/>
                </a:solidFill>
              </a:rPr>
              <a:t>내러티브 중심 어드벤처</a:t>
            </a:r>
            <a:endParaRPr lang="en-US" altLang="ko-KR" sz="1500">
              <a:solidFill>
                <a:srgbClr val="A58741"/>
              </a:solidFill>
            </a:endParaRPr>
          </a:p>
        </p:txBody>
      </p:sp>
      <p:sp>
        <p:nvSpPr>
          <p:cNvPr id="27" name="가로 글상자 26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</p:spTree>
    <p:extLst>
      <p:ext uri="{BB962C8B-B14F-4D97-AF65-F5344CB8AC3E}">
        <p14:creationId xmlns:p14="http://schemas.microsoft.com/office/powerpoint/2010/main" val="321022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9432753" y="4646342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9432753" y="5371108"/>
            <a:ext cx="474784" cy="474784"/>
          </a:xfrm>
          <a:prstGeom prst="ellipse">
            <a:avLst/>
          </a:prstGeom>
          <a:solidFill>
            <a:srgbClr val="E0D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9432753" y="3197282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9432753" y="1747280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432753" y="102251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432753" y="2472045"/>
            <a:ext cx="474784" cy="474784"/>
          </a:xfrm>
          <a:prstGeom prst="ellipse">
            <a:avLst/>
          </a:prstGeom>
          <a:solidFill>
            <a:srgbClr val="495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01343" y="-301342"/>
            <a:ext cx="1497679" cy="1194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3000"/>
              <a:t>ㄱ </a:t>
            </a:r>
            <a:r>
              <a:rPr lang="en-US" altLang="ko-KR" sz="3000"/>
              <a:t>(40)</a:t>
            </a:r>
          </a:p>
          <a:p>
            <a:pPr lvl="0">
              <a:defRPr/>
            </a:pPr>
            <a:r>
              <a:rPr lang="ko-KR" altLang="en-US" sz="1500"/>
              <a:t>ㄱ </a:t>
            </a:r>
            <a:r>
              <a:rPr lang="en-US" altLang="ko-KR" sz="1500"/>
              <a:t>(21)</a:t>
            </a:r>
          </a:p>
          <a:p>
            <a:pPr lvl="0">
              <a:defRPr/>
            </a:pPr>
            <a:r>
              <a:rPr lang="ko-KR" altLang="en-US" sz="900"/>
              <a:t>ㄱ </a:t>
            </a:r>
            <a:r>
              <a:rPr lang="en-US" altLang="ko-KR" sz="9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9432753" y="3921576"/>
            <a:ext cx="474784" cy="474784"/>
          </a:xfrm>
          <a:prstGeom prst="ellipse">
            <a:avLst/>
          </a:prstGeom>
          <a:solidFill>
            <a:srgbClr val="706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9435331" y="5371108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가로 글상자 23"/>
          <p:cNvSpPr txBox="1"/>
          <p:nvPr/>
        </p:nvSpPr>
        <p:spPr>
          <a:xfrm>
            <a:off x="3351848" y="1195137"/>
            <a:ext cx="2440304" cy="546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넌 착해</a:t>
            </a:r>
            <a:r>
              <a:rPr lang="en-US" altLang="ko-KR" sz="3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!</a:t>
            </a:r>
            <a:endParaRPr lang="en-US" altLang="ko-KR" sz="3000" b="1">
              <a:solidFill>
                <a:srgbClr val="DEDBD2"/>
              </a:solidFill>
            </a:endParaRPr>
          </a:p>
        </p:txBody>
      </p:sp>
      <p:sp>
        <p:nvSpPr>
          <p:cNvPr id="26" name="가로 글상자 25"/>
          <p:cNvSpPr txBox="1"/>
          <p:nvPr/>
        </p:nvSpPr>
        <p:spPr>
          <a:xfrm>
            <a:off x="6566767" y="5534269"/>
            <a:ext cx="2383416" cy="312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rgbClr val="A58741"/>
                </a:solidFill>
              </a:rPr>
              <a:t>내러티브 중심 어드벤처</a:t>
            </a:r>
            <a:endParaRPr lang="en-US" altLang="ko-KR" sz="1500">
              <a:solidFill>
                <a:srgbClr val="A58741"/>
              </a:solidFill>
            </a:endParaRPr>
          </a:p>
        </p:txBody>
      </p:sp>
      <p:sp>
        <p:nvSpPr>
          <p:cNvPr id="27" name="가로 글상자 26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t="25370" b="28700"/>
          <a:stretch>
            <a:fillRect/>
          </a:stretch>
        </p:blipFill>
        <p:spPr>
          <a:xfrm>
            <a:off x="0" y="857250"/>
            <a:ext cx="2893218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6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10314"/>
            <a:ext cx="7886700" cy="4079658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오늘 할 것</a:t>
            </a:r>
            <a:r>
              <a:rPr lang="en-US" altLang="ko-KR"/>
              <a:t>]</a:t>
            </a:r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buFontTx/>
              <a:buChar char="-"/>
              <a:defRPr/>
            </a:pPr>
            <a:r>
              <a:rPr lang="ko-KR" altLang="en-US"/>
              <a:t>게임 제목</a:t>
            </a:r>
          </a:p>
          <a:p>
            <a:pPr lvl="0">
              <a:buFontTx/>
              <a:buChar char="-"/>
              <a:defRPr/>
            </a:pPr>
            <a:r>
              <a:rPr lang="ko-KR" altLang="en-US"/>
              <a:t>게임의 장르 명시하기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</p:spTree>
    <p:extLst>
      <p:ext uri="{BB962C8B-B14F-4D97-AF65-F5344CB8AC3E}">
        <p14:creationId xmlns:p14="http://schemas.microsoft.com/office/powerpoint/2010/main" val="238317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15440" t="8910" r="34980" b="21590"/>
          <a:stretch>
            <a:fillRect/>
          </a:stretch>
        </p:blipFill>
        <p:spPr>
          <a:xfrm>
            <a:off x="1600200" y="1076324"/>
            <a:ext cx="5858636" cy="46196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5275" y="1076324"/>
            <a:ext cx="2962275" cy="902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선생님</a:t>
            </a:r>
          </a:p>
          <a:p>
            <a:pPr lvl="0">
              <a:defRPr/>
            </a:pPr>
            <a:r>
              <a:rPr lang="ko-KR" altLang="en-US"/>
              <a:t>포트폴리오</a:t>
            </a:r>
          </a:p>
          <a:p>
            <a:pPr lvl="0">
              <a:defRPr/>
            </a:pPr>
            <a:r>
              <a:rPr lang="ko-KR" altLang="en-US"/>
              <a:t>캡쳐본</a:t>
            </a:r>
          </a:p>
        </p:txBody>
      </p:sp>
      <p:sp>
        <p:nvSpPr>
          <p:cNvPr id="8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1.14.</a:t>
            </a:r>
            <a:r>
              <a:rPr lang="ko-KR" altLang="en-US"/>
              <a:t>수</a:t>
            </a:r>
          </a:p>
        </p:txBody>
      </p:sp>
    </p:spTree>
    <p:extLst>
      <p:ext uri="{BB962C8B-B14F-4D97-AF65-F5344CB8AC3E}">
        <p14:creationId xmlns:p14="http://schemas.microsoft.com/office/powerpoint/2010/main" val="3157237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0990" r="53960" b="26050"/>
          <a:stretch>
            <a:fillRect/>
          </a:stretch>
        </p:blipFill>
        <p:spPr>
          <a:xfrm>
            <a:off x="1414462" y="933450"/>
            <a:ext cx="6315075" cy="4857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076324"/>
            <a:ext cx="2962275" cy="902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내가</a:t>
            </a:r>
          </a:p>
          <a:p>
            <a:pPr lvl="0">
              <a:defRPr/>
            </a:pPr>
            <a:r>
              <a:rPr lang="ko-KR" altLang="en-US"/>
              <a:t>만들</a:t>
            </a:r>
          </a:p>
          <a:p>
            <a:pPr lvl="0">
              <a:defRPr/>
            </a:pPr>
            <a:r>
              <a:rPr lang="ko-KR" altLang="en-US"/>
              <a:t>내용</a:t>
            </a:r>
          </a:p>
        </p:txBody>
      </p:sp>
      <p:sp>
        <p:nvSpPr>
          <p:cNvPr id="7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1.14.</a:t>
            </a:r>
            <a:r>
              <a:rPr lang="ko-KR" altLang="en-US"/>
              <a:t>수</a:t>
            </a:r>
          </a:p>
        </p:txBody>
      </p:sp>
    </p:spTree>
    <p:extLst>
      <p:ext uri="{BB962C8B-B14F-4D97-AF65-F5344CB8AC3E}">
        <p14:creationId xmlns:p14="http://schemas.microsoft.com/office/powerpoint/2010/main" val="107241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메인 제목 </a:t>
            </a:r>
            <a:r>
              <a:rPr lang="en-US" altLang="ko-KR"/>
              <a:t>+ </a:t>
            </a:r>
            <a:r>
              <a:rPr lang="ko-KR" altLang="en-US"/>
              <a:t>부제</a:t>
            </a:r>
            <a:r>
              <a:rPr lang="en-US" altLang="ko-KR"/>
              <a:t>(</a:t>
            </a:r>
            <a:r>
              <a:rPr lang="ko-KR" altLang="en-US"/>
              <a:t>있으면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슬로건</a:t>
            </a:r>
            <a:r>
              <a:rPr lang="en-US" altLang="ko-KR"/>
              <a:t>(Slogan)</a:t>
            </a:r>
          </a:p>
          <a:p>
            <a:pPr lvl="0">
              <a:defRPr/>
            </a:pPr>
            <a:r>
              <a:rPr lang="ko-KR" altLang="en-US"/>
              <a:t>게임</a:t>
            </a:r>
            <a:r>
              <a:rPr lang="en-US" altLang="ko-KR"/>
              <a:t> </a:t>
            </a:r>
            <a:r>
              <a:rPr lang="ko-KR" altLang="en-US"/>
              <a:t>장르</a:t>
            </a:r>
          </a:p>
          <a:p>
            <a:pPr lvl="0">
              <a:defRPr/>
            </a:pPr>
            <a:r>
              <a:rPr lang="ko-KR" altLang="en-US"/>
              <a:t>플랫폼</a:t>
            </a:r>
          </a:p>
          <a:p>
            <a:pPr lvl="0">
              <a:defRPr/>
            </a:pPr>
            <a:r>
              <a:rPr lang="ko-KR" altLang="en-US"/>
              <a:t>시나리오</a:t>
            </a:r>
            <a:r>
              <a:rPr lang="en-US" altLang="ko-KR"/>
              <a:t>(Scenario) : </a:t>
            </a:r>
            <a:r>
              <a:rPr lang="ko-KR" altLang="en-US"/>
              <a:t>바쁠때 잠시 걸음을 멈추고 읽을 수 있는 양</a:t>
            </a:r>
          </a:p>
          <a:p>
            <a:pPr lvl="0">
              <a:defRPr/>
            </a:pPr>
            <a:r>
              <a:rPr lang="ko-KR" altLang="en-US"/>
              <a:t>재미요소</a:t>
            </a:r>
          </a:p>
          <a:p>
            <a:pPr lvl="1">
              <a:defRPr/>
            </a:pPr>
            <a:r>
              <a:rPr lang="ko-KR" altLang="en-US"/>
              <a:t>헌팅 트로피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1.14.</a:t>
            </a:r>
            <a:r>
              <a:rPr lang="ko-KR" altLang="en-US"/>
              <a:t>수</a:t>
            </a:r>
          </a:p>
        </p:txBody>
      </p:sp>
    </p:spTree>
    <p:extLst>
      <p:ext uri="{BB962C8B-B14F-4D97-AF65-F5344CB8AC3E}">
        <p14:creationId xmlns:p14="http://schemas.microsoft.com/office/powerpoint/2010/main" val="3702076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00175"/>
            <a:ext cx="7886700" cy="408979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Grok(</a:t>
            </a:r>
            <a:r>
              <a:rPr lang="ko-KR" altLang="en-US"/>
              <a:t>그록</a:t>
            </a:r>
            <a:r>
              <a:rPr lang="en-US" altLang="ko-KR"/>
              <a:t>) ; AI </a:t>
            </a:r>
            <a:r>
              <a:rPr lang="ko-KR" altLang="en-US"/>
              <a:t>툴</a:t>
            </a:r>
          </a:p>
          <a:p>
            <a:pPr lvl="0">
              <a:defRPr/>
            </a:pPr>
            <a:r>
              <a:rPr lang="ko-KR" altLang="en-US"/>
              <a:t>나의 오리지널리티와 설계를 명확히 가지면</a:t>
            </a:r>
            <a:r>
              <a:rPr lang="en-US" altLang="ko-KR"/>
              <a:t>, </a:t>
            </a:r>
            <a:r>
              <a:rPr lang="ko-KR" altLang="en-US"/>
              <a:t>내가 게임을 만들 수 있다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1.14.</a:t>
            </a:r>
            <a:r>
              <a:rPr lang="ko-KR" altLang="en-US"/>
              <a:t>수</a:t>
            </a:r>
          </a:p>
        </p:txBody>
      </p:sp>
    </p:spTree>
    <p:extLst>
      <p:ext uri="{BB962C8B-B14F-4D97-AF65-F5344CB8AC3E}">
        <p14:creationId xmlns:p14="http://schemas.microsoft.com/office/powerpoint/2010/main" val="1529467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9432753" y="4646342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9432753" y="5371108"/>
            <a:ext cx="474784" cy="474784"/>
          </a:xfrm>
          <a:prstGeom prst="ellipse">
            <a:avLst/>
          </a:prstGeom>
          <a:solidFill>
            <a:srgbClr val="E0D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9432753" y="3197282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9432753" y="1747280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432753" y="102251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432753" y="2472045"/>
            <a:ext cx="474784" cy="474784"/>
          </a:xfrm>
          <a:prstGeom prst="ellipse">
            <a:avLst/>
          </a:prstGeom>
          <a:solidFill>
            <a:srgbClr val="778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3295" y="-197433"/>
            <a:ext cx="1179457" cy="1119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2600"/>
              <a:t>ㄱ </a:t>
            </a:r>
            <a:r>
              <a:rPr lang="en-US" altLang="ko-KR" sz="2600"/>
              <a:t>(35)</a:t>
            </a:r>
          </a:p>
          <a:p>
            <a:pPr lvl="0">
              <a:defRPr/>
            </a:pPr>
            <a:r>
              <a:rPr lang="ko-KR" altLang="en-US" sz="1400"/>
              <a:t>ㄱ </a:t>
            </a:r>
            <a:r>
              <a:rPr lang="en-US" altLang="ko-KR" sz="1400"/>
              <a:t>(19)</a:t>
            </a:r>
          </a:p>
          <a:p>
            <a:pPr lvl="0">
              <a:defRPr/>
            </a:pPr>
            <a:r>
              <a:rPr lang="ko-KR" altLang="en-US" sz="900"/>
              <a:t>ㄱ </a:t>
            </a:r>
            <a:r>
              <a:rPr lang="en-US" altLang="ko-KR" sz="9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9432753" y="3921576"/>
            <a:ext cx="474784" cy="474784"/>
          </a:xfrm>
          <a:prstGeom prst="ellipse">
            <a:avLst/>
          </a:prstGeom>
          <a:solidFill>
            <a:srgbClr val="AAB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9435331" y="5371108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가로 글상자 25"/>
          <p:cNvSpPr txBox="1"/>
          <p:nvPr/>
        </p:nvSpPr>
        <p:spPr>
          <a:xfrm>
            <a:off x="626478" y="2042982"/>
            <a:ext cx="4541750" cy="32414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900" b="1">
                <a:solidFill>
                  <a:srgbClr val="AAB3D9"/>
                </a:solidFill>
              </a:rPr>
              <a:t>[</a:t>
            </a:r>
            <a:r>
              <a:rPr lang="ko-KR" altLang="en-US" sz="900" b="1">
                <a:solidFill>
                  <a:srgbClr val="AAB3D9"/>
                </a:solidFill>
              </a:rPr>
              <a:t>슬로건</a:t>
            </a:r>
            <a:r>
              <a:rPr lang="en-US" altLang="ko-KR" sz="900" b="1">
                <a:solidFill>
                  <a:srgbClr val="AAB3D9"/>
                </a:solidFill>
              </a:rPr>
              <a:t>]</a:t>
            </a:r>
            <a:r>
              <a:rPr lang="ko-KR" altLang="en-US" sz="900" b="1">
                <a:solidFill>
                  <a:srgbClr val="AAB3D9"/>
                </a:solidFill>
              </a:rPr>
              <a:t>   </a:t>
            </a:r>
            <a:r>
              <a:rPr lang="en-US" altLang="ko-KR" sz="900" b="1">
                <a:solidFill>
                  <a:srgbClr val="AAB3D9"/>
                </a:solidFill>
              </a:rPr>
              <a:t>Chosen — or choosing?</a:t>
            </a:r>
          </a:p>
          <a:p>
            <a:pPr lvl="0">
              <a:defRPr/>
            </a:pPr>
            <a:endParaRPr lang="en-US" altLang="ko-KR" sz="900" b="1">
              <a:solidFill>
                <a:srgbClr val="AAB3D9"/>
              </a:solidFill>
            </a:endParaRPr>
          </a:p>
          <a:p>
            <a:pPr lvl="0">
              <a:defRPr/>
            </a:pPr>
            <a:endParaRPr lang="en-US" altLang="ko-KR" sz="900" b="1">
              <a:solidFill>
                <a:srgbClr val="A58741"/>
              </a:solidFill>
            </a:endParaRPr>
          </a:p>
          <a:p>
            <a:pPr lvl="0">
              <a:defRPr/>
            </a:pPr>
            <a:r>
              <a:rPr lang="en-US" altLang="ko-KR" sz="900" b="1">
                <a:solidFill>
                  <a:srgbClr val="778161"/>
                </a:solidFill>
              </a:rPr>
              <a:t>[</a:t>
            </a:r>
            <a:r>
              <a:rPr lang="ko-KR" altLang="en-US" sz="900" b="1">
                <a:solidFill>
                  <a:srgbClr val="778161"/>
                </a:solidFill>
              </a:rPr>
              <a:t>플랫폼</a:t>
            </a:r>
            <a:r>
              <a:rPr lang="en-US" altLang="ko-KR" sz="900" b="1">
                <a:solidFill>
                  <a:srgbClr val="778161"/>
                </a:solidFill>
              </a:rPr>
              <a:t>]   Android</a:t>
            </a:r>
          </a:p>
          <a:p>
            <a:pPr lvl="0">
              <a:defRPr/>
            </a:pPr>
            <a:endParaRPr lang="en-US" altLang="ko-KR" sz="900" b="1">
              <a:solidFill>
                <a:srgbClr val="9C7275"/>
              </a:solidFill>
            </a:endParaRPr>
          </a:p>
          <a:p>
            <a:pPr lvl="0">
              <a:defRPr/>
            </a:pPr>
            <a:endParaRPr lang="en-US" altLang="ko-KR" sz="900" b="1">
              <a:solidFill>
                <a:srgbClr val="A58741"/>
              </a:solidFill>
            </a:endParaRPr>
          </a:p>
          <a:p>
            <a:pPr lvl="0">
              <a:defRPr/>
            </a:pPr>
            <a:r>
              <a:rPr lang="en-US" altLang="ko-KR" sz="900" b="1">
                <a:solidFill>
                  <a:srgbClr val="9C7275"/>
                </a:solidFill>
              </a:rPr>
              <a:t>[</a:t>
            </a:r>
            <a:r>
              <a:rPr lang="ko-KR" altLang="en-US" sz="900" b="1">
                <a:solidFill>
                  <a:srgbClr val="9C7275"/>
                </a:solidFill>
              </a:rPr>
              <a:t>게임장르</a:t>
            </a:r>
            <a:r>
              <a:rPr lang="en-US" altLang="ko-KR" sz="900" b="1">
                <a:solidFill>
                  <a:srgbClr val="9C7275"/>
                </a:solidFill>
              </a:rPr>
              <a:t>]   </a:t>
            </a:r>
            <a:r>
              <a:rPr lang="ko-KR" altLang="en-US" sz="900" b="1">
                <a:solidFill>
                  <a:srgbClr val="9C7275"/>
                </a:solidFill>
              </a:rPr>
              <a:t>내러티브 중심 어드벤처</a:t>
            </a:r>
          </a:p>
          <a:p>
            <a:pPr lvl="0">
              <a:defRPr/>
            </a:pPr>
            <a:endParaRPr lang="ko-KR" altLang="en-US" sz="900" b="1">
              <a:solidFill>
                <a:srgbClr val="A58741"/>
              </a:solidFill>
            </a:endParaRPr>
          </a:p>
          <a:p>
            <a:pPr lvl="0">
              <a:defRPr/>
            </a:pPr>
            <a:endParaRPr lang="ko-KR" altLang="en-US" sz="900" b="1">
              <a:solidFill>
                <a:srgbClr val="A58741"/>
              </a:solidFill>
            </a:endParaRPr>
          </a:p>
          <a:p>
            <a:pPr lvl="0">
              <a:defRPr/>
            </a:pPr>
            <a:r>
              <a:rPr lang="en-US" altLang="ko-KR" sz="900" b="1">
                <a:solidFill>
                  <a:srgbClr val="DEDBD2"/>
                </a:solidFill>
              </a:rPr>
              <a:t>[</a:t>
            </a:r>
            <a:r>
              <a:rPr lang="ko-KR" altLang="en-US" sz="900" b="1">
                <a:solidFill>
                  <a:srgbClr val="DEDBD2"/>
                </a:solidFill>
              </a:rPr>
              <a:t>시나리오</a:t>
            </a:r>
            <a:r>
              <a:rPr lang="en-US" altLang="ko-KR" sz="900" b="1">
                <a:solidFill>
                  <a:srgbClr val="DEDBD2"/>
                </a:solidFill>
              </a:rPr>
              <a:t>]</a:t>
            </a:r>
          </a:p>
          <a:p>
            <a:pPr lvl="0"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    스스로를 특별히 착하다고 생각하지 않는 주인공과</a:t>
            </a:r>
            <a:r>
              <a:rPr lang="en-US" altLang="ko-KR" sz="900" b="1">
                <a:solidFill>
                  <a:srgbClr val="DEDBD2"/>
                </a:solidFill>
              </a:rPr>
              <a:t>,</a:t>
            </a:r>
            <a:r>
              <a:rPr lang="ko-KR" altLang="en-US" sz="900" b="1">
                <a:solidFill>
                  <a:srgbClr val="DEDBD2"/>
                </a:solidFill>
              </a:rPr>
              <a:t> 그를 가장 착한 사람이라고</a:t>
            </a:r>
          </a:p>
          <a:p>
            <a:pPr lvl="0"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    규정하는 주변 사이에서 이야기는 시작된다</a:t>
            </a:r>
            <a:r>
              <a:rPr lang="en-US" altLang="ko-KR" sz="900" b="1">
                <a:solidFill>
                  <a:srgbClr val="DEDBD2"/>
                </a:solidFill>
              </a:rPr>
              <a:t>.</a:t>
            </a:r>
          </a:p>
          <a:p>
            <a:pPr lvl="0">
              <a:defRPr/>
            </a:pPr>
            <a:endParaRPr lang="en-US" altLang="ko-KR" sz="900" b="1">
              <a:solidFill>
                <a:srgbClr val="DEDBD2"/>
              </a:solidFill>
            </a:endParaRPr>
          </a:p>
          <a:p>
            <a:pPr lvl="0"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    일상적인 선택은 점점 의무가 되고</a:t>
            </a:r>
            <a:r>
              <a:rPr lang="en-US" altLang="ko-KR" sz="900" b="1">
                <a:solidFill>
                  <a:srgbClr val="DEDBD2"/>
                </a:solidFill>
              </a:rPr>
              <a:t>,</a:t>
            </a:r>
            <a:r>
              <a:rPr lang="ko-KR" altLang="en-US" sz="900" b="1">
                <a:solidFill>
                  <a:srgbClr val="DEDBD2"/>
                </a:solidFill>
              </a:rPr>
              <a:t> 세상이 붕괴될수록 선행은 주인공의 희생을</a:t>
            </a:r>
          </a:p>
          <a:p>
            <a:pPr lvl="0"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    전제로 한 압박으로 변해간다</a:t>
            </a:r>
            <a:r>
              <a:rPr lang="en-US" altLang="ko-KR" sz="900" b="1">
                <a:solidFill>
                  <a:srgbClr val="DEDBD2"/>
                </a:solidFill>
              </a:rPr>
              <a:t>.</a:t>
            </a:r>
          </a:p>
          <a:p>
            <a:pPr lvl="0">
              <a:defRPr/>
            </a:pPr>
            <a:r>
              <a:rPr lang="ko-KR" altLang="en-US" sz="900" b="1">
                <a:solidFill>
                  <a:srgbClr val="778161"/>
                </a:solidFill>
              </a:rPr>
              <a:t>    </a:t>
            </a:r>
            <a:r>
              <a:rPr lang="en-US" altLang="ko-KR" sz="900" b="1">
                <a:solidFill>
                  <a:srgbClr val="A58741"/>
                </a:solidFill>
              </a:rPr>
              <a:t>(</a:t>
            </a:r>
            <a:r>
              <a:rPr lang="ko-KR" altLang="en-US" sz="900" b="1">
                <a:solidFill>
                  <a:srgbClr val="A58741"/>
                </a:solidFill>
              </a:rPr>
              <a:t>플레이어는 그 기대 속에서 선택을 이어가게 된다</a:t>
            </a:r>
            <a:r>
              <a:rPr lang="en-US" altLang="ko-KR" sz="900" b="1">
                <a:solidFill>
                  <a:srgbClr val="A58741"/>
                </a:solidFill>
              </a:rPr>
              <a:t>.)</a:t>
            </a:r>
          </a:p>
          <a:p>
            <a:pPr lvl="0">
              <a:defRPr/>
            </a:pPr>
            <a:endParaRPr lang="en-US" altLang="ko-KR" sz="900" b="1">
              <a:solidFill>
                <a:srgbClr val="778161"/>
              </a:solidFill>
            </a:endParaRPr>
          </a:p>
          <a:p>
            <a:pPr lvl="0">
              <a:defRPr/>
            </a:pPr>
            <a:endParaRPr lang="en-US" altLang="ko-KR" sz="900" b="1">
              <a:solidFill>
                <a:srgbClr val="A58741"/>
              </a:solidFill>
            </a:endParaRPr>
          </a:p>
          <a:p>
            <a:pPr lvl="0">
              <a:defRPr/>
            </a:pPr>
            <a:r>
              <a:rPr lang="en-US" altLang="ko-KR" sz="900" b="1">
                <a:solidFill>
                  <a:srgbClr val="DEDBD2"/>
                </a:solidFill>
              </a:rPr>
              <a:t>[</a:t>
            </a:r>
            <a:r>
              <a:rPr lang="ko-KR" altLang="en-US" sz="900" b="1">
                <a:solidFill>
                  <a:srgbClr val="DEDBD2"/>
                </a:solidFill>
              </a:rPr>
              <a:t>재미 요소</a:t>
            </a:r>
            <a:r>
              <a:rPr lang="en-US" altLang="ko-KR" sz="900" b="1">
                <a:solidFill>
                  <a:srgbClr val="DEDBD2"/>
                </a:solidFill>
              </a:rPr>
              <a:t>]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감정적 압박과 몰입을 즐기는 내러티브 게임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플레이어의 선택에 따라 변화하는 스토리와 엔딩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선택 누적에 따라 변화하는 분위기 연출 시스템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900" b="1">
                <a:solidFill>
                  <a:srgbClr val="DEDBD2"/>
                </a:solidFill>
              </a:rPr>
              <a:t>선행이 부담으로 작동하는 선택 소모화 구조</a:t>
            </a:r>
          </a:p>
        </p:txBody>
      </p:sp>
      <p:sp>
        <p:nvSpPr>
          <p:cNvPr id="27" name="가로 글상자 26"/>
          <p:cNvSpPr txBox="1"/>
          <p:nvPr/>
        </p:nvSpPr>
        <p:spPr>
          <a:xfrm>
            <a:off x="6664794" y="6205321"/>
            <a:ext cx="2479205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1.13~14.</a:t>
            </a:r>
            <a:r>
              <a:rPr lang="ko-KR" altLang="en-US"/>
              <a:t>화</a:t>
            </a:r>
            <a:r>
              <a:rPr lang="en-US" altLang="ko-KR"/>
              <a:t>~</a:t>
            </a:r>
            <a:r>
              <a:rPr lang="ko-KR" altLang="en-US"/>
              <a:t>수</a:t>
            </a:r>
          </a:p>
        </p:txBody>
      </p:sp>
      <p:sp>
        <p:nvSpPr>
          <p:cNvPr id="28" name="가로 글상자 27"/>
          <p:cNvSpPr txBox="1"/>
          <p:nvPr/>
        </p:nvSpPr>
        <p:spPr>
          <a:xfrm>
            <a:off x="5994698" y="1374381"/>
            <a:ext cx="2440304" cy="490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6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넌 착해</a:t>
            </a:r>
            <a:r>
              <a:rPr lang="en-US" altLang="ko-KR" sz="26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</a:rPr>
              <a:t>!</a:t>
            </a:r>
            <a:endParaRPr lang="en-US" altLang="ko-KR" sz="2600" b="1">
              <a:solidFill>
                <a:srgbClr val="DEDBD2"/>
              </a:solidFill>
            </a:endParaRPr>
          </a:p>
        </p:txBody>
      </p:sp>
      <p:sp>
        <p:nvSpPr>
          <p:cNvPr id="29" name="가로 글상자 28"/>
          <p:cNvSpPr txBox="1"/>
          <p:nvPr/>
        </p:nvSpPr>
        <p:spPr>
          <a:xfrm>
            <a:off x="6023142" y="1858024"/>
            <a:ext cx="2383416" cy="292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400">
                <a:solidFill>
                  <a:srgbClr val="DEDBD2"/>
                </a:solidFill>
              </a:rPr>
              <a:t>(</a:t>
            </a:r>
            <a:r>
              <a:rPr lang="ko-KR" altLang="en-US" sz="1400">
                <a:solidFill>
                  <a:srgbClr val="DEDBD2"/>
                </a:solidFill>
              </a:rPr>
              <a:t>내러티브 중심 어드벤처</a:t>
            </a:r>
            <a:r>
              <a:rPr lang="en-US" altLang="ko-KR" sz="1400">
                <a:solidFill>
                  <a:srgbClr val="DEDBD2"/>
                </a:solidFill>
              </a:rPr>
              <a:t>)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t="22930" b="2790"/>
          <a:stretch>
            <a:fillRect/>
          </a:stretch>
        </p:blipFill>
        <p:spPr>
          <a:xfrm flipH="1">
            <a:off x="5369731" y="1012107"/>
            <a:ext cx="3625971" cy="48337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" name="그룹 2"/>
          <p:cNvGrpSpPr/>
          <p:nvPr/>
        </p:nvGrpSpPr>
        <p:grpSpPr>
          <a:xfrm>
            <a:off x="626478" y="1342925"/>
            <a:ext cx="4486951" cy="505876"/>
            <a:chOff x="835304" y="673545"/>
            <a:chExt cx="5636237" cy="674502"/>
          </a:xfrm>
        </p:grpSpPr>
        <p:sp>
          <p:nvSpPr>
            <p:cNvPr id="24" name="가로 글상자 23"/>
            <p:cNvSpPr txBox="1"/>
            <p:nvPr/>
          </p:nvSpPr>
          <p:spPr>
            <a:xfrm>
              <a:off x="1451347" y="726047"/>
              <a:ext cx="5020192" cy="6435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2600" b="1">
                  <a:ln w="12700" cap="flat" cmpd="sng" algn="ctr">
                    <a:solidFill>
                      <a:srgbClr val="3D4767"/>
                    </a:solidFill>
                    <a:prstDash val="solid"/>
                    <a:round/>
                    <a:headEnd w="med" len="med"/>
                    <a:tailEnd w="med" len="med"/>
                  </a:ln>
                  <a:solidFill>
                    <a:srgbClr val="DEDBD2"/>
                  </a:solidFill>
                  <a:effectLst>
                    <a:outerShdw blurRad="63500" dist="31750" dir="16200000" rotWithShape="0">
                      <a:schemeClr val="tx1"/>
                    </a:outerShdw>
                  </a:effectLst>
                </a:rPr>
                <a:t>넌 착해</a:t>
              </a:r>
              <a:r>
                <a:rPr lang="en-US" altLang="ko-KR" sz="2600" b="1">
                  <a:ln w="12700" cap="flat" cmpd="sng" algn="ctr">
                    <a:solidFill>
                      <a:srgbClr val="3D4767"/>
                    </a:solidFill>
                    <a:prstDash val="solid"/>
                    <a:round/>
                    <a:headEnd w="med" len="med"/>
                    <a:tailEnd w="med" len="med"/>
                  </a:ln>
                  <a:solidFill>
                    <a:srgbClr val="DEDBD2"/>
                  </a:solidFill>
                  <a:effectLst>
                    <a:outerShdw blurRad="63500" dist="31750" dir="16200000" rotWithShape="0">
                      <a:schemeClr val="tx1"/>
                    </a:outerShdw>
                  </a:effectLst>
                </a:rPr>
                <a:t>!</a:t>
              </a:r>
              <a:r>
                <a:rPr lang="ko-KR" altLang="en-US" sz="2600" b="1">
                  <a:ln w="12700" cap="flat" cmpd="sng" algn="ctr">
                    <a:solidFill>
                      <a:srgbClr val="3D4767"/>
                    </a:solidFill>
                    <a:prstDash val="solid"/>
                    <a:round/>
                    <a:headEnd w="med" len="med"/>
                    <a:tailEnd w="med" len="med"/>
                  </a:ln>
                  <a:solidFill>
                    <a:srgbClr val="DEDBD2"/>
                  </a:solidFill>
                  <a:effectLst>
                    <a:outerShdw blurRad="63500" dist="31750" dir="16200000" rotWithShape="0">
                      <a:schemeClr val="tx1"/>
                    </a:outerShdw>
                  </a:effectLst>
                </a:rPr>
                <a:t> </a:t>
              </a:r>
              <a:r>
                <a:rPr lang="en-US" altLang="ko-KR" sz="1400" b="1">
                  <a:ln w="12700" cap="flat" cmpd="sng" algn="ctr">
                    <a:solidFill>
                      <a:srgbClr val="3D4767"/>
                    </a:solidFill>
                    <a:prstDash val="solid"/>
                    <a:round/>
                    <a:headEnd w="med" len="med"/>
                    <a:tailEnd w="med" len="med"/>
                  </a:ln>
                  <a:solidFill>
                    <a:srgbClr val="DEDBD2"/>
                  </a:solidFill>
                  <a:effectLst>
                    <a:outerShdw blurRad="63500" dist="31750" dir="16200000" rotWithShape="0">
                      <a:schemeClr val="tx1"/>
                    </a:outerShdw>
                  </a:effectLst>
                </a:rPr>
                <a:t>-</a:t>
              </a:r>
              <a:r>
                <a:rPr lang="ko-KR" altLang="en-US" sz="1400" b="1">
                  <a:ln w="12700" cap="flat" cmpd="sng" algn="ctr">
                    <a:solidFill>
                      <a:srgbClr val="3D4767"/>
                    </a:solidFill>
                    <a:prstDash val="solid"/>
                    <a:round/>
                    <a:headEnd w="med" len="med"/>
                    <a:tailEnd w="med" len="med"/>
                  </a:ln>
                  <a:solidFill>
                    <a:srgbClr val="DEDBD2"/>
                  </a:solidFill>
                  <a:effectLst>
                    <a:outerShdw blurRad="63500" dist="31750" dir="16200000" rotWithShape="0">
                      <a:schemeClr val="tx1"/>
                    </a:outerShdw>
                  </a:effectLst>
                </a:rPr>
                <a:t> 누군가는 해야 하는 이야기</a:t>
              </a:r>
              <a:endParaRPr lang="ko-KR" altLang="en-US" sz="1400" b="1">
                <a:solidFill>
                  <a:srgbClr val="DEDBD2"/>
                </a:solidFill>
              </a:endParaRPr>
            </a:p>
          </p:txBody>
        </p:sp>
        <p:pic>
          <p:nvPicPr>
            <p:cNvPr id="19" name="그림 18"/>
            <p:cNvPicPr/>
            <p:nvPr/>
          </p:nvPicPr>
          <p:blipFill rotWithShape="1">
            <a:blip r:embed="rId4"/>
            <a:srcRect l="23800" t="58180" r="49540" b="23630"/>
            <a:stretch>
              <a:fillRect/>
            </a:stretch>
          </p:blipFill>
          <p:spPr>
            <a:xfrm>
              <a:off x="835304" y="673545"/>
              <a:ext cx="538662" cy="660821"/>
            </a:xfrm>
            <a:prstGeom prst="rect">
              <a:avLst/>
            </a:prstGeom>
          </p:spPr>
        </p:pic>
      </p:grpSp>
      <p:sp>
        <p:nvSpPr>
          <p:cNvPr id="4" name="TextBox 3"/>
          <p:cNvSpPr txBox="1"/>
          <p:nvPr/>
        </p:nvSpPr>
        <p:spPr>
          <a:xfrm>
            <a:off x="0" y="318477"/>
            <a:ext cx="3729037" cy="489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600"/>
              <a:t>[</a:t>
            </a:r>
            <a:r>
              <a:rPr lang="ko-KR" altLang="en-US" sz="2600"/>
              <a:t>작업 중인 페이지</a:t>
            </a:r>
            <a:r>
              <a:rPr lang="en-US" altLang="ko-KR" sz="2600"/>
              <a:t>]</a:t>
            </a:r>
            <a:endParaRPr lang="ko-KR" altLang="en-US" sz="2600"/>
          </a:p>
        </p:txBody>
      </p:sp>
    </p:spTree>
    <p:extLst>
      <p:ext uri="{BB962C8B-B14F-4D97-AF65-F5344CB8AC3E}">
        <p14:creationId xmlns:p14="http://schemas.microsoft.com/office/powerpoint/2010/main" val="1808154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개발자에게 스펙이란</a:t>
            </a:r>
            <a:r>
              <a:rPr lang="en-US" altLang="ko-KR"/>
              <a:t>?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/>
              <a:t>이 게임을 누가 개발했나</a:t>
            </a:r>
            <a:r>
              <a:rPr lang="en-US" altLang="ko-KR"/>
              <a:t>(</a:t>
            </a:r>
            <a:r>
              <a:rPr lang="ko-KR" altLang="en-US"/>
              <a:t>스타 개발자가 있나</a:t>
            </a:r>
            <a:r>
              <a:rPr lang="en-US" altLang="ko-KR"/>
              <a:t>? </a:t>
            </a:r>
            <a:r>
              <a:rPr lang="ko-KR" altLang="en-US"/>
              <a:t>어떤 출신인가</a:t>
            </a:r>
            <a:r>
              <a:rPr lang="en-US" altLang="ko-KR"/>
              <a:t>?)</a:t>
            </a:r>
          </a:p>
          <a:p>
            <a:pPr lvl="2">
              <a:defRPr/>
            </a:pPr>
            <a:r>
              <a:rPr lang="ko-KR" altLang="en-US"/>
              <a:t>투자받을 때는 이게 가장 중요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/>
              <a:t>개발 일정</a:t>
            </a:r>
            <a:r>
              <a:rPr lang="en-US" altLang="ko-KR"/>
              <a:t>(</a:t>
            </a:r>
            <a:r>
              <a:rPr lang="ko-KR" altLang="en-US"/>
              <a:t>시기별 개발 내역</a:t>
            </a:r>
            <a:r>
              <a:rPr lang="en-US" altLang="ko-KR"/>
              <a:t>)</a:t>
            </a:r>
          </a:p>
          <a:p>
            <a:pPr lvl="2">
              <a:defRPr/>
            </a:pPr>
            <a:r>
              <a:rPr lang="ko-KR" altLang="en-US"/>
              <a:t>언제 이 게임이 출시되나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/>
              <a:t>개발 비용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287929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25335"/>
            <a:ext cx="7886700" cy="4164636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ko-KR" altLang="en-US"/>
              <a:t>취준할 때 스펙이란</a:t>
            </a:r>
            <a:r>
              <a:rPr lang="en-US" altLang="ko-KR"/>
              <a:t>? – </a:t>
            </a:r>
            <a:r>
              <a:rPr lang="ko-KR" altLang="en-US"/>
              <a:t>일반화된 내용 넣기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/>
              <a:t>장르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/>
              <a:t>제목</a:t>
            </a:r>
            <a:r>
              <a:rPr lang="en-US" altLang="ko-KR"/>
              <a:t>(</a:t>
            </a:r>
            <a:r>
              <a:rPr lang="ko-KR" altLang="en-US"/>
              <a:t>순우리말</a:t>
            </a:r>
            <a:r>
              <a:rPr lang="en-US" altLang="ko-KR"/>
              <a:t>, </a:t>
            </a:r>
            <a:r>
              <a:rPr lang="ko-KR" altLang="en-US"/>
              <a:t>센스있게</a:t>
            </a:r>
            <a:r>
              <a:rPr lang="en-US" altLang="ko-KR"/>
              <a:t>)</a:t>
            </a:r>
          </a:p>
          <a:p>
            <a:pPr lvl="2">
              <a:defRPr/>
            </a:pPr>
            <a:r>
              <a:rPr lang="ko-KR" altLang="en-US"/>
              <a:t>제목은 우리의 감각과 수준을 나타낸다</a:t>
            </a:r>
            <a:r>
              <a:rPr lang="en-US" altLang="ko-KR"/>
              <a:t>.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/>
              <a:t>시놉시스</a:t>
            </a:r>
          </a:p>
          <a:p>
            <a:pPr lvl="2">
              <a:defRPr/>
            </a:pPr>
            <a:r>
              <a:rPr lang="ko-KR" altLang="en-US"/>
              <a:t>내 게임에서 가장 흥미로운 이야기</a:t>
            </a:r>
          </a:p>
          <a:p>
            <a:pPr lvl="2">
              <a:defRPr/>
            </a:pPr>
            <a:r>
              <a:rPr lang="ko-KR" altLang="en-US"/>
              <a:t>내 게임에 흥미가 있든 없든 사람들이 짧고 명료하게 읽을 수 있게 써야 한다</a:t>
            </a:r>
            <a:r>
              <a:rPr lang="en-US" altLang="ko-KR"/>
              <a:t>.</a:t>
            </a:r>
          </a:p>
          <a:p>
            <a:pPr lvl="2">
              <a:defRPr/>
            </a:pPr>
            <a:r>
              <a:rPr lang="ko-KR" altLang="en-US"/>
              <a:t>가장 자신있고 부각시키고 싶은 것을 흥미롭게 제시하자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/>
              <a:t>재미요소</a:t>
            </a:r>
          </a:p>
          <a:p>
            <a:pPr lvl="2">
              <a:defRPr/>
            </a:pPr>
            <a:r>
              <a:rPr lang="ko-KR" altLang="en-US"/>
              <a:t>절대 대충 적으면 안 된다</a:t>
            </a:r>
            <a:r>
              <a:rPr lang="en-US" altLang="ko-KR"/>
              <a:t>.</a:t>
            </a:r>
          </a:p>
          <a:p>
            <a:pPr lvl="2">
              <a:defRPr/>
            </a:pPr>
            <a:r>
              <a:rPr lang="ko-KR" altLang="en-US"/>
              <a:t>인생이 걸렸다</a:t>
            </a:r>
            <a:r>
              <a:rPr lang="en-US" altLang="ko-KR"/>
              <a:t>!</a:t>
            </a:r>
          </a:p>
          <a:p>
            <a:pPr lvl="2">
              <a:defRPr/>
            </a:pPr>
            <a:r>
              <a:rPr lang="ko-KR" altLang="en-US"/>
              <a:t>킬러 컨텐츠</a:t>
            </a:r>
          </a:p>
          <a:p>
            <a:pPr lvl="2">
              <a:defRPr/>
            </a:pPr>
            <a:r>
              <a:rPr lang="ko-KR" altLang="en-US"/>
              <a:t>재미요소의 내용은 반드시 본문에서 근거를 제시해야 한다</a:t>
            </a:r>
            <a:r>
              <a:rPr lang="en-US" altLang="ko-KR"/>
              <a:t>.</a:t>
            </a:r>
          </a:p>
          <a:p>
            <a:pPr lvl="2">
              <a:defRPr/>
            </a:pPr>
            <a:r>
              <a:rPr lang="ko-KR" altLang="en-US"/>
              <a:t>그러니 재미에 자신있는 걸 적자</a:t>
            </a:r>
            <a:r>
              <a:rPr lang="en-US" altLang="ko-KR"/>
              <a:t>!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 b="1">
                <a:solidFill>
                  <a:schemeClr val="accent4">
                    <a:lumMod val="75000"/>
                  </a:schemeClr>
                </a:solidFill>
              </a:rPr>
              <a:t>게임의 정의</a:t>
            </a:r>
            <a:r>
              <a:rPr lang="en-US" altLang="ko-KR"/>
              <a:t>(</a:t>
            </a:r>
            <a:r>
              <a:rPr lang="ko-KR" altLang="en-US"/>
              <a:t>진짜 중요하다</a:t>
            </a:r>
            <a:r>
              <a:rPr lang="en-US" altLang="ko-KR"/>
              <a:t>.)</a:t>
            </a:r>
          </a:p>
          <a:p>
            <a:pPr lvl="2">
              <a:defRPr/>
            </a:pPr>
            <a:r>
              <a:rPr lang="ko-KR" altLang="en-US"/>
              <a:t>우리 게임의</a:t>
            </a:r>
          </a:p>
          <a:p>
            <a:pPr lvl="3">
              <a:defRPr/>
            </a:pPr>
            <a:r>
              <a:rPr lang="ko-KR" altLang="en-US"/>
              <a:t>플레이 작용요소</a:t>
            </a:r>
          </a:p>
          <a:p>
            <a:pPr lvl="3">
              <a:defRPr/>
            </a:pPr>
            <a:r>
              <a:rPr lang="ko-KR" altLang="en-US"/>
              <a:t>방해요소</a:t>
            </a:r>
          </a:p>
          <a:p>
            <a:pPr lvl="3">
              <a:defRPr/>
            </a:pPr>
            <a:r>
              <a:rPr lang="ko-KR" altLang="en-US"/>
              <a:t>목적</a:t>
            </a:r>
          </a:p>
          <a:p>
            <a:pPr lvl="2">
              <a:defRPr/>
            </a:pPr>
            <a:r>
              <a:rPr lang="ko-KR" altLang="en-US"/>
              <a:t>게임에서 가장 메인인 순환구조</a:t>
            </a:r>
            <a:r>
              <a:rPr lang="en-US" altLang="ko-KR"/>
              <a:t>(</a:t>
            </a:r>
            <a:r>
              <a:rPr lang="ko-KR" altLang="en-US"/>
              <a:t>이 </a:t>
            </a:r>
            <a:r>
              <a:rPr lang="en-US" altLang="ko-KR"/>
              <a:t>3</a:t>
            </a:r>
            <a:r>
              <a:rPr lang="ko-KR" altLang="en-US"/>
              <a:t>가지가 순환하게</a:t>
            </a:r>
            <a:r>
              <a:rPr lang="en-US" altLang="ko-KR"/>
              <a:t>) =&gt; </a:t>
            </a:r>
            <a:r>
              <a:rPr lang="ko-KR" altLang="en-US"/>
              <a:t>플레이의 매커니즘</a:t>
            </a:r>
          </a:p>
          <a:p>
            <a:pPr lvl="2">
              <a:defRPr/>
            </a:pPr>
            <a:r>
              <a:rPr lang="ko-KR" altLang="en-US"/>
              <a:t>이 이론을 적용시켜서 적자</a:t>
            </a:r>
            <a:r>
              <a:rPr lang="en-US" altLang="ko-KR"/>
              <a:t>.</a:t>
            </a:r>
          </a:p>
          <a:p>
            <a:pPr lvl="2">
              <a:defRPr/>
            </a:pPr>
            <a:r>
              <a:rPr lang="ko-KR" altLang="en-US"/>
              <a:t>만든 내 게임이 어떤 플레이 매커니즘을 가지고 있나</a:t>
            </a:r>
            <a:r>
              <a:rPr lang="en-US" altLang="ko-KR"/>
              <a:t>?</a:t>
            </a:r>
          </a:p>
          <a:p>
            <a:pPr lvl="3">
              <a:defRPr/>
            </a:pPr>
            <a:r>
              <a:rPr lang="ko-KR" altLang="en-US"/>
              <a:t>순환구조에 따라 내 게임을 설명하면 된다</a:t>
            </a:r>
            <a:r>
              <a:rPr lang="en-US" altLang="ko-KR"/>
              <a:t>.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2404121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9432753" y="4646342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9432753" y="5371108"/>
            <a:ext cx="474784" cy="474784"/>
          </a:xfrm>
          <a:prstGeom prst="ellipse">
            <a:avLst/>
          </a:prstGeom>
          <a:solidFill>
            <a:srgbClr val="E0D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9432753" y="3197282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9432753" y="1747280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432753" y="102251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432753" y="2472045"/>
            <a:ext cx="474784" cy="474784"/>
          </a:xfrm>
          <a:prstGeom prst="ellipse">
            <a:avLst/>
          </a:prstGeom>
          <a:solidFill>
            <a:srgbClr val="778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3295" y="-197433"/>
            <a:ext cx="1179457" cy="1119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2600"/>
              <a:t>ㄱ </a:t>
            </a:r>
            <a:r>
              <a:rPr lang="en-US" altLang="ko-KR" sz="2600"/>
              <a:t>(35)</a:t>
            </a:r>
          </a:p>
          <a:p>
            <a:pPr lvl="0">
              <a:defRPr/>
            </a:pPr>
            <a:r>
              <a:rPr lang="ko-KR" altLang="en-US" sz="1400"/>
              <a:t>ㄱ </a:t>
            </a:r>
            <a:r>
              <a:rPr lang="en-US" altLang="ko-KR" sz="1400"/>
              <a:t>(19)</a:t>
            </a:r>
          </a:p>
          <a:p>
            <a:pPr lvl="0">
              <a:defRPr/>
            </a:pPr>
            <a:r>
              <a:rPr lang="ko-KR" altLang="en-US" sz="900"/>
              <a:t>ㄱ </a:t>
            </a:r>
            <a:r>
              <a:rPr lang="en-US" altLang="ko-KR" sz="9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9432753" y="3921576"/>
            <a:ext cx="474784" cy="474784"/>
          </a:xfrm>
          <a:prstGeom prst="ellipse">
            <a:avLst/>
          </a:prstGeom>
          <a:solidFill>
            <a:srgbClr val="AAB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9435331" y="5371108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가로 글상자 25"/>
          <p:cNvSpPr txBox="1"/>
          <p:nvPr/>
        </p:nvSpPr>
        <p:spPr>
          <a:xfrm>
            <a:off x="514350" y="1022514"/>
            <a:ext cx="8124825" cy="414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[</a:t>
            </a:r>
            <a:r>
              <a:rPr lang="ko-KR" altLang="en-US" sz="1900" b="1">
                <a:solidFill>
                  <a:srgbClr val="2C2A2B"/>
                </a:solidFill>
              </a:rPr>
              <a:t>제목</a:t>
            </a:r>
            <a:r>
              <a:rPr lang="en-US" altLang="ko-KR" sz="1900" b="1">
                <a:solidFill>
                  <a:srgbClr val="2C2A2B"/>
                </a:solidFill>
              </a:rPr>
              <a:t>]</a:t>
            </a:r>
            <a:r>
              <a:rPr lang="ko-KR" altLang="en-US" sz="1900" b="1">
                <a:solidFill>
                  <a:srgbClr val="2C2A2B"/>
                </a:solidFill>
              </a:rPr>
              <a:t>   넌 착해</a:t>
            </a:r>
            <a:r>
              <a:rPr lang="en-US" altLang="ko-KR" sz="1900" b="1">
                <a:solidFill>
                  <a:srgbClr val="2C2A2B"/>
                </a:solidFill>
              </a:rPr>
              <a:t>!</a:t>
            </a:r>
          </a:p>
          <a:p>
            <a:pPr lvl="0">
              <a:defRPr/>
            </a:pPr>
            <a:endParaRPr lang="en-US" altLang="ko-KR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[</a:t>
            </a:r>
            <a:r>
              <a:rPr lang="ko-KR" altLang="en-US" sz="1900" b="1">
                <a:solidFill>
                  <a:srgbClr val="2C2A2B"/>
                </a:solidFill>
              </a:rPr>
              <a:t>게임장르</a:t>
            </a:r>
            <a:r>
              <a:rPr lang="en-US" altLang="ko-KR" sz="1900" b="1">
                <a:solidFill>
                  <a:srgbClr val="2C2A2B"/>
                </a:solidFill>
              </a:rPr>
              <a:t>]   </a:t>
            </a:r>
            <a:r>
              <a:rPr lang="ko-KR" altLang="en-US" sz="1900" b="1">
                <a:solidFill>
                  <a:srgbClr val="2C2A2B"/>
                </a:solidFill>
              </a:rPr>
              <a:t>내러티브 중심 어드벤처</a:t>
            </a:r>
          </a:p>
          <a:p>
            <a:pPr lvl="0">
              <a:defRPr/>
            </a:pPr>
            <a:endParaRPr lang="ko-KR" altLang="en-US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[</a:t>
            </a:r>
            <a:r>
              <a:rPr lang="ko-KR" altLang="en-US" sz="1900" b="1">
                <a:solidFill>
                  <a:srgbClr val="2C2A2B"/>
                </a:solidFill>
              </a:rPr>
              <a:t>시놉시스</a:t>
            </a:r>
            <a:r>
              <a:rPr lang="en-US" altLang="ko-KR" sz="1900" b="1">
                <a:solidFill>
                  <a:srgbClr val="2C2A2B"/>
                </a:solidFill>
              </a:rPr>
              <a:t>]</a:t>
            </a:r>
          </a:p>
          <a:p>
            <a:pPr lvl="0">
              <a:defRPr/>
            </a:pPr>
            <a:r>
              <a:rPr lang="ko-KR" altLang="en-US" sz="1900" b="1">
                <a:solidFill>
                  <a:srgbClr val="2C2A2B"/>
                </a:solidFill>
              </a:rPr>
              <a:t>    이 게임은 선택지가 주어지는 것처럼 보이지만</a:t>
            </a:r>
            <a:r>
              <a:rPr lang="en-US" altLang="ko-KR" sz="1900" b="1">
                <a:solidFill>
                  <a:srgbClr val="2C2A2B"/>
                </a:solidFill>
              </a:rPr>
              <a:t>, </a:t>
            </a:r>
            <a:r>
              <a:rPr lang="ko-KR" altLang="en-US" sz="1900" b="1">
                <a:solidFill>
                  <a:srgbClr val="2C2A2B"/>
                </a:solidFill>
              </a:rPr>
              <a:t>이야기가 진행될수록 모든 선택지가 하나의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    </a:t>
            </a:r>
            <a:r>
              <a:rPr lang="ko-KR" altLang="en-US" sz="1900" b="1">
                <a:solidFill>
                  <a:srgbClr val="2C2A2B"/>
                </a:solidFill>
              </a:rPr>
              <a:t>방향을 강요하는 내러티브 어드벤처다</a:t>
            </a:r>
            <a:r>
              <a:rPr lang="en-US" altLang="ko-KR" sz="1900" b="1">
                <a:solidFill>
                  <a:srgbClr val="2C2A2B"/>
                </a:solidFill>
              </a:rPr>
              <a:t>.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    </a:t>
            </a:r>
            <a:r>
              <a:rPr lang="ko-KR" altLang="en-US" sz="1900" b="1">
                <a:solidFill>
                  <a:srgbClr val="2C2A2B"/>
                </a:solidFill>
              </a:rPr>
              <a:t>스스로를 특별히 착한 사람이라고 여기지 않는 주인공은</a:t>
            </a:r>
            <a:r>
              <a:rPr lang="en-US" altLang="ko-KR" sz="1900" b="1">
                <a:solidFill>
                  <a:srgbClr val="2C2A2B"/>
                </a:solidFill>
              </a:rPr>
              <a:t>, ‘</a:t>
            </a:r>
            <a:r>
              <a:rPr lang="ko-KR" altLang="en-US" sz="1900" b="1">
                <a:solidFill>
                  <a:srgbClr val="2C2A2B"/>
                </a:solidFill>
              </a:rPr>
              <a:t>가장 착한 사람</a:t>
            </a:r>
            <a:r>
              <a:rPr lang="en-US" altLang="ko-KR" sz="1900" b="1">
                <a:solidFill>
                  <a:srgbClr val="2C2A2B"/>
                </a:solidFill>
              </a:rPr>
              <a:t>＇</a:t>
            </a:r>
            <a:r>
              <a:rPr lang="ko-KR" altLang="en-US" sz="1900" b="1">
                <a:solidFill>
                  <a:srgbClr val="2C2A2B"/>
                </a:solidFill>
              </a:rPr>
              <a:t>이라는 기대 속에서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    </a:t>
            </a:r>
            <a:r>
              <a:rPr lang="ko-KR" altLang="en-US" sz="1900" b="1">
                <a:solidFill>
                  <a:srgbClr val="2C2A2B"/>
                </a:solidFill>
              </a:rPr>
              <a:t>붕괴되어 가는 세계와 함께 하나의 역할로 소모되어 간다</a:t>
            </a:r>
            <a:r>
              <a:rPr lang="en-US" altLang="ko-KR" sz="1900" b="1">
                <a:solidFill>
                  <a:srgbClr val="2C2A2B"/>
                </a:solidFill>
              </a:rPr>
              <a:t>.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    </a:t>
            </a:r>
            <a:r>
              <a:rPr lang="ko-KR" altLang="en-US" sz="1900" b="1">
                <a:solidFill>
                  <a:srgbClr val="2C2A2B"/>
                </a:solidFill>
              </a:rPr>
              <a:t>그 속에서 플레이어는 선의가 의무로 변해가는 과정을 경험하게 된다</a:t>
            </a:r>
            <a:r>
              <a:rPr lang="en-US" altLang="ko-KR" sz="1900" b="1">
                <a:solidFill>
                  <a:srgbClr val="2C2A2B"/>
                </a:solidFill>
              </a:rPr>
              <a:t>.</a:t>
            </a:r>
          </a:p>
          <a:p>
            <a:pPr lvl="0">
              <a:defRPr/>
            </a:pPr>
            <a:endParaRPr lang="en-US" altLang="ko-KR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[</a:t>
            </a:r>
            <a:r>
              <a:rPr lang="ko-KR" altLang="en-US" sz="1900" b="1">
                <a:solidFill>
                  <a:srgbClr val="2C2A2B"/>
                </a:solidFill>
              </a:rPr>
              <a:t>재미 요소</a:t>
            </a:r>
            <a:r>
              <a:rPr lang="en-US" altLang="ko-KR" sz="1900" b="1">
                <a:solidFill>
                  <a:srgbClr val="2C2A2B"/>
                </a:solidFill>
              </a:rPr>
              <a:t>]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 b="1">
                <a:solidFill>
                  <a:srgbClr val="2C2A2B"/>
                </a:solidFill>
              </a:rPr>
              <a:t>감정적 압박과 몰입을 즐기는 내러티브 게임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 b="1">
                <a:solidFill>
                  <a:srgbClr val="2C2A2B"/>
                </a:solidFill>
              </a:rPr>
              <a:t>플레이어의 선택에 따라 변화하는 스토리와 엔딩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 b="1">
                <a:solidFill>
                  <a:srgbClr val="2C2A2B"/>
                </a:solidFill>
              </a:rPr>
              <a:t>선택 누적에 따라 변화하는 분위기 연출 시스템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 b="1">
                <a:solidFill>
                  <a:srgbClr val="2C2A2B"/>
                </a:solidFill>
              </a:rPr>
              <a:t>선행이 부담으로 작동하는 선택 소모화 구조</a:t>
            </a:r>
          </a:p>
          <a:p>
            <a:pPr marL="342900" lvl="0" indent="-342900">
              <a:buFont typeface="Arial"/>
              <a:buChar char="•"/>
              <a:defRPr/>
            </a:pPr>
            <a:endParaRPr lang="en-US" altLang="ko-KR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2C2A2B"/>
                </a:solidFill>
              </a:rPr>
              <a:t>[</a:t>
            </a:r>
            <a:r>
              <a:rPr lang="ko-KR" altLang="en-US" sz="1900" b="1">
                <a:solidFill>
                  <a:srgbClr val="2C2A2B"/>
                </a:solidFill>
              </a:rPr>
              <a:t>게임의 정의</a:t>
            </a:r>
            <a:r>
              <a:rPr lang="en-US" altLang="ko-KR" sz="1900" b="1">
                <a:solidFill>
                  <a:srgbClr val="2C2A2B"/>
                </a:solidFill>
              </a:rPr>
              <a:t>]</a:t>
            </a:r>
          </a:p>
          <a:p>
            <a:pPr lvl="0">
              <a:defRPr/>
            </a:pPr>
            <a:r>
              <a:rPr lang="ko-KR" altLang="en-US" sz="1900" b="1">
                <a:solidFill>
                  <a:srgbClr val="2C2A2B"/>
                </a:solidFill>
              </a:rPr>
              <a:t>    </a:t>
            </a:r>
            <a:r>
              <a:rPr lang="en-US" altLang="ko-KR" sz="1900" b="1">
                <a:solidFill>
                  <a:srgbClr val="2C2A2B"/>
                </a:solidFill>
              </a:rPr>
              <a:t>=&gt;</a:t>
            </a:r>
            <a:r>
              <a:rPr lang="ko-KR" altLang="en-US" sz="1900" b="1">
                <a:solidFill>
                  <a:srgbClr val="2C2A2B"/>
                </a:solidFill>
              </a:rPr>
              <a:t> 이 부분은 </a:t>
            </a:r>
            <a:r>
              <a:rPr lang="en-US" altLang="ko-KR" sz="1900" b="1">
                <a:solidFill>
                  <a:srgbClr val="2C2A2B"/>
                </a:solidFill>
              </a:rPr>
              <a:t>16</a:t>
            </a:r>
            <a:r>
              <a:rPr lang="ko-KR" altLang="en-US" sz="1900" b="1">
                <a:solidFill>
                  <a:srgbClr val="2C2A2B"/>
                </a:solidFill>
              </a:rPr>
              <a:t>일에 계속 작업할 것</a:t>
            </a:r>
            <a:r>
              <a:rPr lang="en-US" altLang="ko-KR" sz="1900" b="1">
                <a:solidFill>
                  <a:srgbClr val="2C2A2B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8477"/>
            <a:ext cx="8353425" cy="489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600"/>
              <a:t>[</a:t>
            </a:r>
            <a:r>
              <a:rPr lang="ko-KR" altLang="en-US" sz="2600"/>
              <a:t>강의에서 배운 내용을 바탕으로 작업 중인 페이지</a:t>
            </a:r>
            <a:r>
              <a:rPr lang="en-US" altLang="ko-KR" sz="2600"/>
              <a:t>]</a:t>
            </a:r>
            <a:endParaRPr lang="ko-KR" altLang="en-US" sz="2600"/>
          </a:p>
        </p:txBody>
      </p:sp>
      <p:sp>
        <p:nvSpPr>
          <p:cNvPr id="28" name="가로 글상자 27"/>
          <p:cNvSpPr txBox="1"/>
          <p:nvPr/>
        </p:nvSpPr>
        <p:spPr>
          <a:xfrm>
            <a:off x="7297017" y="63196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3703298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125265"/>
            <a:ext cx="7886700" cy="3364706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책을 사서 읽어야 한다</a:t>
            </a:r>
            <a:r>
              <a:rPr lang="en-US" altLang="ko-KR"/>
              <a:t>.</a:t>
            </a:r>
          </a:p>
          <a:p>
            <a:pPr lvl="0">
              <a:defRPr/>
            </a:pPr>
            <a:r>
              <a:rPr lang="ko-KR" altLang="en-US"/>
              <a:t>선생님도 </a:t>
            </a:r>
            <a:r>
              <a:rPr lang="en-US" altLang="ko-KR"/>
              <a:t>3</a:t>
            </a:r>
            <a:r>
              <a:rPr lang="ko-KR" altLang="en-US"/>
              <a:t>만권 넘게 읽으심</a:t>
            </a:r>
          </a:p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게이머의 뇌에 대한 뇌과학 책</a:t>
            </a:r>
            <a:r>
              <a:rPr lang="en-US" altLang="ko-KR"/>
              <a:t>]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628650" y="1131093"/>
            <a:ext cx="7886700" cy="994172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중요한 것들</a:t>
            </a:r>
          </a:p>
        </p:txBody>
      </p:sp>
      <p:sp>
        <p:nvSpPr>
          <p:cNvPr id="5" name="가로 글상자 4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1825084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286000" y="-428625"/>
            <a:ext cx="13716000" cy="7715250"/>
          </a:xfrm>
          <a:prstGeom prst="rect">
            <a:avLst/>
          </a:prstGeom>
        </p:spPr>
      </p:pic>
      <p:sp>
        <p:nvSpPr>
          <p:cNvPr id="5" name="가로 글상자 3"/>
          <p:cNvSpPr txBox="1"/>
          <p:nvPr/>
        </p:nvSpPr>
        <p:spPr>
          <a:xfrm>
            <a:off x="9443819" y="7481455"/>
            <a:ext cx="1961283" cy="641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1.14.</a:t>
            </a:r>
            <a:r>
              <a:rPr lang="ko-KR" altLang="en-US"/>
              <a:t>수</a:t>
            </a:r>
          </a:p>
        </p:txBody>
      </p:sp>
    </p:spTree>
    <p:extLst>
      <p:ext uri="{BB962C8B-B14F-4D97-AF65-F5344CB8AC3E}">
        <p14:creationId xmlns:p14="http://schemas.microsoft.com/office/powerpoint/2010/main" val="528541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62621" y="-133350"/>
            <a:ext cx="5122069" cy="7429500"/>
          </a:xfrm>
          <a:prstGeom prst="rect">
            <a:avLst/>
          </a:prstGeom>
        </p:spPr>
      </p:pic>
      <p:sp>
        <p:nvSpPr>
          <p:cNvPr id="5" name="가로 글상자 3"/>
          <p:cNvSpPr txBox="1"/>
          <p:nvPr/>
        </p:nvSpPr>
        <p:spPr>
          <a:xfrm>
            <a:off x="7062569" y="944924"/>
            <a:ext cx="1961283" cy="643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1.14.</a:t>
            </a:r>
            <a:r>
              <a:rPr lang="ko-KR" altLang="en-US"/>
              <a:t>수</a:t>
            </a:r>
          </a:p>
        </p:txBody>
      </p:sp>
    </p:spTree>
    <p:extLst>
      <p:ext uri="{BB962C8B-B14F-4D97-AF65-F5344CB8AC3E}">
        <p14:creationId xmlns:p14="http://schemas.microsoft.com/office/powerpoint/2010/main" val="630277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7950" r="31030" b="24200"/>
          <a:stretch>
            <a:fillRect/>
          </a:stretch>
        </p:blipFill>
        <p:spPr>
          <a:xfrm>
            <a:off x="275034" y="1047750"/>
            <a:ext cx="5926930" cy="4298156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6980310" y="1073727"/>
            <a:ext cx="1961283" cy="638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425518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600"/>
              <a:t>게임 화면 안에 넣어야 할 것들</a:t>
            </a:r>
            <a:r>
              <a:rPr lang="en-US" altLang="ko-KR" sz="2600"/>
              <a:t>(3</a:t>
            </a:r>
            <a:r>
              <a:rPr lang="ko-KR" altLang="en-US" sz="2600"/>
              <a:t>가지</a:t>
            </a:r>
            <a:r>
              <a:rPr lang="en-US" altLang="ko-KR" sz="2600"/>
              <a:t>)</a:t>
            </a:r>
            <a:endParaRPr lang="ko-KR" altLang="en-US" sz="2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defRPr/>
            </a:pPr>
            <a:r>
              <a:rPr lang="en-US" altLang="ko-KR"/>
              <a:t>Input(</a:t>
            </a:r>
            <a:r>
              <a:rPr lang="ko-KR" altLang="en-US"/>
              <a:t>입력값</a:t>
            </a:r>
            <a:r>
              <a:rPr lang="en-US" altLang="ko-KR"/>
              <a:t>)</a:t>
            </a:r>
          </a:p>
          <a:p>
            <a:pPr lvl="1">
              <a:defRPr/>
            </a:pPr>
            <a:r>
              <a:rPr lang="ko-KR" altLang="en-US" b="1"/>
              <a:t>조작</a:t>
            </a:r>
            <a:r>
              <a:rPr lang="en-US" altLang="ko-KR" b="1"/>
              <a:t>, </a:t>
            </a:r>
            <a:r>
              <a:rPr lang="ko-KR" altLang="en-US" b="1"/>
              <a:t>선택</a:t>
            </a:r>
          </a:p>
          <a:p>
            <a:pPr lvl="1">
              <a:defRPr/>
            </a:pPr>
            <a:r>
              <a:rPr lang="ko-KR" altLang="en-US"/>
              <a:t>손</a:t>
            </a:r>
            <a:r>
              <a:rPr lang="en-US" altLang="ko-KR"/>
              <a:t>, </a:t>
            </a:r>
            <a:r>
              <a:rPr lang="ko-KR" altLang="en-US"/>
              <a:t>발</a:t>
            </a:r>
            <a:r>
              <a:rPr lang="en-US" altLang="ko-KR"/>
              <a:t>, </a:t>
            </a:r>
            <a:r>
              <a:rPr lang="ko-KR" altLang="en-US"/>
              <a:t>뇌 등으로 선택</a:t>
            </a:r>
            <a:r>
              <a:rPr lang="en-US" altLang="ko-KR"/>
              <a:t>,</a:t>
            </a:r>
            <a:r>
              <a:rPr lang="ko-KR" altLang="en-US"/>
              <a:t>조작할 수 있음</a:t>
            </a:r>
          </a:p>
          <a:p>
            <a:pPr lvl="1">
              <a:defRPr/>
            </a:pPr>
            <a:r>
              <a:rPr lang="ko-KR" altLang="en-US"/>
              <a:t>이게 플레이의 작용 요소</a:t>
            </a:r>
          </a:p>
          <a:p>
            <a:pPr lvl="0">
              <a:defRPr/>
            </a:pPr>
            <a:r>
              <a:rPr lang="ko-KR" altLang="en-US"/>
              <a:t>목적</a:t>
            </a:r>
          </a:p>
          <a:p>
            <a:pPr lvl="1">
              <a:defRPr/>
            </a:pPr>
            <a:r>
              <a:rPr lang="ko-KR" altLang="en-US"/>
              <a:t>플레이의 작용요소를 통해 목적을 </a:t>
            </a:r>
            <a:r>
              <a:rPr lang="ko-KR" altLang="en-US" b="1"/>
              <a:t>달성</a:t>
            </a:r>
            <a:r>
              <a:rPr lang="ko-KR" altLang="en-US"/>
              <a:t>하는 것</a:t>
            </a:r>
          </a:p>
          <a:p>
            <a:pPr lvl="0">
              <a:defRPr/>
            </a:pPr>
            <a:r>
              <a:rPr lang="ko-KR" altLang="en-US"/>
              <a:t>방해요인</a:t>
            </a:r>
          </a:p>
          <a:p>
            <a:pPr lvl="1">
              <a:defRPr/>
            </a:pPr>
            <a:r>
              <a:rPr lang="ko-KR" altLang="en-US" b="1"/>
              <a:t>몬스터</a:t>
            </a:r>
            <a:r>
              <a:rPr lang="en-US" altLang="ko-KR" b="1"/>
              <a:t>, </a:t>
            </a:r>
            <a:r>
              <a:rPr lang="ko-KR" altLang="en-US" b="1"/>
              <a:t>퍼즐</a:t>
            </a:r>
          </a:p>
          <a:p>
            <a:pPr lvl="1">
              <a:defRPr/>
            </a:pPr>
            <a:r>
              <a:rPr lang="ko-KR" altLang="en-US"/>
              <a:t>라코스터의 재미 이론</a:t>
            </a:r>
          </a:p>
          <a:p>
            <a:pPr lvl="2">
              <a:defRPr/>
            </a:pPr>
            <a:r>
              <a:rPr lang="ko-KR" altLang="en-US"/>
              <a:t>게임 화면 속에서 적절한 시련과 고난을 느끼게 해줄 때</a:t>
            </a:r>
            <a:r>
              <a:rPr lang="en-US" altLang="ko-KR"/>
              <a:t>, </a:t>
            </a:r>
            <a:r>
              <a:rPr lang="ko-KR" altLang="en-US"/>
              <a:t>플레이어는 재밌다고 느낀다</a:t>
            </a:r>
            <a:r>
              <a:rPr lang="en-US" altLang="ko-KR"/>
              <a:t>.</a:t>
            </a:r>
          </a:p>
          <a:p>
            <a:pPr lvl="0">
              <a:defRPr/>
            </a:pP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게임은 플레이의 작용요소로</a:t>
            </a:r>
            <a:r>
              <a:rPr lang="en-US" altLang="ko-KR"/>
              <a:t>, </a:t>
            </a:r>
            <a:r>
              <a:rPr lang="ko-KR" altLang="en-US"/>
              <a:t>방해요인을 제거해서</a:t>
            </a:r>
            <a:r>
              <a:rPr lang="en-US" altLang="ko-KR"/>
              <a:t>, </a:t>
            </a:r>
            <a:r>
              <a:rPr lang="ko-KR" altLang="en-US"/>
              <a:t>플레이의 목적을 달성하는 디지털로 수행되는 </a:t>
            </a:r>
            <a:r>
              <a:rPr lang="ko-KR" altLang="en-US" b="1"/>
              <a:t>놀이</a:t>
            </a:r>
            <a:r>
              <a:rPr lang="ko-KR" altLang="en-US"/>
              <a:t>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게임의 본질적인 가치는 재미다</a:t>
            </a:r>
            <a:r>
              <a:rPr lang="en-US" altLang="ko-KR"/>
              <a:t>.)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1223517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게임의 외적인 재미</a:t>
            </a:r>
            <a:r>
              <a:rPr lang="en-US" altLang="ko-KR" sz="1500"/>
              <a:t>(</a:t>
            </a:r>
            <a:r>
              <a:rPr lang="ko-KR" altLang="en-US" sz="1500"/>
              <a:t>대외적으로 재밌다고 판단된 요소들</a:t>
            </a:r>
            <a:r>
              <a:rPr lang="en-US" altLang="ko-KR" sz="1500"/>
              <a:t>)</a:t>
            </a:r>
            <a:endParaRPr lang="ko-KR" altLang="en-US" sz="15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아바타의 내</a:t>
            </a:r>
            <a:r>
              <a:rPr lang="en-US" altLang="ko-KR"/>
              <a:t>.</a:t>
            </a:r>
            <a:r>
              <a:rPr lang="ko-KR" altLang="en-US"/>
              <a:t>외적인 성장</a:t>
            </a:r>
          </a:p>
          <a:p>
            <a:pPr lvl="0">
              <a:defRPr/>
            </a:pPr>
            <a:r>
              <a:rPr lang="ko-KR" altLang="en-US"/>
              <a:t>스토리텔링의 경험</a:t>
            </a:r>
          </a:p>
          <a:p>
            <a:pPr lvl="0">
              <a:defRPr/>
            </a:pPr>
            <a:r>
              <a:rPr lang="ko-KR" altLang="en-US"/>
              <a:t>경쟁과 협동</a:t>
            </a:r>
          </a:p>
          <a:p>
            <a:pPr lvl="0">
              <a:defRPr/>
            </a:pPr>
            <a:r>
              <a:rPr lang="ko-KR" altLang="en-US"/>
              <a:t>킬러 콘텐츠에 대한 기대감</a:t>
            </a:r>
          </a:p>
          <a:p>
            <a:pPr lvl="1">
              <a:defRPr/>
            </a:pPr>
            <a:r>
              <a:rPr lang="ko-KR" altLang="en-US"/>
              <a:t>의상 수집</a:t>
            </a:r>
            <a:r>
              <a:rPr lang="en-US" altLang="ko-KR"/>
              <a:t>, </a:t>
            </a:r>
            <a:r>
              <a:rPr lang="ko-KR" altLang="en-US"/>
              <a:t>새로운 몬스터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2546084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게임 화면 안에는 상황이 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게임이 지닌 상황</a:t>
            </a:r>
            <a:r>
              <a:rPr lang="en-US" altLang="ko-KR"/>
              <a:t>]</a:t>
            </a:r>
          </a:p>
          <a:p>
            <a:pPr lvl="0">
              <a:defRPr/>
            </a:pPr>
            <a:r>
              <a:rPr lang="ko-KR" altLang="en-US"/>
              <a:t>등장인물</a:t>
            </a:r>
          </a:p>
          <a:p>
            <a:pPr lvl="1">
              <a:defRPr/>
            </a:pPr>
            <a:r>
              <a:rPr lang="ko-KR" altLang="en-US"/>
              <a:t>역할</a:t>
            </a:r>
            <a:r>
              <a:rPr lang="en-US" altLang="ko-KR"/>
              <a:t>(role)</a:t>
            </a:r>
            <a:r>
              <a:rPr lang="ko-KR" altLang="en-US"/>
              <a:t>이 부여되야 함</a:t>
            </a:r>
            <a:r>
              <a:rPr lang="en-US" altLang="ko-KR"/>
              <a:t>. </a:t>
            </a:r>
            <a:r>
              <a:rPr lang="ko-KR" altLang="en-US"/>
              <a:t>주인공</a:t>
            </a:r>
            <a:r>
              <a:rPr lang="en-US" altLang="ko-KR"/>
              <a:t>, </a:t>
            </a:r>
            <a:r>
              <a:rPr lang="ko-KR" altLang="en-US"/>
              <a:t>악당</a:t>
            </a:r>
            <a:r>
              <a:rPr lang="en-US" altLang="ko-KR"/>
              <a:t>, </a:t>
            </a:r>
            <a:r>
              <a:rPr lang="ko-KR" altLang="en-US"/>
              <a:t>조력자</a:t>
            </a:r>
            <a:r>
              <a:rPr lang="en-US" altLang="ko-KR"/>
              <a:t>, </a:t>
            </a:r>
            <a:r>
              <a:rPr lang="ko-KR" altLang="en-US"/>
              <a:t>주변 인물</a:t>
            </a:r>
            <a:r>
              <a:rPr lang="en-US" altLang="ko-KR"/>
              <a:t>(</a:t>
            </a:r>
            <a:r>
              <a:rPr lang="ko-KR" altLang="en-US"/>
              <a:t>선의도 악의도 없는</a:t>
            </a:r>
            <a:r>
              <a:rPr lang="en-US" altLang="ko-KR"/>
              <a:t>)</a:t>
            </a:r>
          </a:p>
          <a:p>
            <a:pPr lvl="0">
              <a:defRPr/>
            </a:pPr>
            <a:r>
              <a:rPr lang="ko-KR" altLang="en-US"/>
              <a:t>등장무대</a:t>
            </a:r>
          </a:p>
          <a:p>
            <a:pPr lvl="1">
              <a:defRPr/>
            </a:pPr>
            <a:r>
              <a:rPr lang="ko-KR" altLang="en-US"/>
              <a:t>타운</a:t>
            </a:r>
            <a:r>
              <a:rPr lang="en-US" altLang="ko-KR"/>
              <a:t>, </a:t>
            </a:r>
            <a:r>
              <a:rPr lang="ko-KR" altLang="en-US"/>
              <a:t>필드</a:t>
            </a:r>
            <a:r>
              <a:rPr lang="en-US" altLang="ko-KR"/>
              <a:t>, </a:t>
            </a:r>
            <a:r>
              <a:rPr lang="ko-KR" altLang="en-US"/>
              <a:t>던전 </a:t>
            </a:r>
            <a:r>
              <a:rPr lang="en-US" altLang="ko-KR"/>
              <a:t>(T, F, D)</a:t>
            </a:r>
            <a:r>
              <a:rPr lang="ko-KR" altLang="en-US"/>
              <a:t> </a:t>
            </a:r>
            <a:r>
              <a:rPr lang="en-US" altLang="ko-KR"/>
              <a:t>/ </a:t>
            </a:r>
            <a:r>
              <a:rPr lang="ko-KR" altLang="en-US"/>
              <a:t>비사건 지역과 다른 지역</a:t>
            </a:r>
          </a:p>
          <a:p>
            <a:pPr lvl="0">
              <a:defRPr/>
            </a:pPr>
            <a:r>
              <a:rPr lang="ko-KR" altLang="en-US"/>
              <a:t>대본</a:t>
            </a:r>
          </a:p>
          <a:p>
            <a:pPr lvl="1">
              <a:defRPr/>
            </a:pPr>
            <a:r>
              <a:rPr lang="ko-KR" altLang="en-US"/>
              <a:t>극적인 장면을 위해서는 갈등이 필요</a:t>
            </a:r>
            <a:r>
              <a:rPr lang="en-US" altLang="ko-KR"/>
              <a:t>.</a:t>
            </a:r>
          </a:p>
          <a:p>
            <a:pPr lvl="1">
              <a:defRPr/>
            </a:pPr>
            <a:r>
              <a:rPr lang="ko-KR" altLang="en-US"/>
              <a:t>등장인물들이 어떤 장소에서 하필 만났기 때문에 갈등이 발생하는 것</a:t>
            </a:r>
            <a:endParaRPr lang="en-US" altLang="ko-KR"/>
          </a:p>
        </p:txBody>
      </p:sp>
      <p:sp>
        <p:nvSpPr>
          <p:cNvPr id="4" name="가로 글상자 3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2199209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8910" b="29010"/>
          <a:stretch>
            <a:fillRect/>
          </a:stretch>
        </p:blipFill>
        <p:spPr>
          <a:xfrm>
            <a:off x="1143000" y="1119187"/>
            <a:ext cx="6858000" cy="3869531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1380304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500"/>
              <a:t>[</a:t>
            </a:r>
            <a:r>
              <a:rPr lang="ko-KR" altLang="en-US" sz="3500"/>
              <a:t>수업 중에 생각난 게임에 대한 아이디어 정리</a:t>
            </a:r>
            <a:r>
              <a:rPr lang="en-US" altLang="ko-KR" sz="3500"/>
              <a:t>]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1900"/>
              <a:t>캐릭터가 선택지를 고를 때마다 선행이 누적되면서 캐릭터의 외형이 더 예뻐진다</a:t>
            </a:r>
            <a:r>
              <a:rPr lang="en-US" altLang="ko-KR" sz="1900"/>
              <a:t>.</a:t>
            </a:r>
          </a:p>
          <a:p>
            <a:pPr lvl="0">
              <a:defRPr/>
            </a:pPr>
            <a:endParaRPr lang="en-US" altLang="ko-KR" sz="1900"/>
          </a:p>
          <a:p>
            <a:pPr lvl="0">
              <a:defRPr/>
            </a:pPr>
            <a:r>
              <a:rPr lang="ko-KR" altLang="en-US" sz="1900"/>
              <a:t>캐릭터가 선행이 아닌 선택지를 고를 경우 </a:t>
            </a:r>
            <a:r>
              <a:rPr lang="en-US" altLang="ko-KR" sz="1900"/>
              <a:t>-&gt;</a:t>
            </a:r>
            <a:r>
              <a:rPr lang="ko-KR" altLang="en-US" sz="1900"/>
              <a:t> </a:t>
            </a:r>
            <a:r>
              <a:rPr lang="en-US" altLang="ko-KR" sz="1900"/>
              <a:t>‘</a:t>
            </a:r>
            <a:r>
              <a:rPr lang="ko-KR" altLang="en-US" sz="1900"/>
              <a:t>내가 정말 그래도 될까</a:t>
            </a:r>
            <a:r>
              <a:rPr lang="en-US" altLang="ko-KR" sz="1900"/>
              <a:t>?’,</a:t>
            </a:r>
            <a:r>
              <a:rPr lang="ko-KR" altLang="en-US" sz="1900"/>
              <a:t> </a:t>
            </a:r>
            <a:r>
              <a:rPr lang="en-US" altLang="ko-KR" sz="1900"/>
              <a:t>‘</a:t>
            </a:r>
            <a:r>
              <a:rPr lang="ko-KR" altLang="en-US" sz="1900"/>
              <a:t>내가 나만 생각해도 될까</a:t>
            </a:r>
            <a:r>
              <a:rPr lang="en-US" altLang="ko-KR" sz="1900"/>
              <a:t>?’</a:t>
            </a:r>
            <a:r>
              <a:rPr lang="ko-KR" altLang="en-US" sz="1900"/>
              <a:t> 등의 고민이 화면에 출력된다</a:t>
            </a:r>
            <a:r>
              <a:rPr lang="en-US" altLang="ko-KR" sz="1900"/>
              <a:t>.</a:t>
            </a:r>
            <a:r>
              <a:rPr lang="ko-KR" altLang="en-US" sz="1900"/>
              <a:t> 그리고 한 번 더 선택지가 나타난다</a:t>
            </a:r>
            <a:r>
              <a:rPr lang="en-US" altLang="ko-KR" sz="1900"/>
              <a:t>.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1.15.</a:t>
            </a:r>
            <a:r>
              <a:rPr lang="ko-KR" altLang="en-US"/>
              <a:t>목</a:t>
            </a:r>
          </a:p>
        </p:txBody>
      </p:sp>
    </p:spTree>
    <p:extLst>
      <p:ext uri="{BB962C8B-B14F-4D97-AF65-F5344CB8AC3E}">
        <p14:creationId xmlns:p14="http://schemas.microsoft.com/office/powerpoint/2010/main" val="2753228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3717751" y="6173314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2280072" y="6197653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780880" y="6136724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0" y="614220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1521047" y="6160001"/>
            <a:ext cx="474784" cy="474784"/>
          </a:xfrm>
          <a:prstGeom prst="ellipse">
            <a:avLst/>
          </a:prstGeom>
          <a:solidFill>
            <a:srgbClr val="778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3295" y="-197433"/>
            <a:ext cx="1179457" cy="1119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3500"/>
              <a:t>ㄱ </a:t>
            </a:r>
            <a:r>
              <a:rPr lang="en-US" altLang="ko-KR" sz="3500"/>
              <a:t>(35)</a:t>
            </a:r>
          </a:p>
          <a:p>
            <a:pPr lvl="0">
              <a:defRPr/>
            </a:pPr>
            <a:r>
              <a:rPr lang="ko-KR" altLang="en-US" sz="1900"/>
              <a:t>ㄱ </a:t>
            </a:r>
            <a:r>
              <a:rPr lang="en-US" altLang="ko-KR" sz="1900"/>
              <a:t>(19)</a:t>
            </a:r>
          </a:p>
          <a:p>
            <a:pPr lvl="0">
              <a:defRPr/>
            </a:pPr>
            <a:r>
              <a:rPr lang="ko-KR" altLang="en-US" sz="1200"/>
              <a:t>ㄱ </a:t>
            </a:r>
            <a:r>
              <a:rPr lang="en-US" altLang="ko-KR" sz="12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2994450" y="6154002"/>
            <a:ext cx="474784" cy="474784"/>
          </a:xfrm>
          <a:prstGeom prst="ellipse">
            <a:avLst/>
          </a:prstGeom>
          <a:solidFill>
            <a:srgbClr val="AAB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4334608" y="6192635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가로 글상자 25"/>
          <p:cNvSpPr txBox="1"/>
          <p:nvPr/>
        </p:nvSpPr>
        <p:spPr>
          <a:xfrm>
            <a:off x="509586" y="1006852"/>
            <a:ext cx="8124825" cy="4782442"/>
          </a:xfrm>
          <a:prstGeom prst="rect">
            <a:avLst/>
          </a:prstGeom>
          <a:solidFill>
            <a:srgbClr val="3D4767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DEDBD2"/>
                </a:solidFill>
              </a:rPr>
              <a:t>[</a:t>
            </a:r>
            <a:r>
              <a:rPr lang="ko-KR" altLang="en-US" sz="1900" b="1">
                <a:solidFill>
                  <a:srgbClr val="DEDBD2"/>
                </a:solidFill>
              </a:rPr>
              <a:t>제목</a:t>
            </a:r>
            <a:r>
              <a:rPr lang="en-US" altLang="ko-KR" sz="1900" b="1">
                <a:solidFill>
                  <a:srgbClr val="DEDBD2"/>
                </a:solidFill>
              </a:rPr>
              <a:t>]</a:t>
            </a:r>
            <a:r>
              <a:rPr lang="ko-KR" altLang="en-US" sz="1900" b="1">
                <a:solidFill>
                  <a:srgbClr val="DEDBD2"/>
                </a:solidFill>
              </a:rPr>
              <a:t>   넌 착해</a:t>
            </a:r>
            <a:r>
              <a:rPr lang="en-US" altLang="ko-KR" sz="1900" b="1">
                <a:solidFill>
                  <a:srgbClr val="DEDBD2"/>
                </a:solidFill>
              </a:rPr>
              <a:t>!</a:t>
            </a:r>
            <a:endParaRPr lang="en-US" altLang="ko-KR" sz="1900" b="1">
              <a:solidFill>
                <a:srgbClr val="2C2A2B"/>
              </a:solidFill>
            </a:endParaRPr>
          </a:p>
          <a:p>
            <a:pPr lvl="0">
              <a:defRPr/>
            </a:pPr>
            <a:endParaRPr lang="en-US" altLang="ko-KR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9C7275"/>
                </a:solidFill>
              </a:rPr>
              <a:t>[</a:t>
            </a:r>
            <a:r>
              <a:rPr lang="ko-KR" altLang="en-US" sz="1900" b="1">
                <a:solidFill>
                  <a:srgbClr val="9C7275"/>
                </a:solidFill>
              </a:rPr>
              <a:t>게임장르</a:t>
            </a:r>
            <a:r>
              <a:rPr lang="en-US" altLang="ko-KR" sz="1900" b="1">
                <a:solidFill>
                  <a:srgbClr val="9C7275"/>
                </a:solidFill>
              </a:rPr>
              <a:t>]   </a:t>
            </a:r>
            <a:r>
              <a:rPr lang="ko-KR" altLang="en-US" sz="1900" b="1">
                <a:solidFill>
                  <a:srgbClr val="9C7275"/>
                </a:solidFill>
              </a:rPr>
              <a:t>내러티브 중심 어드벤처</a:t>
            </a:r>
            <a:endParaRPr lang="ko-KR" altLang="en-US" sz="1900" b="1">
              <a:solidFill>
                <a:srgbClr val="2C2A2B"/>
              </a:solidFill>
            </a:endParaRPr>
          </a:p>
          <a:p>
            <a:pPr lvl="0">
              <a:defRPr/>
            </a:pPr>
            <a:endParaRPr lang="ko-KR" altLang="en-US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778161"/>
                </a:solidFill>
              </a:rPr>
              <a:t>[</a:t>
            </a:r>
            <a:r>
              <a:rPr lang="ko-KR" altLang="en-US" sz="1900" b="1">
                <a:solidFill>
                  <a:srgbClr val="778161"/>
                </a:solidFill>
              </a:rPr>
              <a:t>시놉시스</a:t>
            </a:r>
            <a:r>
              <a:rPr lang="en-US" altLang="ko-KR" sz="1900" b="1">
                <a:solidFill>
                  <a:srgbClr val="778161"/>
                </a:solidFill>
              </a:rPr>
              <a:t>]</a:t>
            </a:r>
          </a:p>
          <a:p>
            <a:pPr lvl="0">
              <a:defRPr/>
            </a:pPr>
            <a:r>
              <a:rPr lang="ko-KR" altLang="en-US" sz="1900">
                <a:solidFill>
                  <a:srgbClr val="DEDBD2"/>
                </a:solidFill>
              </a:rPr>
              <a:t>    이 게임은 플레이어에게 선택지가 주어지는 것처럼 보이지만</a:t>
            </a:r>
            <a:r>
              <a:rPr lang="en-US" altLang="ko-KR" sz="1900">
                <a:solidFill>
                  <a:srgbClr val="DEDBD2"/>
                </a:solidFill>
              </a:rPr>
              <a:t>,</a:t>
            </a:r>
            <a:endParaRPr lang="ko-KR" altLang="en-US" sz="1900">
              <a:solidFill>
                <a:srgbClr val="DEDBD2"/>
              </a:solidFill>
            </a:endParaRPr>
          </a:p>
          <a:p>
            <a:pPr lvl="0">
              <a:defRPr/>
            </a:pPr>
            <a:r>
              <a:rPr lang="ko-KR" altLang="en-US" sz="1900">
                <a:solidFill>
                  <a:srgbClr val="DEDBD2"/>
                </a:solidFill>
              </a:rPr>
              <a:t>    이야기가 진행될수록 모든 선택지가 결국 하나의 방향으로 수렴하도록 강요되는</a:t>
            </a:r>
          </a:p>
          <a:p>
            <a:pPr lvl="0">
              <a:defRPr/>
            </a:pPr>
            <a:r>
              <a:rPr lang="ko-KR" altLang="en-US" sz="1900">
                <a:solidFill>
                  <a:srgbClr val="DEDBD2"/>
                </a:solidFill>
              </a:rPr>
              <a:t>    내러티브 어드벤처다</a:t>
            </a:r>
            <a:r>
              <a:rPr lang="en-US" altLang="ko-KR" sz="1900">
                <a:solidFill>
                  <a:srgbClr val="DEDBD2"/>
                </a:solidFill>
              </a:rPr>
              <a:t>.</a:t>
            </a:r>
          </a:p>
          <a:p>
            <a:pPr lvl="0">
              <a:defRPr/>
            </a:pPr>
            <a:endParaRPr lang="en-US" altLang="ko-KR" sz="1900">
              <a:solidFill>
                <a:srgbClr val="DEDBD2"/>
              </a:solidFill>
            </a:endParaRPr>
          </a:p>
          <a:p>
            <a:pPr lvl="0">
              <a:defRPr/>
            </a:pPr>
            <a:r>
              <a:rPr lang="en-US" altLang="ko-KR" sz="1900">
                <a:solidFill>
                  <a:srgbClr val="DEDBD2"/>
                </a:solidFill>
              </a:rPr>
              <a:t>    </a:t>
            </a:r>
            <a:r>
              <a:rPr lang="ko-KR" altLang="en-US" sz="1900">
                <a:solidFill>
                  <a:srgbClr val="DEDBD2"/>
                </a:solidFill>
              </a:rPr>
              <a:t>스스로를 특별히 착한 사람이라 여기지 않는 주인공은</a:t>
            </a:r>
            <a:r>
              <a:rPr lang="en-US" altLang="ko-KR" sz="1900">
                <a:solidFill>
                  <a:srgbClr val="DEDBD2"/>
                </a:solidFill>
              </a:rPr>
              <a:t>,</a:t>
            </a:r>
          </a:p>
          <a:p>
            <a:pPr lvl="0">
              <a:defRPr/>
            </a:pPr>
            <a:r>
              <a:rPr lang="ko-KR" altLang="en-US" sz="1900">
                <a:solidFill>
                  <a:srgbClr val="DEDBD2"/>
                </a:solidFill>
              </a:rPr>
              <a:t>    </a:t>
            </a:r>
            <a:r>
              <a:rPr lang="en-US" altLang="ko-KR" sz="1900">
                <a:solidFill>
                  <a:srgbClr val="DEDBD2"/>
                </a:solidFill>
              </a:rPr>
              <a:t>’</a:t>
            </a:r>
            <a:r>
              <a:rPr lang="ko-KR" altLang="en-US" sz="1900">
                <a:solidFill>
                  <a:srgbClr val="DEDBD2"/>
                </a:solidFill>
              </a:rPr>
              <a:t>가장 착한 사람</a:t>
            </a:r>
            <a:r>
              <a:rPr lang="en-US" altLang="ko-KR" sz="1900">
                <a:solidFill>
                  <a:srgbClr val="DEDBD2"/>
                </a:solidFill>
              </a:rPr>
              <a:t>’</a:t>
            </a:r>
            <a:r>
              <a:rPr lang="ko-KR" altLang="en-US" sz="1900">
                <a:solidFill>
                  <a:srgbClr val="DEDBD2"/>
                </a:solidFill>
              </a:rPr>
              <a:t>이기를 요구받는 기대 속에서</a:t>
            </a:r>
          </a:p>
          <a:p>
            <a:pPr lvl="0">
              <a:defRPr/>
            </a:pPr>
            <a:r>
              <a:rPr lang="en-US" altLang="ko-KR" sz="1900">
                <a:solidFill>
                  <a:srgbClr val="DEDBD2"/>
                </a:solidFill>
              </a:rPr>
              <a:t>    </a:t>
            </a:r>
            <a:r>
              <a:rPr lang="ko-KR" altLang="en-US" sz="1900">
                <a:solidFill>
                  <a:srgbClr val="DEDBD2"/>
                </a:solidFill>
              </a:rPr>
              <a:t>서서히 붕괴되어 가는 세계와 함께 하나의 역할로 소모되어 간다</a:t>
            </a:r>
            <a:r>
              <a:rPr lang="en-US" altLang="ko-KR" sz="1900">
                <a:solidFill>
                  <a:srgbClr val="DEDBD2"/>
                </a:solidFill>
              </a:rPr>
              <a:t>.</a:t>
            </a:r>
          </a:p>
          <a:p>
            <a:pPr lvl="0">
              <a:defRPr/>
            </a:pPr>
            <a:endParaRPr lang="en-US" altLang="ko-KR" sz="1900">
              <a:solidFill>
                <a:srgbClr val="DEDBD2"/>
              </a:solidFill>
            </a:endParaRPr>
          </a:p>
          <a:p>
            <a:pPr lvl="0">
              <a:defRPr/>
            </a:pPr>
            <a:r>
              <a:rPr lang="en-US" altLang="ko-KR" sz="1900">
                <a:solidFill>
                  <a:srgbClr val="DEDBD2"/>
                </a:solidFill>
              </a:rPr>
              <a:t>    </a:t>
            </a:r>
            <a:r>
              <a:rPr lang="ko-KR" altLang="en-US" sz="1900">
                <a:solidFill>
                  <a:srgbClr val="DEDBD2"/>
                </a:solidFill>
              </a:rPr>
              <a:t>플레이어는 선택을 반복할수록</a:t>
            </a:r>
          </a:p>
          <a:p>
            <a:pPr lvl="0">
              <a:defRPr/>
            </a:pPr>
            <a:r>
              <a:rPr lang="ko-KR" altLang="en-US" sz="1900">
                <a:solidFill>
                  <a:srgbClr val="DEDBD2"/>
                </a:solidFill>
              </a:rPr>
              <a:t>    </a:t>
            </a:r>
            <a:r>
              <a:rPr lang="ko-KR" altLang="en-US" sz="1900" b="1">
                <a:solidFill>
                  <a:srgbClr val="DEDBD2"/>
                </a:solidFill>
              </a:rPr>
              <a:t>선의가 자발적 선택에서 의무로 변해가는 과정</a:t>
            </a:r>
            <a:r>
              <a:rPr lang="en-US" altLang="ko-KR" sz="1900">
                <a:solidFill>
                  <a:srgbClr val="DEDBD2"/>
                </a:solidFill>
              </a:rPr>
              <a:t>,</a:t>
            </a:r>
          </a:p>
          <a:p>
            <a:pPr lvl="0">
              <a:defRPr/>
            </a:pPr>
            <a:r>
              <a:rPr lang="ko-KR" altLang="en-US" sz="1900">
                <a:solidFill>
                  <a:srgbClr val="DEDBD2"/>
                </a:solidFill>
              </a:rPr>
              <a:t>    그리고 그 과정이 개인과 세계를 어떻게 잠식하는 지를 경험하게 된다</a:t>
            </a:r>
            <a:r>
              <a:rPr lang="en-US" altLang="ko-KR" sz="1900">
                <a:solidFill>
                  <a:srgbClr val="DEDBD2"/>
                </a:solidFill>
              </a:rPr>
              <a:t>.</a:t>
            </a:r>
            <a:endParaRPr lang="en-US" altLang="ko-KR" sz="1900" b="1">
              <a:solidFill>
                <a:srgbClr val="DEDBD2"/>
              </a:solidFill>
            </a:endParaRPr>
          </a:p>
          <a:p>
            <a:pPr lvl="0">
              <a:defRPr/>
            </a:pPr>
            <a:endParaRPr lang="ko-KR" altLang="en-US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A58741"/>
                </a:solidFill>
              </a:rPr>
              <a:t>[</a:t>
            </a:r>
            <a:r>
              <a:rPr lang="ko-KR" altLang="en-US" sz="1900" b="1">
                <a:solidFill>
                  <a:srgbClr val="A58741"/>
                </a:solidFill>
              </a:rPr>
              <a:t>재미 요소</a:t>
            </a:r>
            <a:r>
              <a:rPr lang="en-US" altLang="ko-KR" sz="1900" b="1">
                <a:solidFill>
                  <a:srgbClr val="A58741"/>
                </a:solidFill>
              </a:rPr>
              <a:t>]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>
                <a:solidFill>
                  <a:srgbClr val="DEDBD2"/>
                </a:solidFill>
              </a:rPr>
              <a:t>감정적 압박과 몰입을 즐기는 내러티브 플레이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>
                <a:solidFill>
                  <a:srgbClr val="DEDBD2"/>
                </a:solidFill>
              </a:rPr>
              <a:t>선택에 따라 변화하는 스토리 흐름과 엔딩 구조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>
                <a:solidFill>
                  <a:srgbClr val="DEDBD2"/>
                </a:solidFill>
              </a:rPr>
              <a:t>선택 누적에 따라 분위기와 연출이 변화하는 시스템</a:t>
            </a:r>
          </a:p>
          <a:p>
            <a:pPr marL="342900" lvl="0" indent="-342900">
              <a:buFont typeface="Arial"/>
              <a:buChar char="•"/>
              <a:defRPr/>
            </a:pPr>
            <a:r>
              <a:rPr lang="ko-KR" altLang="en-US" sz="1900">
                <a:solidFill>
                  <a:srgbClr val="DEDBD2"/>
                </a:solidFill>
              </a:rPr>
              <a:t>선행이 보상이 아닌 </a:t>
            </a:r>
            <a:r>
              <a:rPr lang="ko-KR" altLang="en-US" sz="1900" b="1">
                <a:solidFill>
                  <a:srgbClr val="DEDBD2"/>
                </a:solidFill>
              </a:rPr>
              <a:t>부담으로 작동하는 </a:t>
            </a:r>
            <a:r>
              <a:rPr lang="en-US" altLang="ko-KR" sz="1900" b="1">
                <a:solidFill>
                  <a:srgbClr val="DEDBD2"/>
                </a:solidFill>
              </a:rPr>
              <a:t>‘</a:t>
            </a:r>
            <a:r>
              <a:rPr lang="ko-KR" altLang="en-US" sz="1900" b="1">
                <a:solidFill>
                  <a:srgbClr val="DEDBD2"/>
                </a:solidFill>
              </a:rPr>
              <a:t>선택 소모화</a:t>
            </a:r>
            <a:r>
              <a:rPr lang="en-US" altLang="ko-KR" sz="1900" b="1">
                <a:solidFill>
                  <a:srgbClr val="DEDBD2"/>
                </a:solidFill>
              </a:rPr>
              <a:t>’</a:t>
            </a:r>
            <a:r>
              <a:rPr lang="ko-KR" altLang="en-US" sz="1900" b="1">
                <a:solidFill>
                  <a:srgbClr val="DEDBD2"/>
                </a:solidFill>
              </a:rPr>
              <a:t>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8477"/>
            <a:ext cx="8353425" cy="489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/>
              <a:t>[</a:t>
            </a:r>
            <a:r>
              <a:rPr lang="ko-KR" altLang="en-US" sz="3500"/>
              <a:t>강의에서 배운 내용을 바탕으로 작업 중인 페이지</a:t>
            </a:r>
            <a:r>
              <a:rPr lang="en-US" altLang="ko-KR" sz="3500"/>
              <a:t>]</a:t>
            </a:r>
            <a:endParaRPr lang="ko-KR" altLang="en-US" sz="3500"/>
          </a:p>
        </p:txBody>
      </p:sp>
      <p:sp>
        <p:nvSpPr>
          <p:cNvPr id="28" name="가로 글상자 27"/>
          <p:cNvSpPr txBox="1"/>
          <p:nvPr/>
        </p:nvSpPr>
        <p:spPr>
          <a:xfrm>
            <a:off x="7297017" y="63196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</p:spTree>
    <p:extLst>
      <p:ext uri="{BB962C8B-B14F-4D97-AF65-F5344CB8AC3E}">
        <p14:creationId xmlns:p14="http://schemas.microsoft.com/office/powerpoint/2010/main" val="3466388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3717751" y="6173314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2280072" y="6197653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780880" y="6136724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0" y="614220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1521047" y="6160001"/>
            <a:ext cx="474784" cy="474784"/>
          </a:xfrm>
          <a:prstGeom prst="ellipse">
            <a:avLst/>
          </a:prstGeom>
          <a:solidFill>
            <a:srgbClr val="778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3295" y="-197433"/>
            <a:ext cx="1179457" cy="1119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3500"/>
              <a:t>ㄱ </a:t>
            </a:r>
            <a:r>
              <a:rPr lang="en-US" altLang="ko-KR" sz="3500"/>
              <a:t>(35)</a:t>
            </a:r>
          </a:p>
          <a:p>
            <a:pPr lvl="0">
              <a:defRPr/>
            </a:pPr>
            <a:r>
              <a:rPr lang="ko-KR" altLang="en-US" sz="1900"/>
              <a:t>ㄱ </a:t>
            </a:r>
            <a:r>
              <a:rPr lang="en-US" altLang="ko-KR" sz="1900"/>
              <a:t>(19)</a:t>
            </a:r>
          </a:p>
          <a:p>
            <a:pPr lvl="0">
              <a:defRPr/>
            </a:pPr>
            <a:r>
              <a:rPr lang="ko-KR" altLang="en-US" sz="1200"/>
              <a:t>ㄱ </a:t>
            </a:r>
            <a:r>
              <a:rPr lang="en-US" altLang="ko-KR" sz="12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2994450" y="6154002"/>
            <a:ext cx="474784" cy="474784"/>
          </a:xfrm>
          <a:prstGeom prst="ellipse">
            <a:avLst/>
          </a:prstGeom>
          <a:solidFill>
            <a:srgbClr val="AAB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4334608" y="6192635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가로 글상자 25"/>
          <p:cNvSpPr txBox="1"/>
          <p:nvPr/>
        </p:nvSpPr>
        <p:spPr>
          <a:xfrm>
            <a:off x="514350" y="1428157"/>
            <a:ext cx="8124825" cy="1361834"/>
          </a:xfrm>
          <a:prstGeom prst="rect">
            <a:avLst/>
          </a:prstGeom>
          <a:solidFill>
            <a:srgbClr val="3D4767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AAB3D9"/>
                </a:solidFill>
              </a:rPr>
              <a:t>[</a:t>
            </a:r>
            <a:r>
              <a:rPr lang="ko-KR" altLang="en-US" sz="1900" b="1">
                <a:solidFill>
                  <a:srgbClr val="AAB3D9"/>
                </a:solidFill>
              </a:rPr>
              <a:t>게임의 정의</a:t>
            </a:r>
            <a:r>
              <a:rPr lang="en-US" altLang="ko-KR" sz="1900" b="1">
                <a:solidFill>
                  <a:srgbClr val="AAB3D9"/>
                </a:solidFill>
              </a:rPr>
              <a:t>]</a:t>
            </a:r>
            <a:endParaRPr lang="en-US" altLang="ko-KR" sz="1900" b="1">
              <a:solidFill>
                <a:srgbClr val="2C2A2B"/>
              </a:solidFill>
            </a:endParaRPr>
          </a:p>
          <a:p>
            <a:pPr lvl="0">
              <a:defRPr/>
            </a:pPr>
            <a:r>
              <a:rPr lang="en-US" altLang="ko-KR" sz="1900" b="1">
                <a:solidFill>
                  <a:srgbClr val="E9E8E3"/>
                </a:solidFill>
              </a:rPr>
              <a:t>    &lt;</a:t>
            </a:r>
            <a:r>
              <a:rPr lang="ko-KR" altLang="en-US" sz="1900" b="1">
                <a:solidFill>
                  <a:srgbClr val="E9E8E3"/>
                </a:solidFill>
              </a:rPr>
              <a:t>넌 착해</a:t>
            </a:r>
            <a:r>
              <a:rPr lang="en-US" altLang="ko-KR" sz="1900" b="1">
                <a:solidFill>
                  <a:srgbClr val="E9E8E3"/>
                </a:solidFill>
              </a:rPr>
              <a:t>!&gt;</a:t>
            </a:r>
            <a:r>
              <a:rPr lang="ko-KR" altLang="en-US" sz="1900" b="1">
                <a:solidFill>
                  <a:srgbClr val="E9E8E3"/>
                </a:solidFill>
              </a:rPr>
              <a:t>는 플레이어가 선택과 상호작용을 통해 이야기에 개입하며</a:t>
            </a:r>
            <a:r>
              <a:rPr lang="en-US" altLang="ko-KR" sz="1900" b="1">
                <a:solidFill>
                  <a:srgbClr val="E9E8E3"/>
                </a:solidFill>
              </a:rPr>
              <a:t>,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E9E8E3"/>
                </a:solidFill>
              </a:rPr>
              <a:t>    </a:t>
            </a:r>
            <a:r>
              <a:rPr lang="ko-KR" altLang="en-US" sz="1900" b="1">
                <a:solidFill>
                  <a:srgbClr val="E9E8E3"/>
                </a:solidFill>
              </a:rPr>
              <a:t>주변 인물들의 기대</a:t>
            </a:r>
            <a:r>
              <a:rPr lang="en-US" altLang="ko-KR" sz="1900" b="1">
                <a:solidFill>
                  <a:srgbClr val="E9E8E3"/>
                </a:solidFill>
              </a:rPr>
              <a:t>, </a:t>
            </a:r>
            <a:r>
              <a:rPr lang="ko-KR" altLang="en-US" sz="1900" b="1">
                <a:solidFill>
                  <a:srgbClr val="E9E8E3"/>
                </a:solidFill>
              </a:rPr>
              <a:t>붕괴되어 가는 세계</a:t>
            </a:r>
            <a:r>
              <a:rPr lang="en-US" altLang="ko-KR" sz="1900" b="1">
                <a:solidFill>
                  <a:srgbClr val="E9E8E3"/>
                </a:solidFill>
              </a:rPr>
              <a:t>,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E9E8E3"/>
                </a:solidFill>
              </a:rPr>
              <a:t>    </a:t>
            </a:r>
            <a:r>
              <a:rPr lang="ko-KR" altLang="en-US" sz="1900" b="1">
                <a:solidFill>
                  <a:srgbClr val="E9E8E3"/>
                </a:solidFill>
              </a:rPr>
              <a:t>그리고 선행을 전제로 한 대사와 사건들이 얽혀 만들어지는 상황 속에서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E9E8E3"/>
                </a:solidFill>
              </a:rPr>
              <a:t>    ‘</a:t>
            </a:r>
            <a:r>
              <a:rPr lang="ko-KR" altLang="en-US" sz="1900" b="1">
                <a:solidFill>
                  <a:srgbClr val="E9E8E3"/>
                </a:solidFill>
              </a:rPr>
              <a:t>착함</a:t>
            </a:r>
            <a:r>
              <a:rPr lang="en-US" altLang="ko-KR" sz="1900" b="1">
                <a:solidFill>
                  <a:srgbClr val="E9E8E3"/>
                </a:solidFill>
              </a:rPr>
              <a:t>’</a:t>
            </a:r>
            <a:r>
              <a:rPr lang="ko-KR" altLang="en-US" sz="1900" b="1">
                <a:solidFill>
                  <a:srgbClr val="E9E8E3"/>
                </a:solidFill>
              </a:rPr>
              <a:t>이라는 사회적 기대가 한 사람의 선택을 어떻게 몰아가는지를 그려내는</a:t>
            </a:r>
          </a:p>
          <a:p>
            <a:pPr lvl="0">
              <a:defRPr/>
            </a:pPr>
            <a:r>
              <a:rPr lang="en-US" altLang="ko-KR" sz="1900" b="1">
                <a:solidFill>
                  <a:srgbClr val="E9E8E3"/>
                </a:solidFill>
              </a:rPr>
              <a:t>    </a:t>
            </a:r>
            <a:r>
              <a:rPr lang="ko-KR" altLang="en-US" sz="1900" b="1">
                <a:solidFill>
                  <a:srgbClr val="E9E8E3"/>
                </a:solidFill>
              </a:rPr>
              <a:t>내러티브 중심 디지털 어드벤처 게임이다</a:t>
            </a:r>
            <a:r>
              <a:rPr lang="en-US" altLang="ko-KR" sz="1900" b="1">
                <a:solidFill>
                  <a:srgbClr val="E9E8E3"/>
                </a:solidFill>
              </a:rPr>
              <a:t>.</a:t>
            </a:r>
            <a:endParaRPr lang="ko-KR" altLang="en-US" sz="1900" b="1">
              <a:solidFill>
                <a:srgbClr val="E9E8E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18477"/>
            <a:ext cx="8353425" cy="489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/>
              <a:t>[</a:t>
            </a:r>
            <a:r>
              <a:rPr lang="ko-KR" altLang="en-US" sz="3500"/>
              <a:t>강의에서 배운 내용을 바탕으로 작업 중인 페이지</a:t>
            </a:r>
            <a:r>
              <a:rPr lang="en-US" altLang="ko-KR" sz="3500"/>
              <a:t>]</a:t>
            </a:r>
            <a:endParaRPr lang="ko-KR" altLang="en-US" sz="3500"/>
          </a:p>
        </p:txBody>
      </p:sp>
      <p:sp>
        <p:nvSpPr>
          <p:cNvPr id="28" name="가로 글상자 27"/>
          <p:cNvSpPr txBox="1"/>
          <p:nvPr/>
        </p:nvSpPr>
        <p:spPr>
          <a:xfrm>
            <a:off x="7297017" y="63196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</p:spTree>
    <p:extLst>
      <p:ext uri="{BB962C8B-B14F-4D97-AF65-F5344CB8AC3E}">
        <p14:creationId xmlns:p14="http://schemas.microsoft.com/office/powerpoint/2010/main" val="2542292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857250"/>
            <a:ext cx="9144000" cy="5143501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9432753" y="4646342"/>
            <a:ext cx="474784" cy="474784"/>
          </a:xfrm>
          <a:prstGeom prst="ellipse">
            <a:avLst/>
          </a:prstGeom>
          <a:solidFill>
            <a:srgbClr val="2C2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9432753" y="5371108"/>
            <a:ext cx="474784" cy="474784"/>
          </a:xfrm>
          <a:prstGeom prst="ellipse">
            <a:avLst/>
          </a:prstGeom>
          <a:solidFill>
            <a:srgbClr val="E0D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9432753" y="3197282"/>
            <a:ext cx="474784" cy="474784"/>
          </a:xfrm>
          <a:prstGeom prst="ellipse">
            <a:avLst/>
          </a:prstGeom>
          <a:solidFill>
            <a:srgbClr val="3D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9432753" y="1747280"/>
            <a:ext cx="474784" cy="474784"/>
          </a:xfrm>
          <a:prstGeom prst="ellipse">
            <a:avLst/>
          </a:prstGeom>
          <a:solidFill>
            <a:srgbClr val="A58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432753" y="1022514"/>
            <a:ext cx="474784" cy="474784"/>
          </a:xfrm>
          <a:prstGeom prst="ellipse">
            <a:avLst/>
          </a:prstGeom>
          <a:solidFill>
            <a:srgbClr val="9C7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432753" y="2472045"/>
            <a:ext cx="474784" cy="474784"/>
          </a:xfrm>
          <a:prstGeom prst="ellipse">
            <a:avLst/>
          </a:prstGeom>
          <a:solidFill>
            <a:srgbClr val="495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E402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01343" y="-301342"/>
            <a:ext cx="1497679" cy="1194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글자 크기</a:t>
            </a:r>
          </a:p>
          <a:p>
            <a:pPr lvl="0">
              <a:defRPr/>
            </a:pPr>
            <a:r>
              <a:rPr lang="ko-KR" altLang="en-US" sz="4000"/>
              <a:t>ㄱ </a:t>
            </a:r>
            <a:r>
              <a:rPr lang="en-US" altLang="ko-KR" sz="4000"/>
              <a:t>(40)</a:t>
            </a:r>
          </a:p>
          <a:p>
            <a:pPr lvl="0">
              <a:defRPr/>
            </a:pPr>
            <a:r>
              <a:rPr lang="ko-KR" altLang="en-US" sz="2100"/>
              <a:t>ㄱ </a:t>
            </a:r>
            <a:r>
              <a:rPr lang="en-US" altLang="ko-KR" sz="2100"/>
              <a:t>(21)</a:t>
            </a:r>
          </a:p>
          <a:p>
            <a:pPr lvl="0">
              <a:defRPr/>
            </a:pPr>
            <a:r>
              <a:rPr lang="ko-KR" altLang="en-US" sz="1200"/>
              <a:t>ㄱ </a:t>
            </a:r>
            <a:r>
              <a:rPr lang="en-US" altLang="ko-KR" sz="1200"/>
              <a:t>(12)</a:t>
            </a:r>
          </a:p>
        </p:txBody>
      </p:sp>
      <p:sp>
        <p:nvSpPr>
          <p:cNvPr id="14" name="타원 13"/>
          <p:cNvSpPr/>
          <p:nvPr/>
        </p:nvSpPr>
        <p:spPr>
          <a:xfrm>
            <a:off x="9432753" y="3921576"/>
            <a:ext cx="474784" cy="474784"/>
          </a:xfrm>
          <a:prstGeom prst="ellipse">
            <a:avLst/>
          </a:prstGeom>
          <a:solidFill>
            <a:srgbClr val="706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9435331" y="5371108"/>
            <a:ext cx="474784" cy="474784"/>
          </a:xfrm>
          <a:prstGeom prst="ellipse">
            <a:avLst/>
          </a:prstGeom>
          <a:solidFill>
            <a:srgbClr val="DED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가로 글상자 23"/>
          <p:cNvSpPr txBox="1"/>
          <p:nvPr/>
        </p:nvSpPr>
        <p:spPr>
          <a:xfrm>
            <a:off x="3351848" y="1195137"/>
            <a:ext cx="2440304" cy="546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  <a:latin typeface="HY울릉도B"/>
                <a:ea typeface="HY울릉도B"/>
                <a:cs typeface="함초롬돋움"/>
              </a:rPr>
              <a:t>넌 착해</a:t>
            </a:r>
            <a:r>
              <a:rPr lang="en-US" altLang="ko-KR" sz="4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  <a:latin typeface="HY울릉도B"/>
                <a:ea typeface="HY울릉도B"/>
                <a:cs typeface="함초롬돋움"/>
              </a:rPr>
              <a:t>!</a:t>
            </a:r>
            <a:endParaRPr lang="en-US" altLang="ko-KR" sz="4000" b="1">
              <a:solidFill>
                <a:srgbClr val="DEDBD2"/>
              </a:solidFill>
              <a:latin typeface="HY울릉도B"/>
              <a:ea typeface="HY울릉도B"/>
              <a:cs typeface="함초롬돋움"/>
            </a:endParaRPr>
          </a:p>
        </p:txBody>
      </p:sp>
      <p:sp>
        <p:nvSpPr>
          <p:cNvPr id="26" name="가로 글상자 25"/>
          <p:cNvSpPr txBox="1"/>
          <p:nvPr/>
        </p:nvSpPr>
        <p:spPr>
          <a:xfrm>
            <a:off x="6566767" y="5534269"/>
            <a:ext cx="2383416" cy="312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100">
                <a:solidFill>
                  <a:srgbClr val="A58741"/>
                </a:solidFill>
              </a:rPr>
              <a:t>내러티브 중심 어드벤처</a:t>
            </a:r>
            <a:endParaRPr lang="en-US" altLang="ko-KR" sz="2100">
              <a:solidFill>
                <a:srgbClr val="A58741"/>
              </a:solidFill>
            </a:endParaRPr>
          </a:p>
        </p:txBody>
      </p:sp>
      <p:sp>
        <p:nvSpPr>
          <p:cNvPr id="27" name="가로 글상자 26"/>
          <p:cNvSpPr txBox="1"/>
          <p:nvPr/>
        </p:nvSpPr>
        <p:spPr>
          <a:xfrm>
            <a:off x="7182717" y="6205321"/>
            <a:ext cx="1961283" cy="64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1.13.</a:t>
            </a:r>
            <a:r>
              <a:rPr lang="ko-KR" altLang="en-US"/>
              <a:t>화</a:t>
            </a:r>
          </a:p>
        </p:txBody>
      </p:sp>
    </p:spTree>
    <p:extLst>
      <p:ext uri="{BB962C8B-B14F-4D97-AF65-F5344CB8AC3E}">
        <p14:creationId xmlns:p14="http://schemas.microsoft.com/office/powerpoint/2010/main" val="120071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H="1">
            <a:off x="4228267" y="1057275"/>
            <a:ext cx="687465" cy="853308"/>
          </a:xfrm>
          <a:prstGeom prst="ellipse">
            <a:avLst/>
          </a:prstGeom>
          <a:effectLst>
            <a:softEdge rad="127000"/>
          </a:effectLst>
        </p:spPr>
      </p:pic>
      <p:grpSp>
        <p:nvGrpSpPr>
          <p:cNvPr id="12" name="그룹 11"/>
          <p:cNvGrpSpPr>
            <a:grpSpLocks noChangeAspect="1"/>
          </p:cNvGrpSpPr>
          <p:nvPr/>
        </p:nvGrpSpPr>
        <p:grpSpPr>
          <a:xfrm>
            <a:off x="972837" y="1907828"/>
            <a:ext cx="7198326" cy="4049060"/>
            <a:chOff x="2174080" y="1559719"/>
            <a:chExt cx="6400799" cy="360045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174080" y="1559719"/>
              <a:ext cx="6400800" cy="360045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359819" y="2002631"/>
              <a:ext cx="6072187" cy="3028950"/>
            </a:xfrm>
            <a:prstGeom prst="rect">
              <a:avLst/>
            </a:prstGeom>
          </p:spPr>
        </p:pic>
      </p:grpSp>
      <p:sp>
        <p:nvSpPr>
          <p:cNvPr id="13" name="가로 글상자 12"/>
          <p:cNvSpPr txBox="1"/>
          <p:nvPr/>
        </p:nvSpPr>
        <p:spPr>
          <a:xfrm>
            <a:off x="3351848" y="1909511"/>
            <a:ext cx="2440304" cy="546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  <a:latin typeface="HY울릉도B"/>
                <a:ea typeface="HY울릉도B"/>
                <a:cs typeface="함초롬돋움"/>
              </a:rPr>
              <a:t>넌 착해</a:t>
            </a:r>
            <a:r>
              <a:rPr lang="en-US" altLang="ko-KR" sz="4000" b="1">
                <a:ln w="12700" cap="flat" cmpd="sng" algn="ctr">
                  <a:solidFill>
                    <a:srgbClr val="2C2A2B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DEDBD2"/>
                </a:solidFill>
                <a:effectLst>
                  <a:outerShdw blurRad="63500" dist="31750" dir="16200000" rotWithShape="0">
                    <a:schemeClr val="tx1"/>
                  </a:outerShdw>
                </a:effectLst>
                <a:latin typeface="HY울릉도B"/>
                <a:ea typeface="HY울릉도B"/>
                <a:cs typeface="함초롬돋움"/>
              </a:rPr>
              <a:t>!</a:t>
            </a:r>
            <a:endParaRPr lang="en-US" altLang="ko-KR" sz="4000" b="1">
              <a:solidFill>
                <a:srgbClr val="DEDBD2"/>
              </a:solidFill>
              <a:latin typeface="HY울릉도B"/>
              <a:ea typeface="HY울릉도B"/>
              <a:cs typeface="함초롬돋움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7297017" y="7055824"/>
            <a:ext cx="2358158" cy="362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</p:spTree>
    <p:extLst>
      <p:ext uri="{BB962C8B-B14F-4D97-AF65-F5344CB8AC3E}">
        <p14:creationId xmlns:p14="http://schemas.microsoft.com/office/powerpoint/2010/main" val="2196300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61589" y="1427177"/>
            <a:ext cx="3177947" cy="3177947"/>
          </a:xfrm>
          <a:prstGeom prst="roundRect">
            <a:avLst>
              <a:gd name="adj" fmla="val 35798"/>
            </a:avLst>
          </a:prstGeom>
          <a:effectLst>
            <a:reflection blurRad="6350" stA="50000" endA="300" endPos="35000" dir="5400000" sy="-100000" algn="bl" rotWithShape="0"/>
            <a:softEdge rad="127000"/>
          </a:effectLst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grayscl/>
            <a:lum/>
          </a:blip>
          <a:stretch>
            <a:fillRect/>
          </a:stretch>
        </p:blipFill>
        <p:spPr>
          <a:xfrm>
            <a:off x="1160611" y="2706588"/>
            <a:ext cx="2571750" cy="1444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04081" y="3808024"/>
            <a:ext cx="1491755" cy="242053"/>
          </a:xfrm>
          <a:prstGeom prst="rect">
            <a:avLst/>
          </a:prstGeom>
        </p:spPr>
      </p:pic>
      <p:sp>
        <p:nvSpPr>
          <p:cNvPr id="32" name="가로 글상자 31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5" name="타원 34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</a:p>
        </p:txBody>
      </p:sp>
      <p:sp>
        <p:nvSpPr>
          <p:cNvPr id="37" name="타원 36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타원 37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타원 38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타원 39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타원 40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타원 41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</a:p>
        </p:txBody>
      </p:sp>
    </p:spTree>
    <p:extLst>
      <p:ext uri="{BB962C8B-B14F-4D97-AF65-F5344CB8AC3E}">
        <p14:creationId xmlns:p14="http://schemas.microsoft.com/office/powerpoint/2010/main" val="761492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09586" y="1304508"/>
            <a:ext cx="8124826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목차</a:t>
            </a:r>
          </a:p>
        </p:txBody>
      </p:sp>
      <p:cxnSp>
        <p:nvCxnSpPr>
          <p:cNvPr id="43" name="선 42"/>
          <p:cNvCxnSpPr/>
          <p:nvPr/>
        </p:nvCxnSpPr>
        <p:spPr>
          <a:xfrm rot="16200000" flipH="1" flipV="1">
            <a:off x="737472" y="3535900"/>
            <a:ext cx="2858941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가로 글상자 50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54" name="타원 53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</a:p>
        </p:txBody>
      </p:sp>
      <p:sp>
        <p:nvSpPr>
          <p:cNvPr id="56" name="타원 55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타원 56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타원 57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타원 58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타원 59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타원 60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2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</a:p>
        </p:txBody>
      </p:sp>
      <p:sp>
        <p:nvSpPr>
          <p:cNvPr id="63" name="가로 글상자 62"/>
          <p:cNvSpPr txBox="1"/>
          <p:nvPr/>
        </p:nvSpPr>
        <p:spPr>
          <a:xfrm>
            <a:off x="509585" y="2072401"/>
            <a:ext cx="2302670" cy="37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64" name="가로 글상자 63"/>
          <p:cNvSpPr txBox="1"/>
          <p:nvPr/>
        </p:nvSpPr>
        <p:spPr>
          <a:xfrm>
            <a:off x="2269330" y="2109202"/>
            <a:ext cx="3534967" cy="29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제목          장르          시놉시스          재미요소          </a:t>
            </a:r>
          </a:p>
        </p:txBody>
      </p:sp>
      <p:sp>
        <p:nvSpPr>
          <p:cNvPr id="65" name="가로 글상자 64"/>
          <p:cNvSpPr txBox="1"/>
          <p:nvPr/>
        </p:nvSpPr>
        <p:spPr>
          <a:xfrm>
            <a:off x="509586" y="2756301"/>
            <a:ext cx="1445420" cy="37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게임의 정의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66" name="가로 글상자 65"/>
          <p:cNvSpPr txBox="1"/>
          <p:nvPr/>
        </p:nvSpPr>
        <p:spPr>
          <a:xfrm>
            <a:off x="2269331" y="2797827"/>
            <a:ext cx="3534966" cy="29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플레이의 작용요소          방해요인          </a:t>
            </a:r>
            <a:r>
              <a:rPr lang="ko-KR" altLang="en-US" sz="13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목적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571944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09586" y="853618"/>
            <a:ext cx="8124826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목차</a:t>
            </a:r>
          </a:p>
        </p:txBody>
      </p:sp>
      <p:sp>
        <p:nvSpPr>
          <p:cNvPr id="37" name="가로 글상자 36"/>
          <p:cNvSpPr txBox="1"/>
          <p:nvPr/>
        </p:nvSpPr>
        <p:spPr>
          <a:xfrm>
            <a:off x="509585" y="2072401"/>
            <a:ext cx="2302670" cy="37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38" name="가로 글상자 37"/>
          <p:cNvSpPr txBox="1"/>
          <p:nvPr/>
        </p:nvSpPr>
        <p:spPr>
          <a:xfrm>
            <a:off x="2269330" y="2109202"/>
            <a:ext cx="5170092" cy="29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제목          장르          시놉시스          재미요소          게임의 정의          </a:t>
            </a:r>
          </a:p>
        </p:txBody>
      </p:sp>
      <p:cxnSp>
        <p:nvCxnSpPr>
          <p:cNvPr id="39" name="선 38"/>
          <p:cNvCxnSpPr/>
          <p:nvPr/>
        </p:nvCxnSpPr>
        <p:spPr>
          <a:xfrm rot="16200000" flipH="1">
            <a:off x="1993212" y="2259210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선 39"/>
          <p:cNvCxnSpPr/>
          <p:nvPr/>
        </p:nvCxnSpPr>
        <p:spPr>
          <a:xfrm rot="16200000" flipH="1">
            <a:off x="1990950" y="2944060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선 40"/>
          <p:cNvCxnSpPr/>
          <p:nvPr/>
        </p:nvCxnSpPr>
        <p:spPr>
          <a:xfrm rot="16200000" flipH="1">
            <a:off x="2064649" y="2257912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선 41"/>
          <p:cNvCxnSpPr/>
          <p:nvPr/>
        </p:nvCxnSpPr>
        <p:spPr>
          <a:xfrm rot="16200000" flipH="1">
            <a:off x="2064649" y="2944060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가로 글상자 45"/>
          <p:cNvSpPr txBox="1"/>
          <p:nvPr/>
        </p:nvSpPr>
        <p:spPr>
          <a:xfrm>
            <a:off x="509586" y="2756301"/>
            <a:ext cx="1445420" cy="37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다음 목차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47" name="가로 글상자 46"/>
          <p:cNvSpPr txBox="1"/>
          <p:nvPr/>
        </p:nvSpPr>
        <p:spPr>
          <a:xfrm>
            <a:off x="2269331" y="2797827"/>
            <a:ext cx="3534966" cy="29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다음 내용       </a:t>
            </a:r>
          </a:p>
        </p:txBody>
      </p:sp>
      <p:sp>
        <p:nvSpPr>
          <p:cNvPr id="49" name="가로 글상자 48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52" name="타원 51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</a:p>
        </p:txBody>
      </p:sp>
      <p:sp>
        <p:nvSpPr>
          <p:cNvPr id="54" name="타원 53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타원 54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타원 55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타원 56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타원 57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타원 58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</a:p>
        </p:txBody>
      </p:sp>
    </p:spTree>
    <p:extLst>
      <p:ext uri="{BB962C8B-B14F-4D97-AF65-F5344CB8AC3E}">
        <p14:creationId xmlns:p14="http://schemas.microsoft.com/office/powerpoint/2010/main" val="75516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77813" y="2774757"/>
            <a:ext cx="1570433" cy="29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플랫폼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28" name="가로 글상자 27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7" name="가로 글상자 36"/>
          <p:cNvSpPr txBox="1"/>
          <p:nvPr/>
        </p:nvSpPr>
        <p:spPr>
          <a:xfrm>
            <a:off x="2195870" y="2774757"/>
            <a:ext cx="2166312" cy="282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PC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 CONSOLE</a:t>
            </a:r>
            <a:endParaRPr lang="ko-KR" altLang="en-US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38" name="가로 글상자 37"/>
          <p:cNvSpPr txBox="1"/>
          <p:nvPr/>
        </p:nvSpPr>
        <p:spPr>
          <a:xfrm>
            <a:off x="2195870" y="3342221"/>
            <a:ext cx="2598272" cy="286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FCE891"/>
                </a:solidFill>
                <a:latin typeface="충북대70주년체 Regular"/>
                <a:ea typeface="충북대70주년체 Regular"/>
              </a:rPr>
              <a:t>내러티브 중심 어드벤처</a:t>
            </a:r>
          </a:p>
        </p:txBody>
      </p:sp>
      <p:sp>
        <p:nvSpPr>
          <p:cNvPr id="39" name="가로 글상자 38"/>
          <p:cNvSpPr txBox="1"/>
          <p:nvPr/>
        </p:nvSpPr>
        <p:spPr>
          <a:xfrm>
            <a:off x="2195869" y="3887609"/>
            <a:ext cx="6146387" cy="129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선택지가 주어지는 것처럼 보이지만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이야기가 진행될수록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모든 선택은 하나의 방향으로 수렴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한다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endParaRPr lang="en-US" altLang="ko-KR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스스로를 특별히 착한 사람이라 여기지 않는 주인공은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en-US" altLang="ko-KR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가장 착한 사람</a:t>
            </a:r>
            <a:r>
              <a:rPr lang="en-US" altLang="ko-KR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이기를 요구받는 기대 속에서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서서히 붕괴되어 가는 세계와 함께 하나의 역할로 소모되어 간다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endParaRPr lang="en-US" altLang="ko-KR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선택을 반복할수록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선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의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는 의미를 잃고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착함은 자발적인 판단이 아닌 </a:t>
            </a:r>
            <a:r>
              <a:rPr lang="ko-KR" altLang="en-US" sz="1100" spc="100">
                <a:solidFill>
                  <a:srgbClr val="EB657E"/>
                </a:solidFill>
                <a:latin typeface="충북대70주년체 Regular"/>
                <a:ea typeface="충북대70주년체 Regular"/>
              </a:rPr>
              <a:t>피할 수 없는 의무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가 된다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ko-KR" altLang="en-US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0" name="가로 글상자 39"/>
          <p:cNvSpPr txBox="1"/>
          <p:nvPr/>
        </p:nvSpPr>
        <p:spPr>
          <a:xfrm>
            <a:off x="2195868" y="5311329"/>
            <a:ext cx="5200501" cy="889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    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감정적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압박과 몰입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즐기는 내러티브 플레이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     선택에 따라 변화하는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스토리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흐름과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엔딩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구조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     선택 누적에 따라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분위기와 연출이 변화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하는 시스템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     선행이 보상이 아닌 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부담으로 작동하는 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‘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선택 소모화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구조</a:t>
            </a:r>
          </a:p>
        </p:txBody>
      </p:sp>
      <p:sp>
        <p:nvSpPr>
          <p:cNvPr id="41" name="가로 글상자 40"/>
          <p:cNvSpPr txBox="1"/>
          <p:nvPr/>
        </p:nvSpPr>
        <p:spPr>
          <a:xfrm>
            <a:off x="577813" y="3342221"/>
            <a:ext cx="1296592" cy="29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게임장르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3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2" name="가로 글상자 41"/>
          <p:cNvSpPr txBox="1"/>
          <p:nvPr/>
        </p:nvSpPr>
        <p:spPr>
          <a:xfrm>
            <a:off x="577812" y="5311329"/>
            <a:ext cx="1171216" cy="29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재미 요소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3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3" name="가로 글상자 42"/>
          <p:cNvSpPr txBox="1"/>
          <p:nvPr/>
        </p:nvSpPr>
        <p:spPr>
          <a:xfrm>
            <a:off x="577813" y="3887610"/>
            <a:ext cx="1344216" cy="296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시놉시스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3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51" name="사각형 설명선 50"/>
          <p:cNvSpPr/>
          <p:nvPr/>
        </p:nvSpPr>
        <p:spPr>
          <a:xfrm>
            <a:off x="2148247" y="2774758"/>
            <a:ext cx="6194008" cy="28275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사각형 설명선 52"/>
          <p:cNvSpPr/>
          <p:nvPr/>
        </p:nvSpPr>
        <p:spPr>
          <a:xfrm>
            <a:off x="2148247" y="3876609"/>
            <a:ext cx="6194008" cy="1304580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사각형 설명선 53"/>
          <p:cNvSpPr/>
          <p:nvPr/>
        </p:nvSpPr>
        <p:spPr>
          <a:xfrm>
            <a:off x="2148247" y="3342221"/>
            <a:ext cx="6194008" cy="282750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사각형 설명선 54"/>
          <p:cNvSpPr/>
          <p:nvPr/>
        </p:nvSpPr>
        <p:spPr>
          <a:xfrm>
            <a:off x="2148246" y="5311329"/>
            <a:ext cx="6194009" cy="889035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가로 글상자 55"/>
          <p:cNvSpPr txBox="1"/>
          <p:nvPr/>
        </p:nvSpPr>
        <p:spPr>
          <a:xfrm>
            <a:off x="577813" y="2225403"/>
            <a:ext cx="1570434" cy="30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슬로건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57" name="사각형 설명선 56"/>
          <p:cNvSpPr/>
          <p:nvPr/>
        </p:nvSpPr>
        <p:spPr>
          <a:xfrm>
            <a:off x="2148247" y="2225403"/>
            <a:ext cx="6194008" cy="28275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가로 글상자 57"/>
          <p:cNvSpPr txBox="1"/>
          <p:nvPr/>
        </p:nvSpPr>
        <p:spPr>
          <a:xfrm>
            <a:off x="2195868" y="2225402"/>
            <a:ext cx="2598275" cy="2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선택하거나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-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b="1" spc="100">
                <a:solidFill>
                  <a:srgbClr val="8B5587"/>
                </a:solidFill>
                <a:latin typeface="충북대70주년체 Regular"/>
                <a:ea typeface="충북대70주년체 Regular"/>
              </a:rPr>
              <a:t>선택 당하거나</a:t>
            </a:r>
          </a:p>
        </p:txBody>
      </p:sp>
      <p:sp>
        <p:nvSpPr>
          <p:cNvPr id="59" name="가로 글상자 58"/>
          <p:cNvSpPr txBox="1"/>
          <p:nvPr/>
        </p:nvSpPr>
        <p:spPr>
          <a:xfrm>
            <a:off x="577813" y="1712338"/>
            <a:ext cx="1570434" cy="299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제목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60" name="사각형 설명선 59"/>
          <p:cNvSpPr/>
          <p:nvPr/>
        </p:nvSpPr>
        <p:spPr>
          <a:xfrm>
            <a:off x="2148247" y="1712339"/>
            <a:ext cx="6194008" cy="28275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가로 글상자 60"/>
          <p:cNvSpPr txBox="1"/>
          <p:nvPr/>
        </p:nvSpPr>
        <p:spPr>
          <a:xfrm>
            <a:off x="2195870" y="1712338"/>
            <a:ext cx="903038" cy="28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넌 착해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!</a:t>
            </a:r>
            <a:endParaRPr lang="ko-KR" altLang="en-US" sz="1100" b="1" spc="100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509586" y="294858"/>
            <a:ext cx="3933968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</a:p>
        </p:txBody>
      </p:sp>
      <p:sp>
        <p:nvSpPr>
          <p:cNvPr id="75" name="뺄셈 기호 74"/>
          <p:cNvSpPr/>
          <p:nvPr/>
        </p:nvSpPr>
        <p:spPr>
          <a:xfrm>
            <a:off x="1513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6" name="뺄셈 기호 75"/>
          <p:cNvSpPr/>
          <p:nvPr/>
        </p:nvSpPr>
        <p:spPr>
          <a:xfrm>
            <a:off x="1195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7" name="뺄셈 기호 76"/>
          <p:cNvSpPr/>
          <p:nvPr/>
        </p:nvSpPr>
        <p:spPr>
          <a:xfrm>
            <a:off x="878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8" name="뺄셈 기호 77"/>
          <p:cNvSpPr/>
          <p:nvPr/>
        </p:nvSpPr>
        <p:spPr>
          <a:xfrm>
            <a:off x="560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2" name="타원 81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3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</a:p>
        </p:txBody>
      </p:sp>
      <p:sp>
        <p:nvSpPr>
          <p:cNvPr id="84" name="타원 83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5" name="타원 84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6" name="타원 85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7" name="타원 86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8" name="타원 87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9" name="타원 88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0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</a:p>
        </p:txBody>
      </p:sp>
    </p:spTree>
    <p:extLst>
      <p:ext uri="{BB962C8B-B14F-4D97-AF65-F5344CB8AC3E}">
        <p14:creationId xmlns:p14="http://schemas.microsoft.com/office/powerpoint/2010/main" val="2178783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77813" y="3742116"/>
            <a:ext cx="1570433" cy="299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이야기 목적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28" name="가로 글상자 27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7" name="가로 글상자 36"/>
          <p:cNvSpPr txBox="1"/>
          <p:nvPr/>
        </p:nvSpPr>
        <p:spPr>
          <a:xfrm>
            <a:off x="2195870" y="3742116"/>
            <a:ext cx="6146384" cy="6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‘</a:t>
            </a:r>
            <a:r>
              <a:rPr lang="ko-KR" altLang="en-US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착함</a:t>
            </a:r>
            <a:r>
              <a:rPr lang="en-US" altLang="ko-KR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이라는 사회적 기대 속에서 한 사람이 어떤 선택을 하게 되는 지를 다룬다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세계가 붕괴되어 가는 과정과 함께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타인의 기대에 응답해 온 주인공 역시 점차 하나의 역할로 소모되며 붕괴된다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</p:txBody>
      </p:sp>
      <p:sp>
        <p:nvSpPr>
          <p:cNvPr id="38" name="가로 글상자 37"/>
          <p:cNvSpPr txBox="1"/>
          <p:nvPr/>
        </p:nvSpPr>
        <p:spPr>
          <a:xfrm>
            <a:off x="2195869" y="4855845"/>
            <a:ext cx="6146387" cy="48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플레이어는 선택과 장애를 극복하며 이야기를 끝까지 완주한다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정답을 찾기보다는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b="1" spc="100">
                <a:solidFill>
                  <a:srgbClr val="8B5587"/>
                </a:solidFill>
                <a:latin typeface="충북대70주년체 Regular"/>
                <a:ea typeface="충북대70주년체 Regular"/>
              </a:rPr>
              <a:t>선택이 누적되며 만들어지는 감정과 서사를 체험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하는 데 목적이 있다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</p:txBody>
      </p:sp>
      <p:sp>
        <p:nvSpPr>
          <p:cNvPr id="41" name="가로 글상자 40"/>
          <p:cNvSpPr txBox="1"/>
          <p:nvPr/>
        </p:nvSpPr>
        <p:spPr>
          <a:xfrm>
            <a:off x="577813" y="4855845"/>
            <a:ext cx="1296592" cy="29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플레이 목적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51" name="사각형 설명선 50"/>
          <p:cNvSpPr/>
          <p:nvPr/>
        </p:nvSpPr>
        <p:spPr>
          <a:xfrm>
            <a:off x="2148247" y="3742117"/>
            <a:ext cx="6194008" cy="685103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사각형 설명선 53"/>
          <p:cNvSpPr/>
          <p:nvPr/>
        </p:nvSpPr>
        <p:spPr>
          <a:xfrm>
            <a:off x="2148247" y="4855845"/>
            <a:ext cx="6194008" cy="486091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가로 글상자 55"/>
          <p:cNvSpPr txBox="1"/>
          <p:nvPr/>
        </p:nvSpPr>
        <p:spPr>
          <a:xfrm>
            <a:off x="577813" y="2701512"/>
            <a:ext cx="1570434" cy="30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방해 요인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57" name="사각형 설명선 56"/>
          <p:cNvSpPr/>
          <p:nvPr/>
        </p:nvSpPr>
        <p:spPr>
          <a:xfrm>
            <a:off x="2148247" y="2701512"/>
            <a:ext cx="6194008" cy="64489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가로 글상자 57"/>
          <p:cNvSpPr txBox="1"/>
          <p:nvPr/>
        </p:nvSpPr>
        <p:spPr>
          <a:xfrm>
            <a:off x="2195866" y="2701511"/>
            <a:ext cx="6146388" cy="687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EB657E"/>
                </a:solidFill>
                <a:latin typeface="충북대70주년체 Regular"/>
                <a:ea typeface="충북대70주년체 Regular"/>
              </a:rPr>
              <a:t>몬스터와 퍼즐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이 물리적인 장애로 등장하며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동시에 </a:t>
            </a:r>
            <a:r>
              <a:rPr lang="ko-KR" altLang="en-US" sz="1100" b="1" spc="100">
                <a:solidFill>
                  <a:srgbClr val="EB657E"/>
                </a:solidFill>
                <a:latin typeface="충북대70주년체 Regular"/>
                <a:ea typeface="충북대70주년체 Regular"/>
              </a:rPr>
              <a:t>주변 인물들의 말과 반복되는 요구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는 심리적인 압박으로 작용해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FCE891"/>
                </a:solidFill>
                <a:latin typeface="충북대70주년체 Regular"/>
                <a:ea typeface="충북대70주년체 Regular"/>
              </a:rPr>
              <a:t>플레이어가 특정한 선택을 하도록 몰아가는 상황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만든다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</p:txBody>
      </p:sp>
      <p:sp>
        <p:nvSpPr>
          <p:cNvPr id="59" name="가로 글상자 58"/>
          <p:cNvSpPr txBox="1"/>
          <p:nvPr/>
        </p:nvSpPr>
        <p:spPr>
          <a:xfrm>
            <a:off x="577813" y="1712338"/>
            <a:ext cx="1570434" cy="299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플레이 작용 요소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</a:p>
        </p:txBody>
      </p:sp>
      <p:sp>
        <p:nvSpPr>
          <p:cNvPr id="60" name="사각형 설명선 59"/>
          <p:cNvSpPr/>
          <p:nvPr/>
        </p:nvSpPr>
        <p:spPr>
          <a:xfrm>
            <a:off x="2148247" y="1712339"/>
            <a:ext cx="6194008" cy="686055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가로 글상자 60"/>
          <p:cNvSpPr txBox="1"/>
          <p:nvPr/>
        </p:nvSpPr>
        <p:spPr>
          <a:xfrm>
            <a:off x="2195867" y="1712338"/>
            <a:ext cx="6146388" cy="68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플레이어는 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대화와 행동 선택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통해 상황에 개입한다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선택은 즉각적인 결과뿐 아니라 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이후 전개과 선택지 구성에 누적된 영향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미치며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주인공이 주변의 기대에 어떻게 반응해 왔는 지를 드러낸다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</a:p>
        </p:txBody>
      </p:sp>
      <p:sp>
        <p:nvSpPr>
          <p:cNvPr id="82" name="타원 81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3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</a:p>
        </p:txBody>
      </p:sp>
      <p:sp>
        <p:nvSpPr>
          <p:cNvPr id="84" name="타원 83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5" name="타원 84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6" name="타원 85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7" name="타원 86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8" name="타원 87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9" name="타원 88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0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</a:p>
        </p:txBody>
      </p:sp>
      <p:sp>
        <p:nvSpPr>
          <p:cNvPr id="91" name="가로 글상자 90"/>
          <p:cNvSpPr txBox="1"/>
          <p:nvPr/>
        </p:nvSpPr>
        <p:spPr>
          <a:xfrm>
            <a:off x="509586" y="294858"/>
            <a:ext cx="3933968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</a:p>
        </p:txBody>
      </p:sp>
      <p:sp>
        <p:nvSpPr>
          <p:cNvPr id="92" name="뺄셈 기호 91"/>
          <p:cNvSpPr/>
          <p:nvPr/>
        </p:nvSpPr>
        <p:spPr>
          <a:xfrm>
            <a:off x="1513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3" name="뺄셈 기호 92"/>
          <p:cNvSpPr/>
          <p:nvPr/>
        </p:nvSpPr>
        <p:spPr>
          <a:xfrm>
            <a:off x="1195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4" name="뺄셈 기호 93"/>
          <p:cNvSpPr/>
          <p:nvPr/>
        </p:nvSpPr>
        <p:spPr>
          <a:xfrm>
            <a:off x="878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FCE891"/>
              </a:solidFill>
            </a:endParaRPr>
          </a:p>
        </p:txBody>
      </p:sp>
      <p:sp>
        <p:nvSpPr>
          <p:cNvPr id="95" name="뺄셈 기호 94"/>
          <p:cNvSpPr/>
          <p:nvPr/>
        </p:nvSpPr>
        <p:spPr>
          <a:xfrm>
            <a:off x="560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378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뺄셈 기호 3"/>
          <p:cNvSpPr/>
          <p:nvPr/>
        </p:nvSpPr>
        <p:spPr>
          <a:xfrm>
            <a:off x="287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뺄셈 기호 4"/>
          <p:cNvSpPr/>
          <p:nvPr/>
        </p:nvSpPr>
        <p:spPr>
          <a:xfrm>
            <a:off x="224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뺄셈 기호 5"/>
          <p:cNvSpPr/>
          <p:nvPr/>
        </p:nvSpPr>
        <p:spPr>
          <a:xfrm>
            <a:off x="2558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뺄셈 기호 6"/>
          <p:cNvSpPr/>
          <p:nvPr/>
        </p:nvSpPr>
        <p:spPr>
          <a:xfrm>
            <a:off x="192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뺄셈 기호 7"/>
          <p:cNvSpPr/>
          <p:nvPr/>
        </p:nvSpPr>
        <p:spPr>
          <a:xfrm>
            <a:off x="160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뺄셈 기호 8"/>
          <p:cNvSpPr/>
          <p:nvPr/>
        </p:nvSpPr>
        <p:spPr>
          <a:xfrm>
            <a:off x="1288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뺄셈 기호 9"/>
          <p:cNvSpPr/>
          <p:nvPr/>
        </p:nvSpPr>
        <p:spPr>
          <a:xfrm>
            <a:off x="97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뺄셈 기호 10"/>
          <p:cNvSpPr/>
          <p:nvPr/>
        </p:nvSpPr>
        <p:spPr>
          <a:xfrm>
            <a:off x="319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뺄셈 기호 11"/>
          <p:cNvSpPr/>
          <p:nvPr/>
        </p:nvSpPr>
        <p:spPr>
          <a:xfrm>
            <a:off x="65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뺄셈 기호 12"/>
          <p:cNvSpPr/>
          <p:nvPr/>
        </p:nvSpPr>
        <p:spPr>
          <a:xfrm>
            <a:off x="33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뺄셈 기호 13"/>
          <p:cNvSpPr/>
          <p:nvPr/>
        </p:nvSpPr>
        <p:spPr>
          <a:xfrm>
            <a:off x="351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타원 14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"/>
          <p:cNvSpPr txBox="1"/>
          <p:nvPr/>
        </p:nvSpPr>
        <p:spPr>
          <a:xfrm>
            <a:off x="9316166" y="0"/>
            <a:ext cx="1457269" cy="1164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</a:p>
        </p:txBody>
      </p:sp>
      <p:sp>
        <p:nvSpPr>
          <p:cNvPr id="17" name="타원 16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타원 17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타원 19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타원 20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타원 21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TextBox 1"/>
          <p:cNvSpPr txBox="1"/>
          <p:nvPr/>
        </p:nvSpPr>
        <p:spPr>
          <a:xfrm>
            <a:off x="9316166" y="1301432"/>
            <a:ext cx="1965269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</a:p>
        </p:txBody>
      </p:sp>
    </p:spTree>
    <p:extLst>
      <p:ext uri="{BB962C8B-B14F-4D97-AF65-F5344CB8AC3E}">
        <p14:creationId xmlns:p14="http://schemas.microsoft.com/office/powerpoint/2010/main" val="2845714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핵심 요소</a:t>
            </a:r>
          </a:p>
          <a:p>
            <a:pPr lvl="1">
              <a:defRPr/>
            </a:pPr>
            <a:r>
              <a:rPr lang="ko-KR" altLang="en-US"/>
              <a:t>돈이 되고 자신있는 것</a:t>
            </a:r>
          </a:p>
          <a:p>
            <a:pPr lvl="0">
              <a:defRPr/>
            </a:pPr>
            <a:r>
              <a:rPr lang="ko-KR" altLang="en-US"/>
              <a:t>재미 컨텐츠</a:t>
            </a:r>
          </a:p>
          <a:p>
            <a:pPr lvl="1">
              <a:defRPr/>
            </a:pPr>
            <a:r>
              <a:rPr lang="ko-KR" altLang="en-US"/>
              <a:t>근거가 있는 것만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내일 할 것</a:t>
            </a:r>
          </a:p>
          <a:p>
            <a:pPr lvl="1">
              <a:defRPr/>
            </a:pPr>
            <a:r>
              <a:rPr lang="ko-KR" altLang="en-US"/>
              <a:t>게임 컨텐츠 볼륨 맵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6666521" y="6858000"/>
            <a:ext cx="2477479" cy="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1.19.</a:t>
            </a:r>
            <a:r>
              <a:rPr lang="ko-KR" altLang="en-US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7148208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6666521" y="6858000"/>
            <a:ext cx="24774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 smtClean="0"/>
              <a:t>1.20.</a:t>
            </a:r>
            <a:r>
              <a:rPr lang="ko-KR" altLang="en-US"/>
              <a:t>화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20107" r="60322" b="30000"/>
          <a:stretch/>
        </p:blipFill>
        <p:spPr>
          <a:xfrm>
            <a:off x="0" y="-1"/>
            <a:ext cx="9144000" cy="646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191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ko-KR" altLang="en-US" smtClean="0"/>
              <a:t>게임 컨텐츠 볼륨 맵</a:t>
            </a:r>
            <a:endParaRPr lang="en-US" altLang="ko-KR" smtClean="0"/>
          </a:p>
          <a:p>
            <a:pPr lvl="1">
              <a:defRPr/>
            </a:pPr>
            <a:r>
              <a:rPr lang="ko-KR" altLang="en-US" smtClean="0"/>
              <a:t>내용</a:t>
            </a:r>
            <a:r>
              <a:rPr lang="en-US" altLang="ko-KR" smtClean="0"/>
              <a:t>(Contents)</a:t>
            </a:r>
          </a:p>
          <a:p>
            <a:pPr lvl="1">
              <a:defRPr/>
            </a:pPr>
            <a:r>
              <a:rPr lang="ko-KR" altLang="en-US" smtClean="0"/>
              <a:t>규칙</a:t>
            </a:r>
            <a:r>
              <a:rPr lang="en-US" altLang="ko-KR" smtClean="0"/>
              <a:t>(System)</a:t>
            </a:r>
          </a:p>
          <a:p>
            <a:pPr lvl="1">
              <a:defRPr/>
            </a:pPr>
            <a:r>
              <a:rPr lang="ko-KR" altLang="en-US" smtClean="0"/>
              <a:t>톱니바퀴처럼 내 게임의 내용과 규칙들이 맞물려서 돌아간다</a:t>
            </a:r>
            <a:r>
              <a:rPr lang="en-US" altLang="ko-KR" smtClean="0"/>
              <a:t>.</a:t>
            </a:r>
          </a:p>
          <a:p>
            <a:pPr marL="457200" lvl="1" indent="0">
              <a:buNone/>
              <a:defRPr/>
            </a:pPr>
            <a:endParaRPr lang="en-US" altLang="ko-KR" smtClean="0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 smtClean="0"/>
              <a:t>동그라미의 크기 </a:t>
            </a:r>
            <a:r>
              <a:rPr lang="en-US" altLang="ko-KR" smtClean="0"/>
              <a:t>: </a:t>
            </a:r>
            <a:r>
              <a:rPr lang="ko-KR" altLang="en-US" smtClean="0"/>
              <a:t>중요도를 의미</a:t>
            </a:r>
            <a:r>
              <a:rPr lang="en-US" altLang="ko-KR" smtClean="0"/>
              <a:t>. </a:t>
            </a:r>
            <a:r>
              <a:rPr lang="ko-KR" altLang="en-US" smtClean="0"/>
              <a:t>크기는 </a:t>
            </a:r>
            <a:r>
              <a:rPr lang="en-US" altLang="ko-KR" smtClean="0"/>
              <a:t>3</a:t>
            </a:r>
            <a:r>
              <a:rPr lang="ko-KR" altLang="en-US" smtClean="0"/>
              <a:t>단계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 smtClean="0"/>
              <a:t>동그라미 색 </a:t>
            </a:r>
            <a:r>
              <a:rPr lang="en-US" altLang="ko-KR" smtClean="0"/>
              <a:t>: </a:t>
            </a:r>
            <a:r>
              <a:rPr lang="ko-KR" altLang="en-US" smtClean="0"/>
              <a:t>개발</a:t>
            </a:r>
            <a:r>
              <a:rPr lang="en-US" altLang="ko-KR" smtClean="0"/>
              <a:t>.</a:t>
            </a:r>
            <a:r>
              <a:rPr lang="ko-KR" altLang="en-US" smtClean="0"/>
              <a:t>서비스 현황</a:t>
            </a:r>
            <a:endParaRPr lang="en-US" altLang="ko-KR" smtClean="0"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ko-KR" altLang="en-US" smtClean="0"/>
              <a:t>빨강 </a:t>
            </a:r>
            <a:r>
              <a:rPr lang="en-US" altLang="ko-KR" smtClean="0"/>
              <a:t>: </a:t>
            </a:r>
            <a:r>
              <a:rPr lang="ko-KR" altLang="en-US" smtClean="0"/>
              <a:t>하이 리스크 하이 리턴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만들면 좋은데</a:t>
            </a:r>
            <a:r>
              <a:rPr lang="en-US" altLang="ko-KR" smtClean="0"/>
              <a:t>, </a:t>
            </a:r>
            <a:r>
              <a:rPr lang="ko-KR" altLang="en-US" smtClean="0"/>
              <a:t>못 만들 수도 있다</a:t>
            </a:r>
            <a:r>
              <a:rPr lang="en-US" altLang="ko-KR" smtClean="0"/>
              <a:t>.</a:t>
            </a:r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ko-KR" altLang="en-US" smtClean="0"/>
              <a:t>스카이블루 </a:t>
            </a:r>
            <a:r>
              <a:rPr lang="en-US" altLang="ko-KR" smtClean="0"/>
              <a:t>: </a:t>
            </a:r>
            <a:r>
              <a:rPr lang="ko-KR" altLang="en-US" smtClean="0"/>
              <a:t>비전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무엇이 가장 재밌는지</a:t>
            </a:r>
            <a:r>
              <a:rPr lang="en-US" altLang="ko-KR" smtClean="0"/>
              <a:t>, </a:t>
            </a:r>
            <a:r>
              <a:rPr lang="ko-KR" altLang="en-US" smtClean="0"/>
              <a:t>가장 괜찮은지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미래</a:t>
            </a:r>
            <a:r>
              <a:rPr lang="en-US" altLang="ko-KR" smtClean="0"/>
              <a:t>, </a:t>
            </a:r>
            <a:r>
              <a:rPr lang="ko-KR" altLang="en-US" smtClean="0"/>
              <a:t>희망</a:t>
            </a:r>
            <a:r>
              <a:rPr lang="en-US" altLang="ko-KR" smtClean="0"/>
              <a:t>, </a:t>
            </a:r>
            <a:r>
              <a:rPr lang="ko-KR" altLang="en-US" smtClean="0"/>
              <a:t>성공에 대한 부분들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이미 안정적으로 개발되고 있는 것</a:t>
            </a:r>
            <a:r>
              <a:rPr lang="en-US" altLang="ko-KR" smtClean="0"/>
              <a:t>.</a:t>
            </a:r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ko-KR" altLang="en-US" smtClean="0"/>
              <a:t>햐양 </a:t>
            </a:r>
            <a:r>
              <a:rPr lang="en-US" altLang="ko-KR" smtClean="0"/>
              <a:t>or </a:t>
            </a:r>
            <a:r>
              <a:rPr lang="ko-KR" altLang="en-US" smtClean="0"/>
              <a:t>녹색</a:t>
            </a:r>
            <a:r>
              <a:rPr lang="en-US" altLang="ko-KR" smtClean="0"/>
              <a:t>(</a:t>
            </a:r>
            <a:r>
              <a:rPr lang="ko-KR" altLang="en-US" smtClean="0"/>
              <a:t>평범한 색</a:t>
            </a:r>
            <a:r>
              <a:rPr lang="en-US" altLang="ko-KR" smtClean="0"/>
              <a:t>)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장르상 필요한 것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	  </a:t>
            </a:r>
            <a:r>
              <a:rPr lang="ko-KR" altLang="en-US" smtClean="0"/>
              <a:t>일반적으로 있는 </a:t>
            </a:r>
            <a:r>
              <a:rPr lang="en-US" altLang="ko-KR" smtClean="0"/>
              <a:t>soso</a:t>
            </a:r>
            <a:r>
              <a:rPr lang="ko-KR" altLang="en-US" smtClean="0"/>
              <a:t>한 것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 smtClean="0"/>
              <a:t>동그라미의 위치 관계 </a:t>
            </a:r>
            <a:r>
              <a:rPr lang="en-US" altLang="ko-KR" smtClean="0"/>
              <a:t>: </a:t>
            </a:r>
            <a:r>
              <a:rPr lang="ko-KR" altLang="en-US" smtClean="0"/>
              <a:t>각 동그라미끼리</a:t>
            </a:r>
            <a:r>
              <a:rPr lang="en-US" altLang="ko-KR" smtClean="0"/>
              <a:t> </a:t>
            </a:r>
            <a:r>
              <a:rPr lang="ko-KR" altLang="en-US" smtClean="0"/>
              <a:t>얼마나 밀접하게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		        </a:t>
            </a:r>
            <a:r>
              <a:rPr lang="ko-KR" altLang="en-US" smtClean="0"/>
              <a:t>관계가 있는지</a:t>
            </a:r>
            <a:r>
              <a:rPr lang="en-US" altLang="ko-KR" smtClean="0"/>
              <a:t>(</a:t>
            </a:r>
            <a:r>
              <a:rPr lang="ko-KR" altLang="en-US" smtClean="0"/>
              <a:t>관계의 밀접성</a:t>
            </a:r>
            <a:r>
              <a:rPr lang="en-US" altLang="ko-KR" smtClean="0"/>
              <a:t>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ko-KR" altLang="en-US" smtClean="0"/>
              <a:t>동그라미 개수 </a:t>
            </a:r>
            <a:r>
              <a:rPr lang="en-US" altLang="ko-KR" smtClean="0"/>
              <a:t>: </a:t>
            </a:r>
            <a:r>
              <a:rPr lang="ko-KR" altLang="en-US" smtClean="0"/>
              <a:t>개발 비용</a:t>
            </a:r>
            <a:endParaRPr lang="en-US" altLang="ko-KR" smtClean="0"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en-US" altLang="ko-KR" smtClean="0"/>
              <a:t>10</a:t>
            </a:r>
            <a:r>
              <a:rPr lang="ko-KR" altLang="en-US" smtClean="0"/>
              <a:t>개 정도 </a:t>
            </a:r>
            <a:r>
              <a:rPr lang="en-US" altLang="ko-KR" smtClean="0"/>
              <a:t>: 1</a:t>
            </a:r>
            <a:r>
              <a:rPr lang="ko-KR" altLang="en-US" smtClean="0"/>
              <a:t>억 내외</a:t>
            </a:r>
            <a:endParaRPr lang="en-US" altLang="ko-KR" smtClean="0"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en-US" altLang="ko-KR" smtClean="0"/>
              <a:t>20</a:t>
            </a:r>
            <a:r>
              <a:rPr lang="ko-KR" altLang="en-US" smtClean="0"/>
              <a:t>개 정도 </a:t>
            </a:r>
            <a:r>
              <a:rPr lang="en-US" altLang="ko-KR" smtClean="0"/>
              <a:t>: 1~10</a:t>
            </a:r>
            <a:r>
              <a:rPr lang="ko-KR" altLang="en-US" smtClean="0"/>
              <a:t>억 정도</a:t>
            </a:r>
            <a:endParaRPr lang="en-US" altLang="ko-KR" smtClean="0"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en-US" altLang="ko-KR" smtClean="0"/>
              <a:t>30</a:t>
            </a:r>
            <a:r>
              <a:rPr lang="ko-KR" altLang="en-US" smtClean="0"/>
              <a:t>개 정도 </a:t>
            </a:r>
            <a:r>
              <a:rPr lang="en-US" altLang="ko-KR" smtClean="0"/>
              <a:t>: 10~100</a:t>
            </a:r>
            <a:r>
              <a:rPr lang="ko-KR" altLang="en-US" smtClean="0"/>
              <a:t>억</a:t>
            </a:r>
            <a:endParaRPr lang="en-US" altLang="ko-KR" smtClean="0"/>
          </a:p>
          <a:p>
            <a:pPr marL="1371600" lvl="2" indent="-457200">
              <a:buFont typeface="+mj-lt"/>
              <a:buAutoNum type="arabicPeriod"/>
              <a:defRPr/>
            </a:pPr>
            <a:r>
              <a:rPr lang="en-US" altLang="ko-KR" smtClean="0"/>
              <a:t>40</a:t>
            </a:r>
            <a:r>
              <a:rPr lang="ko-KR" altLang="en-US" smtClean="0"/>
              <a:t>개 정도 </a:t>
            </a:r>
            <a:r>
              <a:rPr lang="en-US" altLang="ko-KR" smtClean="0"/>
              <a:t>: 100~1000</a:t>
            </a:r>
            <a:r>
              <a:rPr lang="ko-KR" altLang="en-US" smtClean="0"/>
              <a:t>억 </a:t>
            </a:r>
            <a:r>
              <a:rPr lang="en-US" altLang="ko-KR" smtClean="0"/>
              <a:t>(</a:t>
            </a:r>
            <a:r>
              <a:rPr lang="ko-KR" altLang="en-US" smtClean="0"/>
              <a:t>예 </a:t>
            </a:r>
            <a:r>
              <a:rPr lang="en-US" altLang="ko-KR" smtClean="0"/>
              <a:t>: </a:t>
            </a:r>
            <a:r>
              <a:rPr lang="ko-KR" altLang="en-US" smtClean="0"/>
              <a:t>로스트아크</a:t>
            </a:r>
            <a:r>
              <a:rPr lang="en-US" altLang="ko-KR" smtClean="0"/>
              <a:t>)</a:t>
            </a:r>
          </a:p>
          <a:p>
            <a:pPr lvl="2">
              <a:buFontTx/>
              <a:buChar char="-"/>
              <a:defRPr/>
            </a:pPr>
            <a:r>
              <a:rPr lang="ko-KR" altLang="en-US" smtClean="0"/>
              <a:t>과거에 비해 개발 비용이 줄어든 이유</a:t>
            </a:r>
            <a:r>
              <a:rPr lang="en-US" altLang="ko-KR" smtClean="0"/>
              <a:t>(</a:t>
            </a:r>
            <a:r>
              <a:rPr lang="ko-KR" altLang="en-US" smtClean="0"/>
              <a:t>과거에는 동그라미</a:t>
            </a:r>
            <a:r>
              <a:rPr lang="en-US" altLang="ko-KR" smtClean="0"/>
              <a:t>10</a:t>
            </a:r>
            <a:r>
              <a:rPr lang="ko-KR" altLang="en-US" smtClean="0"/>
              <a:t>개면 </a:t>
            </a:r>
            <a:r>
              <a:rPr lang="en-US" altLang="ko-KR" smtClean="0"/>
              <a:t>1~10</a:t>
            </a:r>
            <a:r>
              <a:rPr lang="ko-KR" altLang="en-US" smtClean="0"/>
              <a:t>억</a:t>
            </a:r>
            <a:r>
              <a:rPr lang="en-US" altLang="ko-KR" smtClean="0"/>
              <a:t>)</a:t>
            </a:r>
          </a:p>
          <a:p>
            <a:pPr lvl="3">
              <a:buFontTx/>
              <a:buChar char="-"/>
              <a:defRPr/>
            </a:pPr>
            <a:r>
              <a:rPr lang="ko-KR" altLang="en-US" smtClean="0"/>
              <a:t>게임 엔진 이슈 </a:t>
            </a:r>
            <a:r>
              <a:rPr lang="en-US" altLang="ko-KR" smtClean="0"/>
              <a:t>: </a:t>
            </a:r>
            <a:r>
              <a:rPr lang="ko-KR" altLang="en-US" smtClean="0"/>
              <a:t>현재 한국은 유니티나 언리얼만 알면 됨</a:t>
            </a:r>
            <a:r>
              <a:rPr lang="en-US" altLang="ko-KR" smtClean="0"/>
              <a:t>. </a:t>
            </a:r>
            <a:r>
              <a:rPr lang="ko-KR" altLang="en-US" smtClean="0"/>
              <a:t>과거에는 자체 엔진을 개발해서 게임을 만들었음</a:t>
            </a:r>
            <a:r>
              <a:rPr lang="en-US" altLang="ko-KR" smtClean="0"/>
              <a:t>.</a:t>
            </a:r>
          </a:p>
          <a:p>
            <a:pPr lvl="3">
              <a:buFontTx/>
              <a:buChar char="-"/>
              <a:defRPr/>
            </a:pPr>
            <a:r>
              <a:rPr lang="en-US" altLang="ko-KR" smtClean="0"/>
              <a:t>Ai</a:t>
            </a:r>
            <a:r>
              <a:rPr lang="ko-KR" altLang="en-US" smtClean="0"/>
              <a:t>가 개발 비용을 매우 낮춤</a:t>
            </a:r>
            <a:endParaRPr lang="en-US" altLang="ko-KR" smtClean="0"/>
          </a:p>
        </p:txBody>
      </p:sp>
      <p:sp>
        <p:nvSpPr>
          <p:cNvPr id="5" name="가로 글상자 3"/>
          <p:cNvSpPr txBox="1"/>
          <p:nvPr/>
        </p:nvSpPr>
        <p:spPr>
          <a:xfrm>
            <a:off x="6666521" y="6858000"/>
            <a:ext cx="24774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 smtClean="0"/>
              <a:t>1.20.</a:t>
            </a:r>
            <a:r>
              <a:rPr lang="ko-KR" altLang="en-US"/>
              <a:t>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0379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mtClean="0"/>
              <a:t>유니티를 할 수 있는 디자이너임을 어필할 수 있는 기획서를 써보자</a:t>
            </a:r>
            <a:r>
              <a:rPr lang="en-US" altLang="ko-KR" smtClean="0"/>
              <a:t>.</a:t>
            </a:r>
            <a:endParaRPr lang="en-US" altLang="ko-KR" smtClean="0"/>
          </a:p>
        </p:txBody>
      </p:sp>
      <p:sp>
        <p:nvSpPr>
          <p:cNvPr id="5" name="가로 글상자 3"/>
          <p:cNvSpPr txBox="1"/>
          <p:nvPr/>
        </p:nvSpPr>
        <p:spPr>
          <a:xfrm>
            <a:off x="6666521" y="6858000"/>
            <a:ext cx="24774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 smtClean="0"/>
              <a:t>1.20.</a:t>
            </a:r>
            <a:r>
              <a:rPr lang="ko-KR" altLang="en-US"/>
              <a:t>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933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194" t="7510" r="36904" b="22109"/>
          <a:stretch/>
        </p:blipFill>
        <p:spPr>
          <a:xfrm>
            <a:off x="774023" y="901918"/>
            <a:ext cx="6773189" cy="6555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94666" y="260475"/>
            <a:ext cx="4620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mtClean="0"/>
              <a:t>최대 </a:t>
            </a:r>
            <a:r>
              <a:rPr lang="en-US" altLang="ko-KR" smtClean="0"/>
              <a:t>6</a:t>
            </a:r>
            <a:r>
              <a:rPr lang="ko-KR" altLang="en-US" smtClean="0"/>
              <a:t>명의 용병들을 데리고다니면서 게임하는 </a:t>
            </a:r>
            <a:r>
              <a:rPr lang="en-US" altLang="ko-KR" smtClean="0"/>
              <a:t>RPG </a:t>
            </a:r>
            <a:r>
              <a:rPr lang="ko-KR" altLang="en-US" smtClean="0"/>
              <a:t>게임</a:t>
            </a:r>
            <a:endParaRPr lang="en-US" altLang="ko-KR" smtClean="0"/>
          </a:p>
          <a:p>
            <a:pPr marL="285750" indent="-285750"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27575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3542" t="7410" r="18750" b="22221"/>
          <a:stretch/>
        </p:blipFill>
        <p:spPr>
          <a:xfrm>
            <a:off x="-1767954" y="-829670"/>
            <a:ext cx="10553700" cy="72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3950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63585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 컨텐츠 볼륨맵은 게임마다 모두 다르다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</a:t>
            </a:r>
            <a:r>
              <a:rPr lang="ko-KR" altLang="en-US" smtClean="0"/>
              <a:t>사람의 지문처럼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핵심 내용만 이미지 위에 글자를 써보자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</a:t>
            </a:r>
            <a:r>
              <a:rPr lang="ko-KR" altLang="en-US" smtClean="0"/>
              <a:t>누가 봐도 무슨 컨텐츠인지 알 수 있도록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스크린샷 단축키 </a:t>
            </a:r>
            <a:r>
              <a:rPr lang="en-US" altLang="ko-KR" smtClean="0"/>
              <a:t>: windows + shift + 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43045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2199</Words>
  <Application>Microsoft Office PowerPoint</Application>
  <PresentationFormat>화면 슬라이드 쇼(4:3)</PresentationFormat>
  <Paragraphs>466</Paragraphs>
  <Slides>51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HY울릉도B</vt:lpstr>
      <vt:lpstr>충북대70주년체 Regular</vt:lpstr>
      <vt:lpstr>함초롬돋움</vt:lpstr>
      <vt:lpstr>Arial</vt:lpstr>
      <vt:lpstr>Calibri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메인 제목 + 부제(있으면)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중요한 것들</vt:lpstr>
      <vt:lpstr>PowerPoint 프레젠테이션</vt:lpstr>
      <vt:lpstr>PowerPoint 프레젠테이션</vt:lpstr>
      <vt:lpstr>PowerPoint 프레젠테이션</vt:lpstr>
      <vt:lpstr>게임 화면 안에 넣어야 할 것들(3가지)</vt:lpstr>
      <vt:lpstr>게임의 외적인 재미(대외적으로 재밌다고 판단된 요소들)</vt:lpstr>
      <vt:lpstr>게임 화면 안에는 상황이 있다.</vt:lpstr>
      <vt:lpstr>PowerPoint 프레젠테이션</vt:lpstr>
      <vt:lpstr>[수업 중에 생각난 게임에 대한 아이디어 정리]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</dc:creator>
  <cp:lastModifiedBy>FullName</cp:lastModifiedBy>
  <cp:revision>127</cp:revision>
  <dcterms:created xsi:type="dcterms:W3CDTF">2026-01-12T05:12:27Z</dcterms:created>
  <dcterms:modified xsi:type="dcterms:W3CDTF">2026-01-20T06:52:40Z</dcterms:modified>
  <cp:version/>
</cp:coreProperties>
</file>